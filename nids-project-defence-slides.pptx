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6" r:id="rId24"/>
  </p:sldIdLst>
  <p:sldSz cx="12191365" cy="6858000"/>
  <p:notesSz cx="6858000" cy="1219136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day, my name is Oluwakemi Bankole. I will be presenting my final year project on the design and implementation of a Network Intrusion Detection System for monitoring and preventing unauthorized access.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the rise in cyber threats, organizations need tools that can monitor network activities and identify suspicious behavior before damage occurs. This project focuses on using a lab environment to demonstrate traffic capture and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is that many networks lack proper monitoring. If attackers perform scans or attempts at unauthorized access, the activity may not be detected early. My project addresses this by designing a monitoring lab and analyzing the network traffic produced during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aim of this project is to implement a practical NIDS lab. The objectives are to build the environment, simulate traffic, capture packets, analyze suspicious behavior, and document the findings professionally.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consists of Kali as the attacker, Metasploitable as the target, and Ubuntu as the monitoring machine. The purpose of the design is to observe traffic and analyze suspicious activity in a safe virtual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tools were selected because they represent a realistic junior SOC workflow: create a controlled lab, generate suspicious activity, capture the traffic and interpret the packets.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implemented the project using a simple workflow: configure the lab, capture traffic, simulate activity, and analyze the findings. Each step was documented with screenshots for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lab configuration stage. I used ip a to identify network interfaces and tested Suricata. This helped me understand which interface was carrying observable traffic.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Suricata was installed and tested as the IDS tool. I monitored the fast.log output to confirm that the system was recording network events.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challenge I faced was that not all interfaces showed the same traffic. I therefore used Wireshark to confirm the active interface and adapted the capture process accordingly.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used Nmap from Kali Linux to simulate reconnaissance. This is the same type of activity an attacker may perform to discover services before attempting exploitation.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Wireshark was used to capture live packets. This gives me raw network evidence that can be analyzed even when IDS alerts are limited by the virtual lab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of the most important slides. The repeated SYN and RST/ACK pattern is evidence of scanning behavior. SYN represents a connection request, and repeated attempts indicate service discovery or reconnaissance.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the technical meaning of the packet pattern. Repeated SYN packets and reset responses are characteristic of port scanning or connection probing.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NIDS helps move from monitoring to detection, investigation and response. In a real environment, after identifying suspicious traffic, firewall rules or IPS controls can be used to reduce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the main challenges was virtual network visibility. Instead of stopping, I troubleshot the interfaces and used packet-level evidence to support the project objectives.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achieved the main results: the lab was created, traffic was captured and suspicious network behavior was identified through packet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demonstrates practical skills relevant to junior SOC analyst roles, including monitoring, packet analysis, Linux, Nmap and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Future improvements include integrating with a SIEM like Splunk, enabling active prevention controls, expanding attack scenarios and publishing the project as a portfolio case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this project shows how suspicious traffic can be captured and analyzed in a lab environment. It also demonstrates practical skills useful for cybersecurity monitoring and SOC analysis.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50B1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50B12"/>
          </a:solidFill>
          <a:ln w="12700">
            <a:solidFill>
              <a:srgbClr val="050B12"/>
            </a:solidFill>
            <a:prstDash val="solid"/>
          </a:ln>
        </p:spPr>
      </p:sp>
      <p:sp>
        <p:nvSpPr>
          <p:cNvPr id="3" name="Shape 1"/>
          <p:cNvSpPr/>
          <p:nvPr/>
        </p:nvSpPr>
        <p:spPr>
          <a:xfrm>
            <a:off x="0" y="0"/>
            <a:ext cx="12191695" cy="6858000"/>
          </a:xfrm>
          <a:prstGeom prst="rect">
            <a:avLst/>
          </a:prstGeom>
          <a:solidFill>
            <a:srgbClr val="06131F"/>
          </a:solidFill>
          <a:ln w="12700">
            <a:solidFill>
              <a:srgbClr val="06131F"/>
            </a:solidFill>
            <a:prstDash val="solid"/>
          </a:ln>
        </p:spPr>
      </p:sp>
      <p:sp>
        <p:nvSpPr>
          <p:cNvPr id="4" name="Shape 2"/>
          <p:cNvSpPr/>
          <p:nvPr/>
        </p:nvSpPr>
        <p:spPr>
          <a:xfrm>
            <a:off x="0" y="0"/>
            <a:ext cx="146304" cy="6858000"/>
          </a:xfrm>
          <a:prstGeom prst="rect">
            <a:avLst/>
          </a:prstGeom>
          <a:solidFill>
            <a:srgbClr val="2FF3E0"/>
          </a:solidFill>
          <a:ln w="12700">
            <a:solidFill>
              <a:srgbClr val="2FF3E0"/>
            </a:solidFill>
            <a:prstDash val="solid"/>
          </a:ln>
        </p:spPr>
      </p:sp>
      <p:sp>
        <p:nvSpPr>
          <p:cNvPr id="5" name="Shape 3"/>
          <p:cNvSpPr/>
          <p:nvPr/>
        </p:nvSpPr>
        <p:spPr>
          <a:xfrm>
            <a:off x="146304" y="0"/>
            <a:ext cx="54864" cy="6858000"/>
          </a:xfrm>
          <a:prstGeom prst="rect">
            <a:avLst/>
          </a:prstGeom>
          <a:solidFill>
            <a:srgbClr val="4DFF8F">
              <a:alpha val="85000"/>
            </a:srgbClr>
          </a:solidFill>
          <a:ln w="12700">
            <a:solidFill>
              <a:srgbClr val="4DFF8F">
                <a:alpha val="85000"/>
              </a:srgbClr>
            </a:solidFill>
            <a:prstDash val="solid"/>
          </a:ln>
        </p:spPr>
      </p:sp>
      <p:sp>
        <p:nvSpPr>
          <p:cNvPr id="7" name="Text 5"/>
          <p:cNvSpPr/>
          <p:nvPr/>
        </p:nvSpPr>
        <p:spPr>
          <a:xfrm>
            <a:off x="777240" y="1261872"/>
            <a:ext cx="6492240" cy="1444752"/>
          </a:xfrm>
          <a:prstGeom prst="rect">
            <a:avLst/>
          </a:prstGeom>
          <a:noFill/>
        </p:spPr>
        <p:txBody>
          <a:bodyPr wrap="square" lIns="0" tIns="0" rIns="0" bIns="0" rtlCol="0" anchor="ctr">
            <a:normAutofit/>
          </a:bodyPr>
          <a:lstStyle/>
          <a:p>
            <a:pPr marL="0" indent="0">
              <a:buNone/>
            </a:pPr>
            <a:r>
              <a:rPr lang="en-US" sz="3300" b="1" dirty="0">
                <a:solidFill>
                  <a:srgbClr val="F8FAFC"/>
                </a:solidFill>
                <a:latin typeface="Aptos Display" pitchFamily="34" charset="0"/>
                <a:ea typeface="Aptos Display" pitchFamily="34" charset="-122"/>
                <a:cs typeface="Aptos Display" pitchFamily="34" charset="-120"/>
              </a:rPr>
              <a:t>Design and Implementation of a</a:t>
            </a:r>
            <a:endParaRPr lang="en-US" sz="3300" dirty="0"/>
          </a:p>
          <a:p>
            <a:pPr marL="0" indent="0">
              <a:buNone/>
            </a:pPr>
            <a:r>
              <a:rPr lang="en-US" sz="3300" b="1" dirty="0">
                <a:solidFill>
                  <a:srgbClr val="F8FAFC"/>
                </a:solidFill>
                <a:latin typeface="Aptos Display" pitchFamily="34" charset="0"/>
                <a:ea typeface="Aptos Display" pitchFamily="34" charset="-122"/>
                <a:cs typeface="Aptos Display" pitchFamily="34" charset="-120"/>
              </a:rPr>
              <a:t>Network Intrusion Detection System</a:t>
            </a:r>
            <a:endParaRPr lang="en-US" sz="3300" dirty="0"/>
          </a:p>
        </p:txBody>
      </p:sp>
      <p:sp>
        <p:nvSpPr>
          <p:cNvPr id="8" name="Text 6"/>
          <p:cNvSpPr/>
          <p:nvPr/>
        </p:nvSpPr>
        <p:spPr>
          <a:xfrm>
            <a:off x="777240" y="2953512"/>
            <a:ext cx="6126480" cy="320040"/>
          </a:xfrm>
          <a:prstGeom prst="rect">
            <a:avLst/>
          </a:prstGeom>
          <a:noFill/>
        </p:spPr>
        <p:txBody>
          <a:bodyPr wrap="square" lIns="0" tIns="0" rIns="0" bIns="0" rtlCol="0" anchor="ctr"/>
          <a:lstStyle/>
          <a:p>
            <a:pPr marL="0" indent="0">
              <a:buNone/>
            </a:pPr>
            <a:r>
              <a:rPr lang="en-US" sz="1600" dirty="0">
                <a:solidFill>
                  <a:srgbClr val="9FB2C8"/>
                </a:solidFill>
              </a:rPr>
              <a:t>Monitoring and Preventing Unauthorized Access</a:t>
            </a:r>
            <a:endParaRPr lang="en-US" sz="1600" dirty="0"/>
          </a:p>
        </p:txBody>
      </p:sp>
      <p:sp>
        <p:nvSpPr>
          <p:cNvPr id="9" name="Shape 7"/>
          <p:cNvSpPr/>
          <p:nvPr/>
        </p:nvSpPr>
        <p:spPr>
          <a:xfrm>
            <a:off x="777240" y="3962400"/>
            <a:ext cx="5253990" cy="843915"/>
          </a:xfrm>
          <a:prstGeom prst="roundRect">
            <a:avLst>
              <a:gd name="adj" fmla="val 13043"/>
            </a:avLst>
          </a:prstGeom>
          <a:solidFill>
            <a:srgbClr val="0D1B2A"/>
          </a:solidFill>
          <a:ln w="12700">
            <a:solidFill>
              <a:srgbClr val="233548"/>
            </a:solidFill>
            <a:prstDash val="solid"/>
          </a:ln>
        </p:spPr>
      </p:sp>
      <p:sp>
        <p:nvSpPr>
          <p:cNvPr id="10" name="Text 8"/>
          <p:cNvSpPr/>
          <p:nvPr/>
        </p:nvSpPr>
        <p:spPr>
          <a:xfrm>
            <a:off x="784860" y="3991610"/>
            <a:ext cx="5003165" cy="812165"/>
          </a:xfrm>
          <a:prstGeom prst="rect">
            <a:avLst/>
          </a:prstGeom>
          <a:noFill/>
        </p:spPr>
        <p:txBody>
          <a:bodyPr wrap="square" lIns="0" tIns="0" rIns="0" bIns="0" rtlCol="0" anchor="ctr">
            <a:noAutofit/>
          </a:bodyPr>
          <a:lstStyle/>
          <a:p>
            <a:pPr marL="0" indent="0">
              <a:buNone/>
            </a:pPr>
            <a:r>
              <a:rPr lang="en-US" dirty="0">
                <a:solidFill>
                  <a:srgbClr val="F8FAFC"/>
                </a:solidFill>
              </a:rPr>
              <a:t>Oluwakemi Bankole</a:t>
            </a:r>
            <a:br>
              <a:rPr lang="en-US" dirty="0">
                <a:solidFill>
                  <a:srgbClr val="F8FAFC"/>
                </a:solidFill>
              </a:rPr>
            </a:br>
            <a:r>
              <a:rPr lang="en-US" dirty="0">
                <a:solidFill>
                  <a:srgbClr val="F8FAFC"/>
                </a:solidFill>
              </a:rPr>
              <a:t>April 2026 </a:t>
            </a:r>
            <a:br>
              <a:rPr lang="en-US" dirty="0">
                <a:solidFill>
                  <a:srgbClr val="F8FAFC"/>
                </a:solidFill>
              </a:rPr>
            </a:br>
            <a:r>
              <a:rPr lang="en-US" dirty="0">
                <a:solidFill>
                  <a:srgbClr val="F8FAFC"/>
                </a:solidFill>
              </a:rPr>
              <a:t>Cybersecurity Project</a:t>
            </a:r>
            <a:endParaRPr lang="en-US" dirty="0">
              <a:solidFill>
                <a:srgbClr val="F8FAFC"/>
              </a:solidFill>
            </a:endParaRPr>
          </a:p>
        </p:txBody>
      </p:sp>
      <p:sp>
        <p:nvSpPr>
          <p:cNvPr id="11" name="Shape 9"/>
          <p:cNvSpPr/>
          <p:nvPr/>
        </p:nvSpPr>
        <p:spPr>
          <a:xfrm>
            <a:off x="7863840" y="1005840"/>
            <a:ext cx="3703320" cy="2880360"/>
          </a:xfrm>
          <a:prstGeom prst="roundRect">
            <a:avLst>
              <a:gd name="adj" fmla="val 3810"/>
            </a:avLst>
          </a:prstGeom>
          <a:solidFill>
            <a:srgbClr val="06101B"/>
          </a:solidFill>
          <a:ln w="12700">
            <a:solidFill>
              <a:srgbClr val="2FF3E0">
                <a:alpha val="65000"/>
              </a:srgbClr>
            </a:solidFill>
            <a:prstDash val="solid"/>
          </a:ln>
        </p:spPr>
      </p:sp>
      <p:pic>
        <p:nvPicPr>
          <p:cNvPr id="12" name="Image 0" descr="C:/Users/USER/Downloads/Picture1.pngPicture1"/>
          <p:cNvPicPr>
            <a:picLocks noChangeAspect="1"/>
          </p:cNvPicPr>
          <p:nvPr/>
        </p:nvPicPr>
        <p:blipFill>
          <a:blip r:embed="rId1"/>
          <a:srcRect l="13559" r="13559"/>
          <a:stretch>
            <a:fillRect/>
          </a:stretch>
        </p:blipFill>
        <p:spPr>
          <a:xfrm>
            <a:off x="7269480" y="212725"/>
            <a:ext cx="4732655" cy="64325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50B1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50B12"/>
          </a:solidFill>
          <a:ln w="12700">
            <a:solidFill>
              <a:srgbClr val="050B12"/>
            </a:solidFill>
            <a:prstDash val="solid"/>
          </a:ln>
        </p:spPr>
      </p:sp>
      <p:sp>
        <p:nvSpPr>
          <p:cNvPr id="3" name="Shape 1"/>
          <p:cNvSpPr/>
          <p:nvPr/>
        </p:nvSpPr>
        <p:spPr>
          <a:xfrm>
            <a:off x="0" y="0"/>
            <a:ext cx="12191695" cy="475488"/>
          </a:xfrm>
          <a:prstGeom prst="rect">
            <a:avLst/>
          </a:prstGeom>
          <a:solidFill>
            <a:srgbClr val="091523"/>
          </a:solidFill>
          <a:ln w="12700">
            <a:solidFill>
              <a:srgbClr val="091523"/>
            </a:solidFill>
            <a:prstDash val="solid"/>
          </a:ln>
        </p:spPr>
      </p:sp>
      <p:sp>
        <p:nvSpPr>
          <p:cNvPr id="4" name="Shape 2"/>
          <p:cNvSpPr/>
          <p:nvPr/>
        </p:nvSpPr>
        <p:spPr>
          <a:xfrm>
            <a:off x="0" y="475488"/>
            <a:ext cx="12191695" cy="22860"/>
          </a:xfrm>
          <a:prstGeom prst="rect">
            <a:avLst/>
          </a:prstGeom>
          <a:solidFill>
            <a:srgbClr val="2FF3E0">
              <a:alpha val="90000"/>
            </a:srgbClr>
          </a:solidFill>
          <a:ln w="12700">
            <a:solidFill>
              <a:srgbClr val="2FF3E0"/>
            </a:solidFill>
            <a:prstDash val="solid"/>
          </a:ln>
        </p:spPr>
      </p:sp>
      <p:sp>
        <p:nvSpPr>
          <p:cNvPr id="6" name="Text 4"/>
          <p:cNvSpPr/>
          <p:nvPr/>
        </p:nvSpPr>
        <p:spPr>
          <a:xfrm>
            <a:off x="11384280" y="100584"/>
            <a:ext cx="347472" cy="256032"/>
          </a:xfrm>
          <a:prstGeom prst="rect">
            <a:avLst/>
          </a:prstGeom>
          <a:noFill/>
        </p:spPr>
        <p:txBody>
          <a:bodyPr wrap="square" lIns="0" tIns="0" rIns="0" bIns="0" rtlCol="0" anchor="ctr"/>
          <a:lstStyle/>
          <a:p>
            <a:pPr marL="0" indent="0" algn="r">
              <a:buNone/>
            </a:pPr>
            <a:r>
              <a:rPr lang="en-US" sz="1000" b="1" dirty="0">
                <a:solidFill>
                  <a:srgbClr val="9FB2C8"/>
                </a:solidFill>
                <a:latin typeface="Aptos Display" pitchFamily="34" charset="0"/>
                <a:ea typeface="Aptos Display" pitchFamily="34" charset="-122"/>
                <a:cs typeface="Aptos Display" pitchFamily="34" charset="-120"/>
              </a:rPr>
              <a:t>02</a:t>
            </a:r>
            <a:endParaRPr lang="en-US" sz="1000" dirty="0"/>
          </a:p>
        </p:txBody>
      </p:sp>
      <p:sp>
        <p:nvSpPr>
          <p:cNvPr id="7" name="Text 5"/>
          <p:cNvSpPr/>
          <p:nvPr/>
        </p:nvSpPr>
        <p:spPr>
          <a:xfrm>
            <a:off x="502920" y="713232"/>
            <a:ext cx="10607040" cy="329184"/>
          </a:xfrm>
          <a:prstGeom prst="rect">
            <a:avLst/>
          </a:prstGeom>
          <a:noFill/>
        </p:spPr>
        <p:txBody>
          <a:bodyPr wrap="square" lIns="0" tIns="0" rIns="0" bIns="0" rtlCol="0" anchor="ctr"/>
          <a:lstStyle/>
          <a:p>
            <a:pPr marL="0" indent="0">
              <a:buNone/>
            </a:pPr>
            <a:r>
              <a:rPr lang="en-US" sz="2200" b="1" dirty="0">
                <a:solidFill>
                  <a:srgbClr val="F8FAFC"/>
                </a:solidFill>
                <a:latin typeface="Aptos Display" pitchFamily="34" charset="0"/>
                <a:ea typeface="Aptos Display" pitchFamily="34" charset="-122"/>
                <a:cs typeface="Aptos Display" pitchFamily="34" charset="-120"/>
              </a:rPr>
              <a:t>Introduction</a:t>
            </a:r>
            <a:endParaRPr lang="en-US" sz="2200" dirty="0"/>
          </a:p>
        </p:txBody>
      </p:sp>
      <p:sp>
        <p:nvSpPr>
          <p:cNvPr id="8" name="Shape 6"/>
          <p:cNvSpPr/>
          <p:nvPr/>
        </p:nvSpPr>
        <p:spPr>
          <a:xfrm>
            <a:off x="274320" y="1965960"/>
            <a:ext cx="11658600" cy="0"/>
          </a:xfrm>
          <a:prstGeom prst="line">
            <a:avLst/>
          </a:prstGeom>
          <a:noFill/>
          <a:ln w="6350">
            <a:solidFill>
              <a:srgbClr val="233548">
                <a:alpha val="22000"/>
              </a:srgbClr>
            </a:solidFill>
            <a:prstDash val="solid"/>
          </a:ln>
        </p:spPr>
      </p:sp>
      <p:sp>
        <p:nvSpPr>
          <p:cNvPr id="9" name="Shape 7"/>
          <p:cNvSpPr/>
          <p:nvPr/>
        </p:nvSpPr>
        <p:spPr>
          <a:xfrm>
            <a:off x="274320" y="2697480"/>
            <a:ext cx="11658600" cy="0"/>
          </a:xfrm>
          <a:prstGeom prst="line">
            <a:avLst/>
          </a:prstGeom>
          <a:noFill/>
          <a:ln w="6350">
            <a:solidFill>
              <a:srgbClr val="233548">
                <a:alpha val="22000"/>
              </a:srgbClr>
            </a:solidFill>
            <a:prstDash val="solid"/>
          </a:ln>
        </p:spPr>
      </p:sp>
      <p:sp>
        <p:nvSpPr>
          <p:cNvPr id="10" name="Shape 8"/>
          <p:cNvSpPr/>
          <p:nvPr/>
        </p:nvSpPr>
        <p:spPr>
          <a:xfrm>
            <a:off x="274320" y="3429000"/>
            <a:ext cx="11658600" cy="0"/>
          </a:xfrm>
          <a:prstGeom prst="line">
            <a:avLst/>
          </a:prstGeom>
          <a:noFill/>
          <a:ln w="6350">
            <a:solidFill>
              <a:srgbClr val="233548">
                <a:alpha val="22000"/>
              </a:srgbClr>
            </a:solidFill>
            <a:prstDash val="solid"/>
          </a:ln>
        </p:spPr>
      </p:sp>
      <p:sp>
        <p:nvSpPr>
          <p:cNvPr id="11" name="Shape 9"/>
          <p:cNvSpPr/>
          <p:nvPr/>
        </p:nvSpPr>
        <p:spPr>
          <a:xfrm>
            <a:off x="274320" y="4160520"/>
            <a:ext cx="11658600" cy="0"/>
          </a:xfrm>
          <a:prstGeom prst="line">
            <a:avLst/>
          </a:prstGeom>
          <a:noFill/>
          <a:ln w="6350">
            <a:solidFill>
              <a:srgbClr val="233548">
                <a:alpha val="22000"/>
              </a:srgbClr>
            </a:solidFill>
            <a:prstDash val="solid"/>
          </a:ln>
        </p:spPr>
      </p:sp>
      <p:sp>
        <p:nvSpPr>
          <p:cNvPr id="12" name="Shape 10"/>
          <p:cNvSpPr/>
          <p:nvPr/>
        </p:nvSpPr>
        <p:spPr>
          <a:xfrm>
            <a:off x="274320" y="4892040"/>
            <a:ext cx="11658600" cy="0"/>
          </a:xfrm>
          <a:prstGeom prst="line">
            <a:avLst/>
          </a:prstGeom>
          <a:noFill/>
          <a:ln w="6350">
            <a:solidFill>
              <a:srgbClr val="233548">
                <a:alpha val="22000"/>
              </a:srgbClr>
            </a:solidFill>
            <a:prstDash val="solid"/>
          </a:ln>
        </p:spPr>
      </p:sp>
      <p:sp>
        <p:nvSpPr>
          <p:cNvPr id="13" name="Shape 11"/>
          <p:cNvSpPr/>
          <p:nvPr/>
        </p:nvSpPr>
        <p:spPr>
          <a:xfrm>
            <a:off x="274320" y="5623560"/>
            <a:ext cx="11658600" cy="0"/>
          </a:xfrm>
          <a:prstGeom prst="line">
            <a:avLst/>
          </a:prstGeom>
          <a:noFill/>
          <a:ln w="6350">
            <a:solidFill>
              <a:srgbClr val="233548">
                <a:alpha val="22000"/>
              </a:srgbClr>
            </a:solidFill>
            <a:prstDash val="solid"/>
          </a:ln>
        </p:spPr>
      </p:sp>
      <p:sp>
        <p:nvSpPr>
          <p:cNvPr id="14" name="Shape 12"/>
          <p:cNvSpPr/>
          <p:nvPr/>
        </p:nvSpPr>
        <p:spPr>
          <a:xfrm>
            <a:off x="0" y="6611112"/>
            <a:ext cx="12191695" cy="246888"/>
          </a:xfrm>
          <a:prstGeom prst="rect">
            <a:avLst/>
          </a:prstGeom>
          <a:solidFill>
            <a:srgbClr val="03070C"/>
          </a:solidFill>
          <a:ln w="12700">
            <a:solidFill>
              <a:srgbClr val="03070C"/>
            </a:solidFill>
            <a:prstDash val="solid"/>
          </a:ln>
        </p:spPr>
      </p:sp>
      <p:sp>
        <p:nvSpPr>
          <p:cNvPr id="17" name="Shape 15"/>
          <p:cNvSpPr/>
          <p:nvPr/>
        </p:nvSpPr>
        <p:spPr>
          <a:xfrm>
            <a:off x="685800" y="1417320"/>
            <a:ext cx="4983480" cy="1325880"/>
          </a:xfrm>
          <a:prstGeom prst="roundRect">
            <a:avLst>
              <a:gd name="adj" fmla="val 8276"/>
            </a:avLst>
          </a:prstGeom>
          <a:solidFill>
            <a:srgbClr val="0D1B2A">
              <a:alpha val="96000"/>
            </a:srgbClr>
          </a:solidFill>
          <a:ln w="12700">
            <a:solidFill>
              <a:srgbClr val="233548">
                <a:alpha val="95000"/>
              </a:srgbClr>
            </a:solidFill>
            <a:prstDash val="solid"/>
          </a:ln>
          <a:effectLst>
            <a:outerShdw blurRad="38100" dist="12700" dir="2700000" algn="bl" rotWithShape="0">
              <a:srgbClr val="000000">
                <a:alpha val="22000"/>
              </a:srgbClr>
            </a:outerShdw>
          </a:effectLst>
        </p:spPr>
      </p:sp>
      <p:sp>
        <p:nvSpPr>
          <p:cNvPr id="18" name="Shape 16"/>
          <p:cNvSpPr/>
          <p:nvPr/>
        </p:nvSpPr>
        <p:spPr>
          <a:xfrm>
            <a:off x="685800" y="1417320"/>
            <a:ext cx="73152" cy="1325880"/>
          </a:xfrm>
          <a:prstGeom prst="rect">
            <a:avLst/>
          </a:prstGeom>
          <a:solidFill>
            <a:srgbClr val="2FF3E0"/>
          </a:solidFill>
          <a:ln w="12700">
            <a:solidFill>
              <a:srgbClr val="2FF3E0"/>
            </a:solidFill>
            <a:prstDash val="solid"/>
          </a:ln>
        </p:spPr>
      </p:sp>
      <p:sp>
        <p:nvSpPr>
          <p:cNvPr id="19" name="Text 17"/>
          <p:cNvSpPr/>
          <p:nvPr/>
        </p:nvSpPr>
        <p:spPr>
          <a:xfrm>
            <a:off x="914400" y="1581912"/>
            <a:ext cx="4636008" cy="228600"/>
          </a:xfrm>
          <a:prstGeom prst="rect">
            <a:avLst/>
          </a:prstGeom>
          <a:noFill/>
        </p:spPr>
        <p:txBody>
          <a:bodyPr wrap="square" lIns="0" tIns="0" rIns="0" bIns="0" rtlCol="0" anchor="ctr"/>
          <a:lstStyle/>
          <a:p>
            <a:pPr marL="0" indent="0">
              <a:buNone/>
            </a:pPr>
            <a:r>
              <a:rPr lang="en-US" sz="1200" b="1" dirty="0">
                <a:solidFill>
                  <a:srgbClr val="2FF3E0"/>
                </a:solidFill>
                <a:latin typeface="Aptos Display" pitchFamily="34" charset="0"/>
                <a:ea typeface="Aptos Display" pitchFamily="34" charset="-122"/>
                <a:cs typeface="Aptos Display" pitchFamily="34" charset="-120"/>
              </a:rPr>
              <a:t>Project Context</a:t>
            </a:r>
            <a:endParaRPr lang="en-US" sz="1200" dirty="0"/>
          </a:p>
        </p:txBody>
      </p:sp>
      <p:sp>
        <p:nvSpPr>
          <p:cNvPr id="20" name="Text 18"/>
          <p:cNvSpPr/>
          <p:nvPr/>
        </p:nvSpPr>
        <p:spPr>
          <a:xfrm>
            <a:off x="914400" y="1892808"/>
            <a:ext cx="4636008" cy="758952"/>
          </a:xfrm>
          <a:prstGeom prst="rect">
            <a:avLst/>
          </a:prstGeom>
          <a:noFill/>
        </p:spPr>
        <p:txBody>
          <a:bodyPr wrap="square" lIns="254" tIns="254" rIns="254" bIns="254" rtlCol="0" anchor="t">
            <a:normAutofit/>
          </a:bodyPr>
          <a:lstStyle/>
          <a:p>
            <a:pPr marL="0" indent="0">
              <a:buNone/>
            </a:pPr>
            <a:r>
              <a:rPr lang="en-US" sz="1050" dirty="0">
                <a:solidFill>
                  <a:srgbClr val="F8FAFC"/>
                </a:solidFill>
                <a:latin typeface="Aptos" pitchFamily="34" charset="0"/>
                <a:ea typeface="Aptos" pitchFamily="34" charset="-122"/>
                <a:cs typeface="Aptos" pitchFamily="34" charset="-120"/>
              </a:rPr>
              <a:t>Organizations rely on networks for daily operations, but the same networks are exposed to threats such as scanning, brute-force attempts and unauthorized access attempts.</a:t>
            </a:r>
            <a:endParaRPr lang="en-US" sz="1050" dirty="0"/>
          </a:p>
        </p:txBody>
      </p:sp>
      <p:sp>
        <p:nvSpPr>
          <p:cNvPr id="21" name="Shape 19"/>
          <p:cNvSpPr/>
          <p:nvPr/>
        </p:nvSpPr>
        <p:spPr>
          <a:xfrm>
            <a:off x="685800" y="2999232"/>
            <a:ext cx="4983480" cy="1417320"/>
          </a:xfrm>
          <a:prstGeom prst="roundRect">
            <a:avLst>
              <a:gd name="adj" fmla="val 7742"/>
            </a:avLst>
          </a:prstGeom>
          <a:solidFill>
            <a:srgbClr val="0D1B2A">
              <a:alpha val="96000"/>
            </a:srgbClr>
          </a:solidFill>
          <a:ln w="12700">
            <a:solidFill>
              <a:srgbClr val="233548">
                <a:alpha val="95000"/>
              </a:srgbClr>
            </a:solidFill>
            <a:prstDash val="solid"/>
          </a:ln>
          <a:effectLst>
            <a:outerShdw blurRad="38100" dist="12700" dir="2700000" algn="bl" rotWithShape="0">
              <a:srgbClr val="000000">
                <a:alpha val="22000"/>
              </a:srgbClr>
            </a:outerShdw>
          </a:effectLst>
        </p:spPr>
      </p:sp>
      <p:sp>
        <p:nvSpPr>
          <p:cNvPr id="22" name="Shape 20"/>
          <p:cNvSpPr/>
          <p:nvPr/>
        </p:nvSpPr>
        <p:spPr>
          <a:xfrm>
            <a:off x="685800" y="2999232"/>
            <a:ext cx="73152" cy="1417320"/>
          </a:xfrm>
          <a:prstGeom prst="rect">
            <a:avLst/>
          </a:prstGeom>
          <a:solidFill>
            <a:srgbClr val="4DFF8F"/>
          </a:solidFill>
          <a:ln w="12700">
            <a:solidFill>
              <a:srgbClr val="4DFF8F"/>
            </a:solidFill>
            <a:prstDash val="solid"/>
          </a:ln>
        </p:spPr>
      </p:sp>
      <p:sp>
        <p:nvSpPr>
          <p:cNvPr id="23" name="Text 21"/>
          <p:cNvSpPr/>
          <p:nvPr/>
        </p:nvSpPr>
        <p:spPr>
          <a:xfrm>
            <a:off x="914400" y="3163824"/>
            <a:ext cx="4636008" cy="228600"/>
          </a:xfrm>
          <a:prstGeom prst="rect">
            <a:avLst/>
          </a:prstGeom>
          <a:noFill/>
        </p:spPr>
        <p:txBody>
          <a:bodyPr wrap="square" lIns="0" tIns="0" rIns="0" bIns="0" rtlCol="0" anchor="ctr"/>
          <a:lstStyle/>
          <a:p>
            <a:pPr marL="0" indent="0">
              <a:buNone/>
            </a:pPr>
            <a:r>
              <a:rPr lang="en-US" sz="1200" b="1" dirty="0">
                <a:solidFill>
                  <a:srgbClr val="4DFF8F"/>
                </a:solidFill>
                <a:latin typeface="Aptos Display" pitchFamily="34" charset="0"/>
                <a:ea typeface="Aptos Display" pitchFamily="34" charset="-122"/>
                <a:cs typeface="Aptos Display" pitchFamily="34" charset="-120"/>
              </a:rPr>
              <a:t>Why NIDS Matters</a:t>
            </a:r>
            <a:endParaRPr lang="en-US" sz="1200" dirty="0"/>
          </a:p>
        </p:txBody>
      </p:sp>
      <p:sp>
        <p:nvSpPr>
          <p:cNvPr id="24" name="Text 22"/>
          <p:cNvSpPr/>
          <p:nvPr/>
        </p:nvSpPr>
        <p:spPr>
          <a:xfrm>
            <a:off x="914400" y="3474720"/>
            <a:ext cx="4636008" cy="850392"/>
          </a:xfrm>
          <a:prstGeom prst="rect">
            <a:avLst/>
          </a:prstGeom>
          <a:noFill/>
        </p:spPr>
        <p:txBody>
          <a:bodyPr wrap="square" lIns="254" tIns="254" rIns="254" bIns="254" rtlCol="0" anchor="t">
            <a:normAutofit lnSpcReduction="20000"/>
          </a:bodyPr>
          <a:lstStyle/>
          <a:p>
            <a:pPr marL="0" indent="0">
              <a:buNone/>
            </a:pPr>
            <a:r>
              <a:rPr lang="en-US" sz="1050" dirty="0">
                <a:solidFill>
                  <a:srgbClr val="F8FAFC"/>
                </a:solidFill>
                <a:latin typeface="Aptos" pitchFamily="34" charset="0"/>
                <a:ea typeface="Aptos" pitchFamily="34" charset="-122"/>
                <a:cs typeface="Aptos" pitchFamily="34" charset="-120"/>
              </a:rPr>
              <a:t>A Network Intrusion Detection System monitors network traffic, identifies suspicious patterns and supports security teams with investigation evidence.</a:t>
            </a:r>
            <a:br>
              <a:rPr lang="en-US" sz="1050" dirty="0">
                <a:solidFill>
                  <a:srgbClr val="F8FAFC"/>
                </a:solidFill>
                <a:latin typeface="Aptos" pitchFamily="34" charset="0"/>
                <a:ea typeface="Aptos" pitchFamily="34" charset="-122"/>
                <a:cs typeface="Aptos" pitchFamily="34" charset="-120"/>
              </a:rPr>
            </a:br>
            <a:r>
              <a:rPr lang="en-US" sz="1050" dirty="0">
                <a:solidFill>
                  <a:srgbClr val="F8FAFC"/>
                </a:solidFill>
                <a:latin typeface="Aptos" pitchFamily="34" charset="0"/>
                <a:ea typeface="Aptos" pitchFamily="34" charset="-122"/>
                <a:cs typeface="Aptos" pitchFamily="34" charset="-120"/>
              </a:rPr>
              <a:t>- It sees traffic across the network instead of only one machine.</a:t>
            </a:r>
            <a:br>
              <a:rPr lang="en-US" sz="1050" dirty="0">
                <a:solidFill>
                  <a:srgbClr val="F8FAFC"/>
                </a:solidFill>
                <a:latin typeface="Aptos" pitchFamily="34" charset="0"/>
                <a:ea typeface="Aptos" pitchFamily="34" charset="-122"/>
                <a:cs typeface="Aptos" pitchFamily="34" charset="-120"/>
              </a:rPr>
            </a:br>
            <a:r>
              <a:rPr lang="en-US" sz="1050" dirty="0">
                <a:solidFill>
                  <a:srgbClr val="F8FAFC"/>
                </a:solidFill>
                <a:latin typeface="Aptos" pitchFamily="34" charset="0"/>
                <a:ea typeface="Aptos" pitchFamily="34" charset="-122"/>
                <a:cs typeface="Aptos" pitchFamily="34" charset="-120"/>
              </a:rPr>
              <a:t>- It raises alert quickly when rules match suspicious patterns</a:t>
            </a:r>
            <a:br>
              <a:rPr lang="en-US" sz="1050" dirty="0">
                <a:solidFill>
                  <a:srgbClr val="F8FAFC"/>
                </a:solidFill>
                <a:latin typeface="Aptos" pitchFamily="34" charset="0"/>
                <a:ea typeface="Aptos" pitchFamily="34" charset="-122"/>
                <a:cs typeface="Aptos" pitchFamily="34" charset="-120"/>
              </a:rPr>
            </a:br>
            <a:r>
              <a:rPr lang="en-US" sz="1050" dirty="0">
                <a:solidFill>
                  <a:srgbClr val="F8FAFC"/>
                </a:solidFill>
                <a:latin typeface="Aptos" pitchFamily="34" charset="0"/>
                <a:ea typeface="Aptos" pitchFamily="34" charset="-122"/>
                <a:cs typeface="Aptos" pitchFamily="34" charset="-120"/>
              </a:rPr>
              <a:t>- Creates evidence for investigation and reporting</a:t>
            </a:r>
            <a:br>
              <a:rPr lang="en-US" sz="1050" dirty="0">
                <a:solidFill>
                  <a:srgbClr val="F8FAFC"/>
                </a:solidFill>
                <a:latin typeface="Aptos" pitchFamily="34" charset="0"/>
                <a:ea typeface="Aptos" pitchFamily="34" charset="-122"/>
                <a:cs typeface="Aptos" pitchFamily="34" charset="-120"/>
              </a:rPr>
            </a:br>
            <a:r>
              <a:rPr lang="en-US" sz="1050" dirty="0">
                <a:solidFill>
                  <a:srgbClr val="F8FAFC"/>
                </a:solidFill>
                <a:latin typeface="Aptos" pitchFamily="34" charset="0"/>
                <a:ea typeface="Aptos" pitchFamily="34" charset="-122"/>
                <a:cs typeface="Aptos" pitchFamily="34" charset="-120"/>
              </a:rPr>
              <a:t>- Supports faster containment decisions by an administrator</a:t>
            </a:r>
            <a:endParaRPr lang="en-US" sz="1050" dirty="0">
              <a:solidFill>
                <a:srgbClr val="F8FAFC"/>
              </a:solidFill>
              <a:latin typeface="Aptos" pitchFamily="34" charset="0"/>
              <a:ea typeface="Aptos" pitchFamily="34" charset="-122"/>
              <a:cs typeface="Aptos" pitchFamily="34" charset="-120"/>
            </a:endParaRPr>
          </a:p>
        </p:txBody>
      </p:sp>
      <p:sp>
        <p:nvSpPr>
          <p:cNvPr id="25" name="Shape 23"/>
          <p:cNvSpPr/>
          <p:nvPr/>
        </p:nvSpPr>
        <p:spPr>
          <a:xfrm>
            <a:off x="6355080" y="1188720"/>
            <a:ext cx="5212080" cy="4187952"/>
          </a:xfrm>
          <a:prstGeom prst="roundRect">
            <a:avLst>
              <a:gd name="adj" fmla="val 2620"/>
            </a:avLst>
          </a:prstGeom>
          <a:solidFill>
            <a:srgbClr val="06101B"/>
          </a:solidFill>
          <a:ln w="12700">
            <a:solidFill>
              <a:srgbClr val="2FF3E0">
                <a:alpha val="65000"/>
              </a:srgbClr>
            </a:solidFill>
            <a:prstDash val="solid"/>
          </a:ln>
        </p:spPr>
      </p:sp>
      <p:pic>
        <p:nvPicPr>
          <p:cNvPr id="26" name="Image 0" descr="/mnt/data/1e178f59-e72f-4317-b0a3-e1d2ecf077d6.png"/>
          <p:cNvPicPr>
            <a:picLocks noChangeAspect="1"/>
          </p:cNvPicPr>
          <p:nvPr/>
        </p:nvPicPr>
        <p:blipFill>
          <a:blip r:embed="rId1"/>
          <a:srcRect l="3907" t="11967" r="1529" b="-11409"/>
          <a:stretch>
            <a:fillRect/>
          </a:stretch>
        </p:blipFill>
        <p:spPr>
          <a:xfrm>
            <a:off x="6400800" y="1256665"/>
            <a:ext cx="5184775" cy="4610100"/>
          </a:xfrm>
          <a:prstGeom prst="rect">
            <a:avLst/>
          </a:prstGeom>
        </p:spPr>
      </p:pic>
      <p:sp>
        <p:nvSpPr>
          <p:cNvPr id="27" name="Text 24"/>
          <p:cNvSpPr/>
          <p:nvPr/>
        </p:nvSpPr>
        <p:spPr>
          <a:xfrm>
            <a:off x="6400800" y="5404104"/>
            <a:ext cx="5120640" cy="201168"/>
          </a:xfrm>
          <a:prstGeom prst="rect">
            <a:avLst/>
          </a:prstGeom>
          <a:noFill/>
        </p:spPr>
        <p:txBody>
          <a:bodyPr wrap="square" lIns="0" tIns="0" rIns="0" bIns="0" rtlCol="0" anchor="ctr"/>
          <a:lstStyle/>
          <a:p>
            <a:pPr marL="0" indent="0" algn="ctr">
              <a:buNone/>
            </a:pPr>
            <a:r>
              <a:rPr lang="en-US" sz="850" i="1" dirty="0">
                <a:solidFill>
                  <a:srgbClr val="9FB2C8"/>
                </a:solidFill>
              </a:rPr>
              <a:t>Observed TCP traffic in Wireshark during lab testing</a:t>
            </a:r>
            <a:endParaRPr lang="en-US" sz="850" dirty="0"/>
          </a:p>
        </p:txBody>
      </p:sp>
      <p:sp>
        <p:nvSpPr>
          <p:cNvPr id="28" name="Text 25"/>
          <p:cNvSpPr/>
          <p:nvPr/>
        </p:nvSpPr>
        <p:spPr>
          <a:xfrm>
            <a:off x="6400800" y="5596128"/>
            <a:ext cx="5120640" cy="320040"/>
          </a:xfrm>
          <a:prstGeom prst="rect">
            <a:avLst/>
          </a:prstGeom>
          <a:noFill/>
        </p:spPr>
        <p:txBody>
          <a:bodyPr wrap="square" lIns="0" tIns="0" rIns="0" bIns="0" rtlCol="0" anchor="ctr"/>
          <a:lstStyle/>
          <a:p>
            <a:pPr marL="0" indent="0" algn="ctr">
              <a:buNone/>
            </a:pPr>
            <a:r>
              <a:rPr lang="en-US" sz="1400" b="1" dirty="0">
                <a:solidFill>
                  <a:srgbClr val="2FF3E0"/>
                </a:solidFill>
              </a:rPr>
              <a:t>Core idea: monitor → detect → analyze → respond</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50B1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50B12"/>
          </a:solidFill>
          <a:ln w="12700">
            <a:solidFill>
              <a:srgbClr val="050B12"/>
            </a:solidFill>
            <a:prstDash val="solid"/>
          </a:ln>
        </p:spPr>
      </p:sp>
      <p:sp>
        <p:nvSpPr>
          <p:cNvPr id="3" name="Shape 1"/>
          <p:cNvSpPr/>
          <p:nvPr/>
        </p:nvSpPr>
        <p:spPr>
          <a:xfrm>
            <a:off x="0" y="0"/>
            <a:ext cx="12191695" cy="475488"/>
          </a:xfrm>
          <a:prstGeom prst="rect">
            <a:avLst/>
          </a:prstGeom>
          <a:solidFill>
            <a:srgbClr val="091523"/>
          </a:solidFill>
          <a:ln w="12700">
            <a:solidFill>
              <a:srgbClr val="091523"/>
            </a:solidFill>
            <a:prstDash val="solid"/>
          </a:ln>
        </p:spPr>
      </p:sp>
      <p:sp>
        <p:nvSpPr>
          <p:cNvPr id="4" name="Shape 2"/>
          <p:cNvSpPr/>
          <p:nvPr/>
        </p:nvSpPr>
        <p:spPr>
          <a:xfrm>
            <a:off x="0" y="475488"/>
            <a:ext cx="12191695" cy="22860"/>
          </a:xfrm>
          <a:prstGeom prst="rect">
            <a:avLst/>
          </a:prstGeom>
          <a:solidFill>
            <a:srgbClr val="2FF3E0">
              <a:alpha val="90000"/>
            </a:srgbClr>
          </a:solidFill>
          <a:ln w="12700">
            <a:solidFill>
              <a:srgbClr val="2FF3E0"/>
            </a:solidFill>
            <a:prstDash val="solid"/>
          </a:ln>
        </p:spPr>
      </p:sp>
      <p:sp>
        <p:nvSpPr>
          <p:cNvPr id="6" name="Text 4"/>
          <p:cNvSpPr/>
          <p:nvPr/>
        </p:nvSpPr>
        <p:spPr>
          <a:xfrm>
            <a:off x="11384280" y="100584"/>
            <a:ext cx="347472" cy="256032"/>
          </a:xfrm>
          <a:prstGeom prst="rect">
            <a:avLst/>
          </a:prstGeom>
          <a:noFill/>
        </p:spPr>
        <p:txBody>
          <a:bodyPr wrap="square" lIns="0" tIns="0" rIns="0" bIns="0" rtlCol="0" anchor="ctr"/>
          <a:lstStyle/>
          <a:p>
            <a:pPr marL="0" indent="0" algn="r">
              <a:buNone/>
            </a:pPr>
            <a:r>
              <a:rPr lang="en-US" sz="1000" b="1" dirty="0">
                <a:solidFill>
                  <a:srgbClr val="9FB2C8"/>
                </a:solidFill>
                <a:latin typeface="Aptos Display" pitchFamily="34" charset="0"/>
                <a:ea typeface="Aptos Display" pitchFamily="34" charset="-122"/>
                <a:cs typeface="Aptos Display" pitchFamily="34" charset="-120"/>
              </a:rPr>
              <a:t>03</a:t>
            </a:r>
            <a:endParaRPr lang="en-US" sz="1000" dirty="0"/>
          </a:p>
        </p:txBody>
      </p:sp>
      <p:sp>
        <p:nvSpPr>
          <p:cNvPr id="7" name="Text 5"/>
          <p:cNvSpPr/>
          <p:nvPr/>
        </p:nvSpPr>
        <p:spPr>
          <a:xfrm>
            <a:off x="502920" y="713232"/>
            <a:ext cx="10607040" cy="329184"/>
          </a:xfrm>
          <a:prstGeom prst="rect">
            <a:avLst/>
          </a:prstGeom>
          <a:noFill/>
        </p:spPr>
        <p:txBody>
          <a:bodyPr wrap="square" lIns="0" tIns="0" rIns="0" bIns="0" rtlCol="0" anchor="ctr"/>
          <a:lstStyle/>
          <a:p>
            <a:pPr marL="0" indent="0">
              <a:buNone/>
            </a:pPr>
            <a:r>
              <a:rPr lang="en-US" sz="2200" b="1" dirty="0">
                <a:solidFill>
                  <a:srgbClr val="F8FAFC"/>
                </a:solidFill>
                <a:latin typeface="Aptos Display" pitchFamily="34" charset="0"/>
                <a:ea typeface="Aptos Display" pitchFamily="34" charset="-122"/>
                <a:cs typeface="Aptos Display" pitchFamily="34" charset="-120"/>
              </a:rPr>
              <a:t>Problem Statement</a:t>
            </a:r>
            <a:endParaRPr lang="en-US" sz="2200" dirty="0"/>
          </a:p>
        </p:txBody>
      </p:sp>
      <p:sp>
        <p:nvSpPr>
          <p:cNvPr id="8" name="Shape 6"/>
          <p:cNvSpPr/>
          <p:nvPr/>
        </p:nvSpPr>
        <p:spPr>
          <a:xfrm>
            <a:off x="274320" y="1965960"/>
            <a:ext cx="11658600" cy="0"/>
          </a:xfrm>
          <a:prstGeom prst="line">
            <a:avLst/>
          </a:prstGeom>
          <a:noFill/>
          <a:ln w="6350">
            <a:solidFill>
              <a:srgbClr val="233548">
                <a:alpha val="22000"/>
              </a:srgbClr>
            </a:solidFill>
            <a:prstDash val="solid"/>
          </a:ln>
        </p:spPr>
      </p:sp>
      <p:sp>
        <p:nvSpPr>
          <p:cNvPr id="9" name="Shape 7"/>
          <p:cNvSpPr/>
          <p:nvPr/>
        </p:nvSpPr>
        <p:spPr>
          <a:xfrm>
            <a:off x="274320" y="2697480"/>
            <a:ext cx="11658600" cy="0"/>
          </a:xfrm>
          <a:prstGeom prst="line">
            <a:avLst/>
          </a:prstGeom>
          <a:noFill/>
          <a:ln w="6350">
            <a:solidFill>
              <a:srgbClr val="233548">
                <a:alpha val="22000"/>
              </a:srgbClr>
            </a:solidFill>
            <a:prstDash val="solid"/>
          </a:ln>
        </p:spPr>
      </p:sp>
      <p:sp>
        <p:nvSpPr>
          <p:cNvPr id="10" name="Shape 8"/>
          <p:cNvSpPr/>
          <p:nvPr/>
        </p:nvSpPr>
        <p:spPr>
          <a:xfrm>
            <a:off x="274320" y="3429000"/>
            <a:ext cx="11658600" cy="0"/>
          </a:xfrm>
          <a:prstGeom prst="line">
            <a:avLst/>
          </a:prstGeom>
          <a:noFill/>
          <a:ln w="6350">
            <a:solidFill>
              <a:srgbClr val="233548">
                <a:alpha val="22000"/>
              </a:srgbClr>
            </a:solidFill>
            <a:prstDash val="solid"/>
          </a:ln>
        </p:spPr>
      </p:sp>
      <p:sp>
        <p:nvSpPr>
          <p:cNvPr id="11" name="Shape 9"/>
          <p:cNvSpPr/>
          <p:nvPr/>
        </p:nvSpPr>
        <p:spPr>
          <a:xfrm>
            <a:off x="274320" y="4160520"/>
            <a:ext cx="11658600" cy="0"/>
          </a:xfrm>
          <a:prstGeom prst="line">
            <a:avLst/>
          </a:prstGeom>
          <a:noFill/>
          <a:ln w="6350">
            <a:solidFill>
              <a:srgbClr val="233548">
                <a:alpha val="22000"/>
              </a:srgbClr>
            </a:solidFill>
            <a:prstDash val="solid"/>
          </a:ln>
        </p:spPr>
      </p:sp>
      <p:sp>
        <p:nvSpPr>
          <p:cNvPr id="12" name="Shape 10"/>
          <p:cNvSpPr/>
          <p:nvPr/>
        </p:nvSpPr>
        <p:spPr>
          <a:xfrm>
            <a:off x="274320" y="4892040"/>
            <a:ext cx="11658600" cy="0"/>
          </a:xfrm>
          <a:prstGeom prst="line">
            <a:avLst/>
          </a:prstGeom>
          <a:noFill/>
          <a:ln w="6350">
            <a:solidFill>
              <a:srgbClr val="233548">
                <a:alpha val="22000"/>
              </a:srgbClr>
            </a:solidFill>
            <a:prstDash val="solid"/>
          </a:ln>
        </p:spPr>
      </p:sp>
      <p:sp>
        <p:nvSpPr>
          <p:cNvPr id="13" name="Shape 11"/>
          <p:cNvSpPr/>
          <p:nvPr/>
        </p:nvSpPr>
        <p:spPr>
          <a:xfrm>
            <a:off x="274320" y="5623560"/>
            <a:ext cx="11658600" cy="0"/>
          </a:xfrm>
          <a:prstGeom prst="line">
            <a:avLst/>
          </a:prstGeom>
          <a:noFill/>
          <a:ln w="6350">
            <a:solidFill>
              <a:srgbClr val="233548">
                <a:alpha val="22000"/>
              </a:srgbClr>
            </a:solidFill>
            <a:prstDash val="solid"/>
          </a:ln>
        </p:spPr>
      </p:sp>
      <p:sp>
        <p:nvSpPr>
          <p:cNvPr id="14" name="Shape 12"/>
          <p:cNvSpPr/>
          <p:nvPr/>
        </p:nvSpPr>
        <p:spPr>
          <a:xfrm>
            <a:off x="0" y="6611112"/>
            <a:ext cx="12191695" cy="246888"/>
          </a:xfrm>
          <a:prstGeom prst="rect">
            <a:avLst/>
          </a:prstGeom>
          <a:solidFill>
            <a:srgbClr val="03070C"/>
          </a:solidFill>
          <a:ln w="12700">
            <a:solidFill>
              <a:srgbClr val="03070C"/>
            </a:solidFill>
            <a:prstDash val="solid"/>
          </a:ln>
        </p:spPr>
      </p:sp>
      <p:sp>
        <p:nvSpPr>
          <p:cNvPr id="17" name="Text 15"/>
          <p:cNvSpPr/>
          <p:nvPr/>
        </p:nvSpPr>
        <p:spPr>
          <a:xfrm>
            <a:off x="713232" y="1408176"/>
            <a:ext cx="6583680" cy="457200"/>
          </a:xfrm>
          <a:prstGeom prst="rect">
            <a:avLst/>
          </a:prstGeom>
          <a:noFill/>
        </p:spPr>
        <p:txBody>
          <a:bodyPr wrap="square" lIns="0" tIns="0" rIns="0" bIns="0" rtlCol="0" anchor="ctr"/>
          <a:lstStyle/>
          <a:p>
            <a:pPr marL="0" indent="0">
              <a:buNone/>
            </a:pPr>
            <a:r>
              <a:rPr lang="en-US" sz="2200" b="1" dirty="0">
                <a:solidFill>
                  <a:srgbClr val="F8FAFC"/>
                </a:solidFill>
              </a:rPr>
              <a:t>Networks are vulnerable when suspicious traffic is not monitored.</a:t>
            </a:r>
            <a:endParaRPr lang="en-US" sz="2200" dirty="0"/>
          </a:p>
        </p:txBody>
      </p:sp>
      <p:sp>
        <p:nvSpPr>
          <p:cNvPr id="18" name="Shape 16"/>
          <p:cNvSpPr/>
          <p:nvPr/>
        </p:nvSpPr>
        <p:spPr>
          <a:xfrm>
            <a:off x="685800" y="2240280"/>
            <a:ext cx="2100072" cy="1965960"/>
          </a:xfrm>
          <a:prstGeom prst="roundRect">
            <a:avLst>
              <a:gd name="adj" fmla="val 6047"/>
            </a:avLst>
          </a:prstGeom>
          <a:solidFill>
            <a:srgbClr val="0D1B2A">
              <a:alpha val="97000"/>
            </a:srgbClr>
          </a:solidFill>
          <a:ln w="12700">
            <a:solidFill>
              <a:srgbClr val="233548">
                <a:alpha val="92000"/>
              </a:srgbClr>
            </a:solidFill>
            <a:prstDash val="solid"/>
          </a:ln>
        </p:spPr>
      </p:sp>
      <p:sp>
        <p:nvSpPr>
          <p:cNvPr id="19" name="Text 17"/>
          <p:cNvSpPr/>
          <p:nvPr/>
        </p:nvSpPr>
        <p:spPr>
          <a:xfrm>
            <a:off x="850392" y="2404872"/>
            <a:ext cx="502920" cy="228600"/>
          </a:xfrm>
          <a:prstGeom prst="rect">
            <a:avLst/>
          </a:prstGeom>
          <a:noFill/>
        </p:spPr>
        <p:txBody>
          <a:bodyPr wrap="square" lIns="0" tIns="0" rIns="0" bIns="0" rtlCol="0" anchor="ctr"/>
          <a:lstStyle/>
          <a:p>
            <a:pPr marL="0" indent="0">
              <a:buNone/>
            </a:pPr>
            <a:r>
              <a:rPr lang="en-US" sz="1500" b="1" dirty="0">
                <a:solidFill>
                  <a:srgbClr val="2FF3E0"/>
                </a:solidFill>
              </a:rPr>
              <a:t>01</a:t>
            </a:r>
            <a:endParaRPr lang="en-US" sz="1500" dirty="0"/>
          </a:p>
        </p:txBody>
      </p:sp>
      <p:sp>
        <p:nvSpPr>
          <p:cNvPr id="20" name="Text 18"/>
          <p:cNvSpPr/>
          <p:nvPr/>
        </p:nvSpPr>
        <p:spPr>
          <a:xfrm>
            <a:off x="850392" y="2770632"/>
            <a:ext cx="1770888" cy="320040"/>
          </a:xfrm>
          <a:prstGeom prst="rect">
            <a:avLst/>
          </a:prstGeom>
          <a:noFill/>
        </p:spPr>
        <p:txBody>
          <a:bodyPr wrap="square" lIns="0" tIns="0" rIns="0" bIns="0" rtlCol="0" anchor="ctr"/>
          <a:lstStyle/>
          <a:p>
            <a:pPr marL="0" indent="0">
              <a:buNone/>
            </a:pPr>
            <a:r>
              <a:rPr lang="en-US" sz="1250" b="1" dirty="0">
                <a:solidFill>
                  <a:srgbClr val="F8FAFC"/>
                </a:solidFill>
              </a:rPr>
              <a:t>Unauthorized Access</a:t>
            </a:r>
            <a:endParaRPr lang="en-US" sz="1250" dirty="0"/>
          </a:p>
        </p:txBody>
      </p:sp>
      <p:sp>
        <p:nvSpPr>
          <p:cNvPr id="21" name="Text 19"/>
          <p:cNvSpPr/>
          <p:nvPr/>
        </p:nvSpPr>
        <p:spPr>
          <a:xfrm>
            <a:off x="850392" y="3172968"/>
            <a:ext cx="1770888" cy="914400"/>
          </a:xfrm>
          <a:prstGeom prst="rect">
            <a:avLst/>
          </a:prstGeom>
          <a:noFill/>
        </p:spPr>
        <p:txBody>
          <a:bodyPr wrap="square" lIns="127" tIns="127" rIns="127" bIns="127" rtlCol="0" anchor="ctr">
            <a:normAutofit/>
          </a:bodyPr>
          <a:lstStyle/>
          <a:p>
            <a:pPr marL="0" indent="0">
              <a:buNone/>
            </a:pPr>
            <a:r>
              <a:rPr lang="en-US" sz="950" dirty="0">
                <a:solidFill>
                  <a:srgbClr val="9FB2C8"/>
                </a:solidFill>
              </a:rPr>
              <a:t>Attackers may attempt to discover services and gain entry into poorly monitored systems.</a:t>
            </a:r>
            <a:endParaRPr lang="en-US" sz="950" dirty="0"/>
          </a:p>
        </p:txBody>
      </p:sp>
      <p:sp>
        <p:nvSpPr>
          <p:cNvPr id="22" name="Shape 20"/>
          <p:cNvSpPr/>
          <p:nvPr/>
        </p:nvSpPr>
        <p:spPr>
          <a:xfrm>
            <a:off x="2950464" y="2240280"/>
            <a:ext cx="2100072" cy="1965960"/>
          </a:xfrm>
          <a:prstGeom prst="roundRect">
            <a:avLst>
              <a:gd name="adj" fmla="val 6047"/>
            </a:avLst>
          </a:prstGeom>
          <a:solidFill>
            <a:srgbClr val="0D1B2A">
              <a:alpha val="97000"/>
            </a:srgbClr>
          </a:solidFill>
          <a:ln w="12700">
            <a:solidFill>
              <a:srgbClr val="233548">
                <a:alpha val="92000"/>
              </a:srgbClr>
            </a:solidFill>
            <a:prstDash val="solid"/>
          </a:ln>
        </p:spPr>
      </p:sp>
      <p:sp>
        <p:nvSpPr>
          <p:cNvPr id="23" name="Text 21"/>
          <p:cNvSpPr/>
          <p:nvPr/>
        </p:nvSpPr>
        <p:spPr>
          <a:xfrm>
            <a:off x="3115056" y="2404872"/>
            <a:ext cx="502920" cy="228600"/>
          </a:xfrm>
          <a:prstGeom prst="rect">
            <a:avLst/>
          </a:prstGeom>
          <a:noFill/>
        </p:spPr>
        <p:txBody>
          <a:bodyPr wrap="square" lIns="0" tIns="0" rIns="0" bIns="0" rtlCol="0" anchor="ctr"/>
          <a:lstStyle/>
          <a:p>
            <a:pPr marL="0" indent="0">
              <a:buNone/>
            </a:pPr>
            <a:r>
              <a:rPr lang="en-US" sz="1500" b="1" dirty="0">
                <a:solidFill>
                  <a:srgbClr val="2FF3E0"/>
                </a:solidFill>
              </a:rPr>
              <a:t>02</a:t>
            </a:r>
            <a:endParaRPr lang="en-US" sz="1500" dirty="0"/>
          </a:p>
        </p:txBody>
      </p:sp>
      <p:sp>
        <p:nvSpPr>
          <p:cNvPr id="24" name="Text 22"/>
          <p:cNvSpPr/>
          <p:nvPr/>
        </p:nvSpPr>
        <p:spPr>
          <a:xfrm>
            <a:off x="3115056" y="2770632"/>
            <a:ext cx="1770888" cy="320040"/>
          </a:xfrm>
          <a:prstGeom prst="rect">
            <a:avLst/>
          </a:prstGeom>
          <a:noFill/>
        </p:spPr>
        <p:txBody>
          <a:bodyPr wrap="square" lIns="0" tIns="0" rIns="0" bIns="0" rtlCol="0" anchor="ctr"/>
          <a:lstStyle/>
          <a:p>
            <a:pPr marL="0" indent="0">
              <a:buNone/>
            </a:pPr>
            <a:r>
              <a:rPr lang="en-US" sz="1250" b="1" dirty="0">
                <a:solidFill>
                  <a:srgbClr val="F8FAFC"/>
                </a:solidFill>
              </a:rPr>
              <a:t>Late Detection</a:t>
            </a:r>
            <a:endParaRPr lang="en-US" sz="1250" dirty="0"/>
          </a:p>
        </p:txBody>
      </p:sp>
      <p:sp>
        <p:nvSpPr>
          <p:cNvPr id="25" name="Text 23"/>
          <p:cNvSpPr/>
          <p:nvPr/>
        </p:nvSpPr>
        <p:spPr>
          <a:xfrm>
            <a:off x="3115056" y="3172968"/>
            <a:ext cx="1770888" cy="914400"/>
          </a:xfrm>
          <a:prstGeom prst="rect">
            <a:avLst/>
          </a:prstGeom>
          <a:noFill/>
        </p:spPr>
        <p:txBody>
          <a:bodyPr wrap="square" lIns="127" tIns="127" rIns="127" bIns="127" rtlCol="0" anchor="ctr">
            <a:normAutofit/>
          </a:bodyPr>
          <a:lstStyle/>
          <a:p>
            <a:pPr marL="0" indent="0">
              <a:buNone/>
            </a:pPr>
            <a:r>
              <a:rPr lang="en-US" sz="950" dirty="0">
                <a:solidFill>
                  <a:srgbClr val="9FB2C8"/>
                </a:solidFill>
              </a:rPr>
              <a:t>Without monitoring, reconnaissance and scanning behavior can go unnoticed.</a:t>
            </a:r>
            <a:endParaRPr lang="en-US" sz="950" dirty="0"/>
          </a:p>
        </p:txBody>
      </p:sp>
      <p:sp>
        <p:nvSpPr>
          <p:cNvPr id="26" name="Shape 24"/>
          <p:cNvSpPr/>
          <p:nvPr/>
        </p:nvSpPr>
        <p:spPr>
          <a:xfrm>
            <a:off x="5215128" y="2240280"/>
            <a:ext cx="2100072" cy="1965960"/>
          </a:xfrm>
          <a:prstGeom prst="roundRect">
            <a:avLst>
              <a:gd name="adj" fmla="val 6047"/>
            </a:avLst>
          </a:prstGeom>
          <a:solidFill>
            <a:srgbClr val="0D1B2A">
              <a:alpha val="97000"/>
            </a:srgbClr>
          </a:solidFill>
          <a:ln w="12700">
            <a:solidFill>
              <a:srgbClr val="233548">
                <a:alpha val="92000"/>
              </a:srgbClr>
            </a:solidFill>
            <a:prstDash val="solid"/>
          </a:ln>
        </p:spPr>
      </p:sp>
      <p:sp>
        <p:nvSpPr>
          <p:cNvPr id="27" name="Text 25"/>
          <p:cNvSpPr/>
          <p:nvPr/>
        </p:nvSpPr>
        <p:spPr>
          <a:xfrm>
            <a:off x="5379720" y="2404872"/>
            <a:ext cx="502920" cy="228600"/>
          </a:xfrm>
          <a:prstGeom prst="rect">
            <a:avLst/>
          </a:prstGeom>
          <a:noFill/>
        </p:spPr>
        <p:txBody>
          <a:bodyPr wrap="square" lIns="0" tIns="0" rIns="0" bIns="0" rtlCol="0" anchor="ctr"/>
          <a:lstStyle/>
          <a:p>
            <a:pPr marL="0" indent="0">
              <a:buNone/>
            </a:pPr>
            <a:r>
              <a:rPr lang="en-US" sz="1500" b="1" dirty="0">
                <a:solidFill>
                  <a:srgbClr val="2FF3E0"/>
                </a:solidFill>
              </a:rPr>
              <a:t>03</a:t>
            </a:r>
            <a:endParaRPr lang="en-US" sz="1500" dirty="0"/>
          </a:p>
        </p:txBody>
      </p:sp>
      <p:sp>
        <p:nvSpPr>
          <p:cNvPr id="28" name="Text 26"/>
          <p:cNvSpPr/>
          <p:nvPr/>
        </p:nvSpPr>
        <p:spPr>
          <a:xfrm>
            <a:off x="5379720" y="2770632"/>
            <a:ext cx="1770888" cy="320040"/>
          </a:xfrm>
          <a:prstGeom prst="rect">
            <a:avLst/>
          </a:prstGeom>
          <a:noFill/>
        </p:spPr>
        <p:txBody>
          <a:bodyPr wrap="square" lIns="0" tIns="0" rIns="0" bIns="0" rtlCol="0" anchor="ctr"/>
          <a:lstStyle/>
          <a:p>
            <a:pPr marL="0" indent="0">
              <a:buNone/>
            </a:pPr>
            <a:r>
              <a:rPr lang="en-US" sz="1250" b="1" dirty="0">
                <a:solidFill>
                  <a:srgbClr val="F8FAFC"/>
                </a:solidFill>
              </a:rPr>
              <a:t>Weak Evidence</a:t>
            </a:r>
            <a:endParaRPr lang="en-US" sz="1250" dirty="0"/>
          </a:p>
        </p:txBody>
      </p:sp>
      <p:sp>
        <p:nvSpPr>
          <p:cNvPr id="29" name="Text 27"/>
          <p:cNvSpPr/>
          <p:nvPr/>
        </p:nvSpPr>
        <p:spPr>
          <a:xfrm>
            <a:off x="5379720" y="3172968"/>
            <a:ext cx="1770888" cy="914400"/>
          </a:xfrm>
          <a:prstGeom prst="rect">
            <a:avLst/>
          </a:prstGeom>
          <a:noFill/>
        </p:spPr>
        <p:txBody>
          <a:bodyPr wrap="square" lIns="127" tIns="127" rIns="127" bIns="127" rtlCol="0" anchor="ctr">
            <a:normAutofit/>
          </a:bodyPr>
          <a:lstStyle/>
          <a:p>
            <a:pPr marL="0" indent="0">
              <a:buNone/>
            </a:pPr>
            <a:r>
              <a:rPr lang="en-US" sz="950" dirty="0">
                <a:solidFill>
                  <a:srgbClr val="9FB2C8"/>
                </a:solidFill>
              </a:rPr>
              <a:t>Poor packet visibility makes it difficult to investigate and prove what happened.</a:t>
            </a:r>
            <a:endParaRPr lang="en-US" sz="950" dirty="0"/>
          </a:p>
        </p:txBody>
      </p:sp>
      <p:sp>
        <p:nvSpPr>
          <p:cNvPr id="30" name="Shape 28"/>
          <p:cNvSpPr/>
          <p:nvPr/>
        </p:nvSpPr>
        <p:spPr>
          <a:xfrm>
            <a:off x="7772400" y="1371600"/>
            <a:ext cx="3703320" cy="3017520"/>
          </a:xfrm>
          <a:prstGeom prst="roundRect">
            <a:avLst>
              <a:gd name="adj" fmla="val 3636"/>
            </a:avLst>
          </a:prstGeom>
          <a:solidFill>
            <a:srgbClr val="06101B"/>
          </a:solidFill>
          <a:ln w="12700">
            <a:solidFill>
              <a:srgbClr val="2FF3E0">
                <a:alpha val="65000"/>
              </a:srgbClr>
            </a:solidFill>
            <a:prstDash val="solid"/>
          </a:ln>
        </p:spPr>
        <p:txBody>
          <a:bodyPr/>
          <a:p>
            <a:pPr marL="0" indent="0">
              <a:buNone/>
            </a:pPr>
            <a:r>
              <a:rPr lang="en-US" b="1" dirty="0">
                <a:solidFill>
                  <a:srgbClr val="2FF3E0"/>
                </a:solidFill>
                <a:latin typeface="Aptos Display" pitchFamily="34" charset="0"/>
                <a:ea typeface="Aptos Display" pitchFamily="34" charset="-122"/>
                <a:cs typeface="Aptos Display" pitchFamily="34" charset="-120"/>
                <a:sym typeface="+mn-ea"/>
              </a:rPr>
              <a:t>Project Scope</a:t>
            </a:r>
            <a:br>
              <a:rPr lang="en-US" dirty="0">
                <a:solidFill>
                  <a:srgbClr val="F8FAFC"/>
                </a:solidFill>
                <a:latin typeface="Aptos" pitchFamily="34" charset="0"/>
                <a:ea typeface="Aptos" pitchFamily="34" charset="-122"/>
                <a:cs typeface="Aptos" pitchFamily="34" charset="-120"/>
                <a:sym typeface="+mn-ea"/>
              </a:rPr>
            </a:br>
            <a:r>
              <a:rPr lang="en-US" dirty="0">
                <a:solidFill>
                  <a:srgbClr val="F8FAFC"/>
                </a:solidFill>
                <a:latin typeface="Aptos" pitchFamily="34" charset="0"/>
                <a:ea typeface="Aptos" pitchFamily="34" charset="-122"/>
                <a:cs typeface="Aptos" pitchFamily="34" charset="-120"/>
                <a:sym typeface="+mn-ea"/>
              </a:rPr>
              <a:t>-Virtualbox-based lab only</a:t>
            </a:r>
            <a:br>
              <a:rPr lang="en-US" dirty="0">
                <a:solidFill>
                  <a:srgbClr val="F8FAFC"/>
                </a:solidFill>
                <a:latin typeface="Aptos" pitchFamily="34" charset="0"/>
                <a:ea typeface="Aptos" pitchFamily="34" charset="-122"/>
                <a:cs typeface="Aptos" pitchFamily="34" charset="-120"/>
                <a:sym typeface="+mn-ea"/>
              </a:rPr>
            </a:br>
            <a:r>
              <a:rPr lang="en-US" dirty="0">
                <a:solidFill>
                  <a:srgbClr val="F8FAFC"/>
                </a:solidFill>
                <a:latin typeface="Aptos" pitchFamily="34" charset="0"/>
                <a:ea typeface="Aptos" pitchFamily="34" charset="-122"/>
                <a:cs typeface="Aptos" pitchFamily="34" charset="-120"/>
                <a:sym typeface="+mn-ea"/>
              </a:rPr>
              <a:t>- Detection-first deployment using Suricata</a:t>
            </a:r>
            <a:br>
              <a:rPr lang="en-US" dirty="0">
                <a:solidFill>
                  <a:srgbClr val="F8FAFC"/>
                </a:solidFill>
                <a:latin typeface="Aptos" pitchFamily="34" charset="0"/>
                <a:ea typeface="Aptos" pitchFamily="34" charset="-122"/>
                <a:cs typeface="Aptos" pitchFamily="34" charset="-120"/>
                <a:sym typeface="+mn-ea"/>
              </a:rPr>
            </a:br>
            <a:r>
              <a:rPr lang="en-US" dirty="0">
                <a:solidFill>
                  <a:srgbClr val="F8FAFC"/>
                </a:solidFill>
                <a:latin typeface="Aptos" pitchFamily="34" charset="0"/>
                <a:ea typeface="Aptos" pitchFamily="34" charset="-122"/>
                <a:cs typeface="Aptos" pitchFamily="34" charset="-120"/>
                <a:sym typeface="+mn-ea"/>
              </a:rPr>
              <a:t>- Normal traffic plus simulated attacks</a:t>
            </a:r>
            <a:br>
              <a:rPr lang="en-US" dirty="0">
                <a:solidFill>
                  <a:srgbClr val="F8FAFC"/>
                </a:solidFill>
                <a:latin typeface="Aptos" pitchFamily="34" charset="0"/>
                <a:ea typeface="Aptos" pitchFamily="34" charset="-122"/>
                <a:cs typeface="Aptos" pitchFamily="34" charset="-120"/>
                <a:sym typeface="+mn-ea"/>
              </a:rPr>
            </a:br>
            <a:r>
              <a:rPr lang="en-US" dirty="0">
                <a:solidFill>
                  <a:srgbClr val="F8FAFC"/>
                </a:solidFill>
                <a:latin typeface="Aptos" pitchFamily="34" charset="0"/>
                <a:ea typeface="Aptos" pitchFamily="34" charset="-122"/>
                <a:cs typeface="Aptos" pitchFamily="34" charset="-120"/>
                <a:sym typeface="+mn-ea"/>
              </a:rPr>
              <a:t>- Alerts review using logs and screenshots</a:t>
            </a:r>
            <a:endParaRPr lang="en-US"/>
          </a:p>
        </p:txBody>
      </p:sp>
      <p:sp>
        <p:nvSpPr>
          <p:cNvPr id="33" name="Shape 30"/>
          <p:cNvSpPr/>
          <p:nvPr/>
        </p:nvSpPr>
        <p:spPr>
          <a:xfrm>
            <a:off x="1026795" y="4919345"/>
            <a:ext cx="4188460" cy="1315085"/>
          </a:xfrm>
          <a:prstGeom prst="roundRect">
            <a:avLst>
              <a:gd name="adj" fmla="val 11429"/>
            </a:avLst>
          </a:prstGeom>
          <a:solidFill>
            <a:srgbClr val="0D1B2A">
              <a:alpha val="96000"/>
            </a:srgbClr>
          </a:solidFill>
          <a:ln w="12700">
            <a:solidFill>
              <a:srgbClr val="233548">
                <a:alpha val="95000"/>
              </a:srgbClr>
            </a:solidFill>
            <a:prstDash val="solid"/>
          </a:ln>
          <a:effectLst>
            <a:outerShdw blurRad="38100" dist="12700" dir="2700000" algn="bl" rotWithShape="0">
              <a:srgbClr val="000000">
                <a:alpha val="22000"/>
              </a:srgbClr>
            </a:outerShdw>
          </a:effectLst>
        </p:spPr>
        <p:txBody>
          <a:bodyPr/>
          <a:p>
            <a:pPr marL="0" indent="0">
              <a:buNone/>
            </a:pPr>
            <a:r>
              <a:rPr lang="en-US" sz="1400" b="1" dirty="0">
                <a:solidFill>
                  <a:srgbClr val="2FF3E0"/>
                </a:solidFill>
                <a:latin typeface="Aptos Display" pitchFamily="34" charset="0"/>
                <a:ea typeface="Aptos Display" pitchFamily="34" charset="-122"/>
                <a:cs typeface="Aptos Display" pitchFamily="34" charset="-120"/>
                <a:sym typeface="+mn-ea"/>
              </a:rPr>
              <a:t>Project Aim</a:t>
            </a:r>
            <a:endParaRPr lang="en-US" sz="1400" dirty="0"/>
          </a:p>
          <a:p>
            <a:pPr marL="0" indent="0">
              <a:buNone/>
            </a:pPr>
            <a:r>
              <a:rPr lang="en-US" sz="1400" dirty="0">
                <a:solidFill>
                  <a:srgbClr val="F8FAFC"/>
                </a:solidFill>
                <a:latin typeface="Aptos" pitchFamily="34" charset="0"/>
                <a:ea typeface="Aptos" pitchFamily="34" charset="-122"/>
                <a:cs typeface="Aptos" pitchFamily="34" charset="-120"/>
                <a:sym typeface="+mn-ea"/>
              </a:rPr>
              <a:t>Build a controlled lab, simulate suspicious traffic, capture packets, analyze TCP behavior, and present clear evidence</a:t>
            </a:r>
            <a:r>
              <a:rPr lang="en-US" dirty="0">
                <a:solidFill>
                  <a:srgbClr val="F8FAFC"/>
                </a:solidFill>
                <a:latin typeface="Aptos" pitchFamily="34" charset="0"/>
                <a:ea typeface="Aptos" pitchFamily="34" charset="-122"/>
                <a:cs typeface="Aptos" pitchFamily="34" charset="-120"/>
                <a:sym typeface="+mn-ea"/>
              </a:rPr>
              <a:t>.</a:t>
            </a:r>
            <a:endParaRPr lang="en-US"/>
          </a:p>
        </p:txBody>
      </p:sp>
      <p:pic>
        <p:nvPicPr>
          <p:cNvPr id="38" name="Picture 37"/>
          <p:cNvPicPr>
            <a:picLocks noChangeAspect="1"/>
          </p:cNvPicPr>
          <p:nvPr/>
        </p:nvPicPr>
        <p:blipFill>
          <a:blip r:embed="rId1"/>
          <a:stretch>
            <a:fillRect/>
          </a:stretch>
        </p:blipFill>
        <p:spPr>
          <a:xfrm flipH="1">
            <a:off x="909320" y="4919345"/>
            <a:ext cx="117475" cy="125666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50B1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50B12"/>
          </a:solidFill>
          <a:ln w="12700">
            <a:solidFill>
              <a:srgbClr val="050B12"/>
            </a:solidFill>
            <a:prstDash val="solid"/>
          </a:ln>
        </p:spPr>
      </p:sp>
      <p:sp>
        <p:nvSpPr>
          <p:cNvPr id="3" name="Shape 1"/>
          <p:cNvSpPr/>
          <p:nvPr/>
        </p:nvSpPr>
        <p:spPr>
          <a:xfrm>
            <a:off x="0" y="0"/>
            <a:ext cx="12191695" cy="475488"/>
          </a:xfrm>
          <a:prstGeom prst="rect">
            <a:avLst/>
          </a:prstGeom>
          <a:solidFill>
            <a:srgbClr val="091523"/>
          </a:solidFill>
          <a:ln w="12700">
            <a:solidFill>
              <a:srgbClr val="091523"/>
            </a:solidFill>
            <a:prstDash val="solid"/>
          </a:ln>
        </p:spPr>
      </p:sp>
      <p:sp>
        <p:nvSpPr>
          <p:cNvPr id="4" name="Shape 2"/>
          <p:cNvSpPr/>
          <p:nvPr/>
        </p:nvSpPr>
        <p:spPr>
          <a:xfrm>
            <a:off x="0" y="475488"/>
            <a:ext cx="12191695" cy="22860"/>
          </a:xfrm>
          <a:prstGeom prst="rect">
            <a:avLst/>
          </a:prstGeom>
          <a:solidFill>
            <a:srgbClr val="2FF3E0">
              <a:alpha val="90000"/>
            </a:srgbClr>
          </a:solidFill>
          <a:ln w="12700">
            <a:solidFill>
              <a:srgbClr val="2FF3E0"/>
            </a:solidFill>
            <a:prstDash val="solid"/>
          </a:ln>
        </p:spPr>
      </p:sp>
      <p:sp>
        <p:nvSpPr>
          <p:cNvPr id="6" name="Text 4"/>
          <p:cNvSpPr/>
          <p:nvPr/>
        </p:nvSpPr>
        <p:spPr>
          <a:xfrm>
            <a:off x="11384280" y="100584"/>
            <a:ext cx="347472" cy="256032"/>
          </a:xfrm>
          <a:prstGeom prst="rect">
            <a:avLst/>
          </a:prstGeom>
          <a:noFill/>
        </p:spPr>
        <p:txBody>
          <a:bodyPr wrap="square" lIns="0" tIns="0" rIns="0" bIns="0" rtlCol="0" anchor="ctr"/>
          <a:lstStyle/>
          <a:p>
            <a:pPr marL="0" indent="0" algn="r">
              <a:buNone/>
            </a:pPr>
            <a:r>
              <a:rPr lang="en-US" sz="1000" b="1" dirty="0">
                <a:solidFill>
                  <a:srgbClr val="9FB2C8"/>
                </a:solidFill>
                <a:latin typeface="Aptos Display" pitchFamily="34" charset="0"/>
                <a:ea typeface="Aptos Display" pitchFamily="34" charset="-122"/>
                <a:cs typeface="Aptos Display" pitchFamily="34" charset="-120"/>
              </a:rPr>
              <a:t>04</a:t>
            </a:r>
            <a:endParaRPr lang="en-US" sz="1000" dirty="0"/>
          </a:p>
        </p:txBody>
      </p:sp>
      <p:sp>
        <p:nvSpPr>
          <p:cNvPr id="7" name="Text 5"/>
          <p:cNvSpPr/>
          <p:nvPr/>
        </p:nvSpPr>
        <p:spPr>
          <a:xfrm>
            <a:off x="502920" y="713232"/>
            <a:ext cx="10607040" cy="329184"/>
          </a:xfrm>
          <a:prstGeom prst="rect">
            <a:avLst/>
          </a:prstGeom>
          <a:noFill/>
        </p:spPr>
        <p:txBody>
          <a:bodyPr wrap="square" lIns="0" tIns="0" rIns="0" bIns="0" rtlCol="0" anchor="ctr"/>
          <a:lstStyle/>
          <a:p>
            <a:pPr marL="0" indent="0">
              <a:buNone/>
            </a:pPr>
            <a:r>
              <a:rPr lang="en-US" sz="2200" b="1" dirty="0">
                <a:solidFill>
                  <a:srgbClr val="F8FAFC"/>
                </a:solidFill>
                <a:latin typeface="Aptos Display" pitchFamily="34" charset="0"/>
                <a:ea typeface="Aptos Display" pitchFamily="34" charset="-122"/>
                <a:cs typeface="Aptos Display" pitchFamily="34" charset="-120"/>
              </a:rPr>
              <a:t>Aim and Objectives</a:t>
            </a:r>
            <a:endParaRPr lang="en-US" sz="2200" dirty="0"/>
          </a:p>
        </p:txBody>
      </p:sp>
      <p:sp>
        <p:nvSpPr>
          <p:cNvPr id="8" name="Shape 6"/>
          <p:cNvSpPr/>
          <p:nvPr/>
        </p:nvSpPr>
        <p:spPr>
          <a:xfrm>
            <a:off x="274320" y="1965960"/>
            <a:ext cx="11658600" cy="0"/>
          </a:xfrm>
          <a:prstGeom prst="line">
            <a:avLst/>
          </a:prstGeom>
          <a:noFill/>
          <a:ln w="6350">
            <a:solidFill>
              <a:srgbClr val="233548">
                <a:alpha val="22000"/>
              </a:srgbClr>
            </a:solidFill>
            <a:prstDash val="solid"/>
          </a:ln>
        </p:spPr>
      </p:sp>
      <p:sp>
        <p:nvSpPr>
          <p:cNvPr id="9" name="Shape 7"/>
          <p:cNvSpPr/>
          <p:nvPr/>
        </p:nvSpPr>
        <p:spPr>
          <a:xfrm>
            <a:off x="274320" y="2697480"/>
            <a:ext cx="11658600" cy="0"/>
          </a:xfrm>
          <a:prstGeom prst="line">
            <a:avLst/>
          </a:prstGeom>
          <a:noFill/>
          <a:ln w="6350">
            <a:solidFill>
              <a:srgbClr val="233548">
                <a:alpha val="22000"/>
              </a:srgbClr>
            </a:solidFill>
            <a:prstDash val="solid"/>
          </a:ln>
        </p:spPr>
      </p:sp>
      <p:sp>
        <p:nvSpPr>
          <p:cNvPr id="10" name="Shape 8"/>
          <p:cNvSpPr/>
          <p:nvPr/>
        </p:nvSpPr>
        <p:spPr>
          <a:xfrm>
            <a:off x="274320" y="3429000"/>
            <a:ext cx="11658600" cy="0"/>
          </a:xfrm>
          <a:prstGeom prst="line">
            <a:avLst/>
          </a:prstGeom>
          <a:noFill/>
          <a:ln w="6350">
            <a:solidFill>
              <a:srgbClr val="233548">
                <a:alpha val="22000"/>
              </a:srgbClr>
            </a:solidFill>
            <a:prstDash val="solid"/>
          </a:ln>
        </p:spPr>
      </p:sp>
      <p:sp>
        <p:nvSpPr>
          <p:cNvPr id="11" name="Shape 9"/>
          <p:cNvSpPr/>
          <p:nvPr/>
        </p:nvSpPr>
        <p:spPr>
          <a:xfrm>
            <a:off x="274320" y="4160520"/>
            <a:ext cx="11658600" cy="0"/>
          </a:xfrm>
          <a:prstGeom prst="line">
            <a:avLst/>
          </a:prstGeom>
          <a:noFill/>
          <a:ln w="6350">
            <a:solidFill>
              <a:srgbClr val="233548">
                <a:alpha val="22000"/>
              </a:srgbClr>
            </a:solidFill>
            <a:prstDash val="solid"/>
          </a:ln>
        </p:spPr>
      </p:sp>
      <p:sp>
        <p:nvSpPr>
          <p:cNvPr id="12" name="Shape 10"/>
          <p:cNvSpPr/>
          <p:nvPr/>
        </p:nvSpPr>
        <p:spPr>
          <a:xfrm>
            <a:off x="274320" y="4892040"/>
            <a:ext cx="11658600" cy="0"/>
          </a:xfrm>
          <a:prstGeom prst="line">
            <a:avLst/>
          </a:prstGeom>
          <a:noFill/>
          <a:ln w="6350">
            <a:solidFill>
              <a:srgbClr val="233548">
                <a:alpha val="22000"/>
              </a:srgbClr>
            </a:solidFill>
            <a:prstDash val="solid"/>
          </a:ln>
        </p:spPr>
      </p:sp>
      <p:sp>
        <p:nvSpPr>
          <p:cNvPr id="13" name="Shape 11"/>
          <p:cNvSpPr/>
          <p:nvPr/>
        </p:nvSpPr>
        <p:spPr>
          <a:xfrm>
            <a:off x="274320" y="5623560"/>
            <a:ext cx="11658600" cy="0"/>
          </a:xfrm>
          <a:prstGeom prst="line">
            <a:avLst/>
          </a:prstGeom>
          <a:noFill/>
          <a:ln w="6350">
            <a:solidFill>
              <a:srgbClr val="233548">
                <a:alpha val="22000"/>
              </a:srgbClr>
            </a:solidFill>
            <a:prstDash val="solid"/>
          </a:ln>
        </p:spPr>
      </p:sp>
      <p:sp>
        <p:nvSpPr>
          <p:cNvPr id="14" name="Shape 12"/>
          <p:cNvSpPr/>
          <p:nvPr/>
        </p:nvSpPr>
        <p:spPr>
          <a:xfrm>
            <a:off x="0" y="6611112"/>
            <a:ext cx="12191695" cy="246888"/>
          </a:xfrm>
          <a:prstGeom prst="rect">
            <a:avLst/>
          </a:prstGeom>
          <a:solidFill>
            <a:srgbClr val="03070C"/>
          </a:solidFill>
          <a:ln w="12700">
            <a:solidFill>
              <a:srgbClr val="03070C"/>
            </a:solidFill>
            <a:prstDash val="solid"/>
          </a:ln>
        </p:spPr>
      </p:sp>
      <p:sp>
        <p:nvSpPr>
          <p:cNvPr id="17" name="Text 15"/>
          <p:cNvSpPr/>
          <p:nvPr/>
        </p:nvSpPr>
        <p:spPr>
          <a:xfrm>
            <a:off x="731520" y="1353312"/>
            <a:ext cx="914400" cy="228600"/>
          </a:xfrm>
          <a:prstGeom prst="rect">
            <a:avLst/>
          </a:prstGeom>
          <a:noFill/>
        </p:spPr>
        <p:txBody>
          <a:bodyPr wrap="square" lIns="0" tIns="0" rIns="0" bIns="0" rtlCol="0" anchor="ctr"/>
          <a:lstStyle/>
          <a:p>
            <a:pPr marL="0" indent="0">
              <a:buNone/>
            </a:pPr>
            <a:r>
              <a:rPr lang="en-US" sz="1500" b="1" dirty="0">
                <a:solidFill>
                  <a:srgbClr val="2FF3E0"/>
                </a:solidFill>
              </a:rPr>
              <a:t>Aim</a:t>
            </a:r>
            <a:endParaRPr lang="en-US" sz="1500" dirty="0"/>
          </a:p>
        </p:txBody>
      </p:sp>
      <p:sp>
        <p:nvSpPr>
          <p:cNvPr id="18" name="Text 16"/>
          <p:cNvSpPr/>
          <p:nvPr/>
        </p:nvSpPr>
        <p:spPr>
          <a:xfrm>
            <a:off x="731520" y="1719072"/>
            <a:ext cx="10607040" cy="530352"/>
          </a:xfrm>
          <a:prstGeom prst="rect">
            <a:avLst/>
          </a:prstGeom>
          <a:noFill/>
        </p:spPr>
        <p:txBody>
          <a:bodyPr wrap="square" lIns="0" tIns="0" rIns="0" bIns="0" rtlCol="0" anchor="ctr">
            <a:normAutofit/>
          </a:bodyPr>
          <a:lstStyle/>
          <a:p>
            <a:pPr marL="0" indent="0">
              <a:buNone/>
            </a:pPr>
            <a:r>
              <a:rPr lang="en-US" sz="2000" b="1" dirty="0">
                <a:solidFill>
                  <a:srgbClr val="F8FAFC"/>
                </a:solidFill>
              </a:rPr>
              <a:t>To design and implement a Network Intrusion Detection System lab for monitoring and identifying suspicious network activity.</a:t>
            </a:r>
            <a:endParaRPr lang="en-US" sz="2000" dirty="0"/>
          </a:p>
        </p:txBody>
      </p:sp>
      <p:sp>
        <p:nvSpPr>
          <p:cNvPr id="19" name="Shape 17"/>
          <p:cNvSpPr/>
          <p:nvPr/>
        </p:nvSpPr>
        <p:spPr>
          <a:xfrm>
            <a:off x="713232" y="2743200"/>
            <a:ext cx="3486912" cy="2011680"/>
          </a:xfrm>
          <a:prstGeom prst="roundRect">
            <a:avLst>
              <a:gd name="adj" fmla="val 5909"/>
            </a:avLst>
          </a:prstGeom>
          <a:solidFill>
            <a:srgbClr val="0D1B2A">
              <a:alpha val="97000"/>
            </a:srgbClr>
          </a:solidFill>
          <a:ln w="12700">
            <a:solidFill>
              <a:srgbClr val="233548">
                <a:alpha val="92000"/>
              </a:srgbClr>
            </a:solidFill>
            <a:prstDash val="solid"/>
          </a:ln>
        </p:spPr>
      </p:sp>
      <p:sp>
        <p:nvSpPr>
          <p:cNvPr id="20" name="Text 18"/>
          <p:cNvSpPr/>
          <p:nvPr/>
        </p:nvSpPr>
        <p:spPr>
          <a:xfrm>
            <a:off x="877824" y="2907792"/>
            <a:ext cx="502920" cy="228600"/>
          </a:xfrm>
          <a:prstGeom prst="rect">
            <a:avLst/>
          </a:prstGeom>
          <a:noFill/>
        </p:spPr>
        <p:txBody>
          <a:bodyPr wrap="square" lIns="0" tIns="0" rIns="0" bIns="0" rtlCol="0" anchor="ctr"/>
          <a:lstStyle/>
          <a:p>
            <a:pPr marL="0" indent="0">
              <a:buNone/>
            </a:pPr>
            <a:r>
              <a:rPr lang="en-US" sz="1500" b="1" dirty="0">
                <a:solidFill>
                  <a:srgbClr val="2FF3E0"/>
                </a:solidFill>
              </a:rPr>
              <a:t>01</a:t>
            </a:r>
            <a:endParaRPr lang="en-US" sz="1500" dirty="0"/>
          </a:p>
        </p:txBody>
      </p:sp>
      <p:sp>
        <p:nvSpPr>
          <p:cNvPr id="21" name="Text 19"/>
          <p:cNvSpPr/>
          <p:nvPr/>
        </p:nvSpPr>
        <p:spPr>
          <a:xfrm>
            <a:off x="877824" y="3273552"/>
            <a:ext cx="3157728" cy="320040"/>
          </a:xfrm>
          <a:prstGeom prst="rect">
            <a:avLst/>
          </a:prstGeom>
          <a:noFill/>
        </p:spPr>
        <p:txBody>
          <a:bodyPr wrap="square" lIns="0" tIns="0" rIns="0" bIns="0" rtlCol="0" anchor="ctr"/>
          <a:lstStyle/>
          <a:p>
            <a:pPr marL="0" indent="0">
              <a:buNone/>
            </a:pPr>
            <a:r>
              <a:rPr lang="en-US" sz="1250" b="1" dirty="0">
                <a:solidFill>
                  <a:srgbClr val="F8FAFC"/>
                </a:solidFill>
              </a:rPr>
              <a:t>Build the lab</a:t>
            </a:r>
            <a:endParaRPr lang="en-US" sz="1250" dirty="0"/>
          </a:p>
        </p:txBody>
      </p:sp>
      <p:sp>
        <p:nvSpPr>
          <p:cNvPr id="22" name="Text 20"/>
          <p:cNvSpPr/>
          <p:nvPr/>
        </p:nvSpPr>
        <p:spPr>
          <a:xfrm>
            <a:off x="877824" y="3675888"/>
            <a:ext cx="3157728" cy="960120"/>
          </a:xfrm>
          <a:prstGeom prst="rect">
            <a:avLst/>
          </a:prstGeom>
          <a:noFill/>
        </p:spPr>
        <p:txBody>
          <a:bodyPr wrap="square" lIns="127" tIns="127" rIns="127" bIns="127" rtlCol="0" anchor="ctr">
            <a:normAutofit/>
          </a:bodyPr>
          <a:lstStyle/>
          <a:p>
            <a:pPr marL="0" indent="0">
              <a:buNone/>
            </a:pPr>
            <a:r>
              <a:rPr lang="en-US" sz="950" dirty="0">
                <a:solidFill>
                  <a:srgbClr val="9FB2C8"/>
                </a:solidFill>
              </a:rPr>
              <a:t>Use VirtualBox with Ubuntu, Kali Linux and Metasploitable to create a controlled test network.</a:t>
            </a:r>
            <a:endParaRPr lang="en-US" sz="950" dirty="0"/>
          </a:p>
        </p:txBody>
      </p:sp>
      <p:sp>
        <p:nvSpPr>
          <p:cNvPr id="23" name="Shape 21"/>
          <p:cNvSpPr/>
          <p:nvPr/>
        </p:nvSpPr>
        <p:spPr>
          <a:xfrm>
            <a:off x="4364736" y="2743200"/>
            <a:ext cx="3486912" cy="2011680"/>
          </a:xfrm>
          <a:prstGeom prst="roundRect">
            <a:avLst>
              <a:gd name="adj" fmla="val 5909"/>
            </a:avLst>
          </a:prstGeom>
          <a:solidFill>
            <a:srgbClr val="0D1B2A">
              <a:alpha val="97000"/>
            </a:srgbClr>
          </a:solidFill>
          <a:ln w="12700">
            <a:solidFill>
              <a:srgbClr val="233548">
                <a:alpha val="92000"/>
              </a:srgbClr>
            </a:solidFill>
            <a:prstDash val="solid"/>
          </a:ln>
        </p:spPr>
      </p:sp>
      <p:sp>
        <p:nvSpPr>
          <p:cNvPr id="24" name="Text 22"/>
          <p:cNvSpPr/>
          <p:nvPr/>
        </p:nvSpPr>
        <p:spPr>
          <a:xfrm>
            <a:off x="4529328" y="2907792"/>
            <a:ext cx="502920" cy="228600"/>
          </a:xfrm>
          <a:prstGeom prst="rect">
            <a:avLst/>
          </a:prstGeom>
          <a:noFill/>
        </p:spPr>
        <p:txBody>
          <a:bodyPr wrap="square" lIns="0" tIns="0" rIns="0" bIns="0" rtlCol="0" anchor="ctr"/>
          <a:lstStyle/>
          <a:p>
            <a:pPr marL="0" indent="0">
              <a:buNone/>
            </a:pPr>
            <a:r>
              <a:rPr lang="en-US" sz="1500" b="1" dirty="0">
                <a:solidFill>
                  <a:srgbClr val="2FF3E0"/>
                </a:solidFill>
              </a:rPr>
              <a:t>02</a:t>
            </a:r>
            <a:endParaRPr lang="en-US" sz="1500" dirty="0"/>
          </a:p>
        </p:txBody>
      </p:sp>
      <p:sp>
        <p:nvSpPr>
          <p:cNvPr id="25" name="Text 23"/>
          <p:cNvSpPr/>
          <p:nvPr/>
        </p:nvSpPr>
        <p:spPr>
          <a:xfrm>
            <a:off x="4529328" y="3273552"/>
            <a:ext cx="3157728" cy="320040"/>
          </a:xfrm>
          <a:prstGeom prst="rect">
            <a:avLst/>
          </a:prstGeom>
          <a:noFill/>
        </p:spPr>
        <p:txBody>
          <a:bodyPr wrap="square" lIns="0" tIns="0" rIns="0" bIns="0" rtlCol="0" anchor="ctr"/>
          <a:lstStyle/>
          <a:p>
            <a:pPr marL="0" indent="0">
              <a:buNone/>
            </a:pPr>
            <a:r>
              <a:rPr lang="en-US" sz="1250" b="1" dirty="0">
                <a:solidFill>
                  <a:srgbClr val="F8FAFC"/>
                </a:solidFill>
              </a:rPr>
              <a:t>Generate traffic</a:t>
            </a:r>
            <a:endParaRPr lang="en-US" sz="1250" dirty="0"/>
          </a:p>
        </p:txBody>
      </p:sp>
      <p:sp>
        <p:nvSpPr>
          <p:cNvPr id="26" name="Text 24"/>
          <p:cNvSpPr/>
          <p:nvPr/>
        </p:nvSpPr>
        <p:spPr>
          <a:xfrm>
            <a:off x="4529328" y="3675888"/>
            <a:ext cx="3157728" cy="960120"/>
          </a:xfrm>
          <a:prstGeom prst="rect">
            <a:avLst/>
          </a:prstGeom>
          <a:noFill/>
        </p:spPr>
        <p:txBody>
          <a:bodyPr wrap="square" lIns="127" tIns="127" rIns="127" bIns="127" rtlCol="0" anchor="ctr">
            <a:normAutofit/>
          </a:bodyPr>
          <a:lstStyle/>
          <a:p>
            <a:pPr marL="0" indent="0">
              <a:buNone/>
            </a:pPr>
            <a:r>
              <a:rPr lang="en-US" sz="950" dirty="0">
                <a:solidFill>
                  <a:srgbClr val="9FB2C8"/>
                </a:solidFill>
              </a:rPr>
              <a:t>Use Nmap and normal network activity to produce observable packet patterns.</a:t>
            </a:r>
            <a:endParaRPr lang="en-US" sz="950" dirty="0"/>
          </a:p>
        </p:txBody>
      </p:sp>
      <p:sp>
        <p:nvSpPr>
          <p:cNvPr id="27" name="Shape 25"/>
          <p:cNvSpPr/>
          <p:nvPr/>
        </p:nvSpPr>
        <p:spPr>
          <a:xfrm>
            <a:off x="8016240" y="2743200"/>
            <a:ext cx="3486912" cy="2011680"/>
          </a:xfrm>
          <a:prstGeom prst="roundRect">
            <a:avLst>
              <a:gd name="adj" fmla="val 5909"/>
            </a:avLst>
          </a:prstGeom>
          <a:solidFill>
            <a:srgbClr val="0D1B2A">
              <a:alpha val="97000"/>
            </a:srgbClr>
          </a:solidFill>
          <a:ln w="12700">
            <a:solidFill>
              <a:srgbClr val="233548">
                <a:alpha val="92000"/>
              </a:srgbClr>
            </a:solidFill>
            <a:prstDash val="solid"/>
          </a:ln>
        </p:spPr>
      </p:sp>
      <p:sp>
        <p:nvSpPr>
          <p:cNvPr id="28" name="Text 26"/>
          <p:cNvSpPr/>
          <p:nvPr/>
        </p:nvSpPr>
        <p:spPr>
          <a:xfrm>
            <a:off x="8180832" y="2907792"/>
            <a:ext cx="502920" cy="228600"/>
          </a:xfrm>
          <a:prstGeom prst="rect">
            <a:avLst/>
          </a:prstGeom>
          <a:noFill/>
        </p:spPr>
        <p:txBody>
          <a:bodyPr wrap="square" lIns="0" tIns="0" rIns="0" bIns="0" rtlCol="0" anchor="ctr"/>
          <a:lstStyle/>
          <a:p>
            <a:pPr marL="0" indent="0">
              <a:buNone/>
            </a:pPr>
            <a:r>
              <a:rPr lang="en-US" sz="1500" b="1" dirty="0">
                <a:solidFill>
                  <a:srgbClr val="2FF3E0"/>
                </a:solidFill>
              </a:rPr>
              <a:t>03</a:t>
            </a:r>
            <a:endParaRPr lang="en-US" sz="1500" dirty="0"/>
          </a:p>
        </p:txBody>
      </p:sp>
      <p:sp>
        <p:nvSpPr>
          <p:cNvPr id="29" name="Text 27"/>
          <p:cNvSpPr/>
          <p:nvPr/>
        </p:nvSpPr>
        <p:spPr>
          <a:xfrm>
            <a:off x="8180832" y="3273552"/>
            <a:ext cx="3157728" cy="320040"/>
          </a:xfrm>
          <a:prstGeom prst="rect">
            <a:avLst/>
          </a:prstGeom>
          <a:noFill/>
        </p:spPr>
        <p:txBody>
          <a:bodyPr wrap="square" lIns="0" tIns="0" rIns="0" bIns="0" rtlCol="0" anchor="ctr"/>
          <a:lstStyle/>
          <a:p>
            <a:pPr marL="0" indent="0">
              <a:buNone/>
            </a:pPr>
            <a:r>
              <a:rPr lang="en-US" sz="1250" b="1" dirty="0">
                <a:solidFill>
                  <a:srgbClr val="F8FAFC"/>
                </a:solidFill>
              </a:rPr>
              <a:t>Analyze evidence</a:t>
            </a:r>
            <a:endParaRPr lang="en-US" sz="1250" dirty="0"/>
          </a:p>
        </p:txBody>
      </p:sp>
      <p:sp>
        <p:nvSpPr>
          <p:cNvPr id="30" name="Text 28"/>
          <p:cNvSpPr/>
          <p:nvPr/>
        </p:nvSpPr>
        <p:spPr>
          <a:xfrm>
            <a:off x="8180832" y="3675888"/>
            <a:ext cx="3157728" cy="960120"/>
          </a:xfrm>
          <a:prstGeom prst="rect">
            <a:avLst/>
          </a:prstGeom>
          <a:noFill/>
        </p:spPr>
        <p:txBody>
          <a:bodyPr wrap="square" lIns="127" tIns="127" rIns="127" bIns="127" rtlCol="0" anchor="ctr">
            <a:normAutofit/>
          </a:bodyPr>
          <a:lstStyle/>
          <a:p>
            <a:pPr marL="0" indent="0">
              <a:buNone/>
            </a:pPr>
            <a:r>
              <a:rPr lang="en-US" sz="950" dirty="0">
                <a:solidFill>
                  <a:srgbClr val="9FB2C8"/>
                </a:solidFill>
              </a:rPr>
              <a:t>Use Wireshark and Suricata concepts to detect reconnaissance-style behavior.</a:t>
            </a:r>
            <a:endParaRPr lang="en-US" sz="950" dirty="0"/>
          </a:p>
        </p:txBody>
      </p:sp>
      <p:sp>
        <p:nvSpPr>
          <p:cNvPr id="32" name="Shape 30"/>
          <p:cNvSpPr/>
          <p:nvPr/>
        </p:nvSpPr>
        <p:spPr>
          <a:xfrm>
            <a:off x="713232" y="5166360"/>
            <a:ext cx="73152" cy="777240"/>
          </a:xfrm>
          <a:prstGeom prst="rect">
            <a:avLst/>
          </a:prstGeom>
          <a:solidFill>
            <a:srgbClr val="4DFF8F"/>
          </a:solidFill>
          <a:ln w="12700">
            <a:solidFill>
              <a:srgbClr val="4DFF8F"/>
            </a:solidFill>
            <a:prstDash val="solid"/>
          </a:ln>
        </p:spPr>
      </p:sp>
      <p:sp>
        <p:nvSpPr>
          <p:cNvPr id="33" name="Text 31"/>
          <p:cNvSpPr/>
          <p:nvPr/>
        </p:nvSpPr>
        <p:spPr>
          <a:xfrm>
            <a:off x="941832" y="5330952"/>
            <a:ext cx="10442448" cy="228600"/>
          </a:xfrm>
          <a:prstGeom prst="rect">
            <a:avLst/>
          </a:prstGeom>
          <a:noFill/>
        </p:spPr>
        <p:txBody>
          <a:bodyPr wrap="square" lIns="0" tIns="0" rIns="0" bIns="0" rtlCol="0" anchor="ctr"/>
          <a:lstStyle/>
          <a:p>
            <a:pPr marL="0" indent="0">
              <a:buNone/>
            </a:pPr>
            <a:r>
              <a:rPr lang="en-US" sz="1200" b="1" dirty="0">
                <a:solidFill>
                  <a:srgbClr val="4DFF8F"/>
                </a:solidFill>
                <a:latin typeface="Aptos Display" pitchFamily="34" charset="0"/>
                <a:ea typeface="Aptos Display" pitchFamily="34" charset="-122"/>
                <a:cs typeface="Aptos Display" pitchFamily="34" charset="-120"/>
              </a:rPr>
              <a:t>Project Outcome</a:t>
            </a:r>
            <a:endParaRPr lang="en-US" sz="1200" dirty="0"/>
          </a:p>
        </p:txBody>
      </p:sp>
      <p:sp>
        <p:nvSpPr>
          <p:cNvPr id="34" name="Text 32"/>
          <p:cNvSpPr/>
          <p:nvPr/>
        </p:nvSpPr>
        <p:spPr>
          <a:xfrm>
            <a:off x="941832" y="5641848"/>
            <a:ext cx="10442448" cy="210312"/>
          </a:xfrm>
          <a:prstGeom prst="rect">
            <a:avLst/>
          </a:prstGeom>
          <a:noFill/>
        </p:spPr>
        <p:txBody>
          <a:bodyPr wrap="square" lIns="254" tIns="254" rIns="254" bIns="254" rtlCol="0" anchor="t">
            <a:normAutofit/>
          </a:bodyPr>
          <a:lstStyle/>
          <a:p>
            <a:pPr marL="0" indent="0">
              <a:buNone/>
            </a:pPr>
            <a:r>
              <a:rPr lang="en-US" sz="1050" dirty="0">
                <a:solidFill>
                  <a:srgbClr val="F8FAFC"/>
                </a:solidFill>
                <a:latin typeface="Aptos" pitchFamily="34" charset="0"/>
                <a:ea typeface="Aptos" pitchFamily="34" charset="-122"/>
                <a:cs typeface="Aptos" pitchFamily="34" charset="-120"/>
              </a:rPr>
              <a:t>Detect suspicious behaviour and generate useful alerts</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50B1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50B12"/>
          </a:solidFill>
          <a:ln w="12700">
            <a:solidFill>
              <a:srgbClr val="050B12"/>
            </a:solidFill>
            <a:prstDash val="solid"/>
          </a:ln>
        </p:spPr>
      </p:sp>
      <p:sp>
        <p:nvSpPr>
          <p:cNvPr id="3" name="Shape 1"/>
          <p:cNvSpPr/>
          <p:nvPr/>
        </p:nvSpPr>
        <p:spPr>
          <a:xfrm>
            <a:off x="0" y="0"/>
            <a:ext cx="12191695" cy="475488"/>
          </a:xfrm>
          <a:prstGeom prst="rect">
            <a:avLst/>
          </a:prstGeom>
          <a:solidFill>
            <a:srgbClr val="091523"/>
          </a:solidFill>
          <a:ln w="12700">
            <a:solidFill>
              <a:srgbClr val="091523"/>
            </a:solidFill>
            <a:prstDash val="solid"/>
          </a:ln>
        </p:spPr>
      </p:sp>
      <p:sp>
        <p:nvSpPr>
          <p:cNvPr id="4" name="Shape 2"/>
          <p:cNvSpPr/>
          <p:nvPr/>
        </p:nvSpPr>
        <p:spPr>
          <a:xfrm>
            <a:off x="0" y="475488"/>
            <a:ext cx="12191695" cy="22860"/>
          </a:xfrm>
          <a:prstGeom prst="rect">
            <a:avLst/>
          </a:prstGeom>
          <a:solidFill>
            <a:srgbClr val="2FF3E0">
              <a:alpha val="90000"/>
            </a:srgbClr>
          </a:solidFill>
          <a:ln w="12700">
            <a:solidFill>
              <a:srgbClr val="2FF3E0"/>
            </a:solidFill>
            <a:prstDash val="solid"/>
          </a:ln>
        </p:spPr>
      </p:sp>
      <p:sp>
        <p:nvSpPr>
          <p:cNvPr id="6" name="Text 4"/>
          <p:cNvSpPr/>
          <p:nvPr/>
        </p:nvSpPr>
        <p:spPr>
          <a:xfrm>
            <a:off x="11384280" y="100584"/>
            <a:ext cx="347472" cy="256032"/>
          </a:xfrm>
          <a:prstGeom prst="rect">
            <a:avLst/>
          </a:prstGeom>
          <a:noFill/>
        </p:spPr>
        <p:txBody>
          <a:bodyPr wrap="square" lIns="0" tIns="0" rIns="0" bIns="0" rtlCol="0" anchor="ctr"/>
          <a:lstStyle/>
          <a:p>
            <a:pPr marL="0" indent="0" algn="r">
              <a:buNone/>
            </a:pPr>
            <a:r>
              <a:rPr lang="en-US" sz="1000" b="1" dirty="0">
                <a:solidFill>
                  <a:srgbClr val="9FB2C8"/>
                </a:solidFill>
                <a:latin typeface="Aptos Display" pitchFamily="34" charset="0"/>
                <a:ea typeface="Aptos Display" pitchFamily="34" charset="-122"/>
                <a:cs typeface="Aptos Display" pitchFamily="34" charset="-120"/>
              </a:rPr>
              <a:t>05</a:t>
            </a:r>
            <a:endParaRPr lang="en-US" sz="1000" dirty="0"/>
          </a:p>
        </p:txBody>
      </p:sp>
      <p:sp>
        <p:nvSpPr>
          <p:cNvPr id="7" name="Text 5"/>
          <p:cNvSpPr/>
          <p:nvPr/>
        </p:nvSpPr>
        <p:spPr>
          <a:xfrm>
            <a:off x="502920" y="713232"/>
            <a:ext cx="10607040" cy="329184"/>
          </a:xfrm>
          <a:prstGeom prst="rect">
            <a:avLst/>
          </a:prstGeom>
          <a:noFill/>
        </p:spPr>
        <p:txBody>
          <a:bodyPr wrap="square" lIns="0" tIns="0" rIns="0" bIns="0" rtlCol="0" anchor="ctr"/>
          <a:lstStyle/>
          <a:p>
            <a:pPr marL="0" indent="0">
              <a:buNone/>
            </a:pPr>
            <a:r>
              <a:rPr lang="en-US" sz="2200" b="1" dirty="0">
                <a:solidFill>
                  <a:srgbClr val="F8FAFC"/>
                </a:solidFill>
                <a:latin typeface="Aptos Display" pitchFamily="34" charset="0"/>
                <a:ea typeface="Aptos Display" pitchFamily="34" charset="-122"/>
                <a:cs typeface="Aptos Display" pitchFamily="34" charset="-120"/>
              </a:rPr>
              <a:t>System Architecture</a:t>
            </a:r>
            <a:endParaRPr lang="en-US" sz="2200" dirty="0"/>
          </a:p>
        </p:txBody>
      </p:sp>
      <p:sp>
        <p:nvSpPr>
          <p:cNvPr id="8" name="Shape 6"/>
          <p:cNvSpPr/>
          <p:nvPr/>
        </p:nvSpPr>
        <p:spPr>
          <a:xfrm>
            <a:off x="274320" y="1965960"/>
            <a:ext cx="11658600" cy="0"/>
          </a:xfrm>
          <a:prstGeom prst="line">
            <a:avLst/>
          </a:prstGeom>
          <a:noFill/>
          <a:ln w="6350">
            <a:solidFill>
              <a:srgbClr val="233548">
                <a:alpha val="22000"/>
              </a:srgbClr>
            </a:solidFill>
            <a:prstDash val="solid"/>
          </a:ln>
        </p:spPr>
      </p:sp>
      <p:sp>
        <p:nvSpPr>
          <p:cNvPr id="9" name="Shape 7"/>
          <p:cNvSpPr/>
          <p:nvPr/>
        </p:nvSpPr>
        <p:spPr>
          <a:xfrm>
            <a:off x="274320" y="2697480"/>
            <a:ext cx="11658600" cy="0"/>
          </a:xfrm>
          <a:prstGeom prst="line">
            <a:avLst/>
          </a:prstGeom>
          <a:noFill/>
          <a:ln w="6350">
            <a:solidFill>
              <a:srgbClr val="233548">
                <a:alpha val="22000"/>
              </a:srgbClr>
            </a:solidFill>
            <a:prstDash val="solid"/>
          </a:ln>
        </p:spPr>
      </p:sp>
      <p:sp>
        <p:nvSpPr>
          <p:cNvPr id="10" name="Shape 8"/>
          <p:cNvSpPr/>
          <p:nvPr/>
        </p:nvSpPr>
        <p:spPr>
          <a:xfrm>
            <a:off x="274320" y="3429000"/>
            <a:ext cx="11658600" cy="0"/>
          </a:xfrm>
          <a:prstGeom prst="line">
            <a:avLst/>
          </a:prstGeom>
          <a:noFill/>
          <a:ln w="6350">
            <a:solidFill>
              <a:srgbClr val="233548">
                <a:alpha val="22000"/>
              </a:srgbClr>
            </a:solidFill>
            <a:prstDash val="solid"/>
          </a:ln>
        </p:spPr>
      </p:sp>
      <p:sp>
        <p:nvSpPr>
          <p:cNvPr id="11" name="Shape 9"/>
          <p:cNvSpPr/>
          <p:nvPr/>
        </p:nvSpPr>
        <p:spPr>
          <a:xfrm>
            <a:off x="274320" y="4160520"/>
            <a:ext cx="11658600" cy="0"/>
          </a:xfrm>
          <a:prstGeom prst="line">
            <a:avLst/>
          </a:prstGeom>
          <a:noFill/>
          <a:ln w="6350">
            <a:solidFill>
              <a:srgbClr val="233548">
                <a:alpha val="22000"/>
              </a:srgbClr>
            </a:solidFill>
            <a:prstDash val="solid"/>
          </a:ln>
        </p:spPr>
      </p:sp>
      <p:sp>
        <p:nvSpPr>
          <p:cNvPr id="12" name="Shape 10"/>
          <p:cNvSpPr/>
          <p:nvPr/>
        </p:nvSpPr>
        <p:spPr>
          <a:xfrm>
            <a:off x="274320" y="4892040"/>
            <a:ext cx="11658600" cy="0"/>
          </a:xfrm>
          <a:prstGeom prst="line">
            <a:avLst/>
          </a:prstGeom>
          <a:noFill/>
          <a:ln w="6350">
            <a:solidFill>
              <a:srgbClr val="233548">
                <a:alpha val="22000"/>
              </a:srgbClr>
            </a:solidFill>
            <a:prstDash val="solid"/>
          </a:ln>
        </p:spPr>
      </p:sp>
      <p:sp>
        <p:nvSpPr>
          <p:cNvPr id="13" name="Shape 11"/>
          <p:cNvSpPr/>
          <p:nvPr/>
        </p:nvSpPr>
        <p:spPr>
          <a:xfrm>
            <a:off x="274320" y="5623560"/>
            <a:ext cx="11658600" cy="0"/>
          </a:xfrm>
          <a:prstGeom prst="line">
            <a:avLst/>
          </a:prstGeom>
          <a:noFill/>
          <a:ln w="6350">
            <a:solidFill>
              <a:srgbClr val="233548">
                <a:alpha val="22000"/>
              </a:srgbClr>
            </a:solidFill>
            <a:prstDash val="solid"/>
          </a:ln>
        </p:spPr>
      </p:sp>
      <p:sp>
        <p:nvSpPr>
          <p:cNvPr id="14" name="Shape 12"/>
          <p:cNvSpPr/>
          <p:nvPr/>
        </p:nvSpPr>
        <p:spPr>
          <a:xfrm>
            <a:off x="0" y="6611112"/>
            <a:ext cx="12191695" cy="246888"/>
          </a:xfrm>
          <a:prstGeom prst="rect">
            <a:avLst/>
          </a:prstGeom>
          <a:solidFill>
            <a:srgbClr val="03070C"/>
          </a:solidFill>
          <a:ln w="12700">
            <a:solidFill>
              <a:srgbClr val="03070C"/>
            </a:solidFill>
            <a:prstDash val="solid"/>
          </a:ln>
        </p:spPr>
      </p:sp>
      <p:sp>
        <p:nvSpPr>
          <p:cNvPr id="17" name="Text 15"/>
          <p:cNvSpPr/>
          <p:nvPr/>
        </p:nvSpPr>
        <p:spPr>
          <a:xfrm>
            <a:off x="685800" y="1234440"/>
            <a:ext cx="10698480" cy="320040"/>
          </a:xfrm>
          <a:prstGeom prst="rect">
            <a:avLst/>
          </a:prstGeom>
          <a:noFill/>
        </p:spPr>
        <p:txBody>
          <a:bodyPr wrap="square" lIns="0" tIns="0" rIns="0" bIns="0" rtlCol="0" anchor="ctr"/>
          <a:lstStyle/>
          <a:p>
            <a:pPr marL="0" indent="0">
              <a:buNone/>
            </a:pPr>
            <a:r>
              <a:rPr lang="en-US" sz="1500" dirty="0">
                <a:solidFill>
                  <a:srgbClr val="9FB2C8"/>
                </a:solidFill>
              </a:rPr>
              <a:t>The lab is designed around three roles: attacker, target and monitoring sensor.</a:t>
            </a:r>
            <a:endParaRPr lang="en-US" sz="1500" dirty="0"/>
          </a:p>
        </p:txBody>
      </p:sp>
      <p:sp>
        <p:nvSpPr>
          <p:cNvPr id="18" name="Shape 16"/>
          <p:cNvSpPr/>
          <p:nvPr/>
        </p:nvSpPr>
        <p:spPr>
          <a:xfrm>
            <a:off x="2788920" y="3474720"/>
            <a:ext cx="1417320" cy="0"/>
          </a:xfrm>
          <a:prstGeom prst="line">
            <a:avLst/>
          </a:prstGeom>
          <a:noFill/>
          <a:ln w="25400">
            <a:solidFill>
              <a:srgbClr val="FF4D6D"/>
            </a:solidFill>
            <a:prstDash val="solid"/>
            <a:headEnd type="none"/>
            <a:tailEnd type="triangle"/>
          </a:ln>
        </p:spPr>
      </p:sp>
      <p:sp>
        <p:nvSpPr>
          <p:cNvPr id="19" name="Shape 17"/>
          <p:cNvSpPr/>
          <p:nvPr/>
        </p:nvSpPr>
        <p:spPr>
          <a:xfrm>
            <a:off x="6446520" y="3474720"/>
            <a:ext cx="1417320" cy="0"/>
          </a:xfrm>
          <a:prstGeom prst="line">
            <a:avLst/>
          </a:prstGeom>
          <a:noFill/>
          <a:ln w="25400">
            <a:solidFill>
              <a:srgbClr val="2FF3E0"/>
            </a:solidFill>
            <a:prstDash val="solid"/>
            <a:headEnd type="none"/>
            <a:tailEnd type="triangle"/>
          </a:ln>
        </p:spPr>
      </p:sp>
      <p:sp>
        <p:nvSpPr>
          <p:cNvPr id="20" name="Shape 18"/>
          <p:cNvSpPr/>
          <p:nvPr/>
        </p:nvSpPr>
        <p:spPr>
          <a:xfrm>
            <a:off x="868680" y="2743200"/>
            <a:ext cx="2240280" cy="1463040"/>
          </a:xfrm>
          <a:prstGeom prst="roundRect">
            <a:avLst>
              <a:gd name="adj" fmla="val 10000"/>
            </a:avLst>
          </a:prstGeom>
          <a:solidFill>
            <a:srgbClr val="0D1B2A"/>
          </a:solidFill>
          <a:ln w="16510">
            <a:solidFill>
              <a:srgbClr val="FF4D6D"/>
            </a:solidFill>
            <a:prstDash val="solid"/>
          </a:ln>
          <a:effectLst>
            <a:outerShdw blurRad="50800" dist="12700" dir="2700000" algn="bl" rotWithShape="0">
              <a:srgbClr val="000000">
                <a:alpha val="25000"/>
              </a:srgbClr>
            </a:outerShdw>
          </a:effectLst>
        </p:spPr>
      </p:sp>
      <p:sp>
        <p:nvSpPr>
          <p:cNvPr id="21" name="Text 19"/>
          <p:cNvSpPr/>
          <p:nvPr/>
        </p:nvSpPr>
        <p:spPr>
          <a:xfrm>
            <a:off x="1069848" y="2953512"/>
            <a:ext cx="1828800" cy="256032"/>
          </a:xfrm>
          <a:prstGeom prst="rect">
            <a:avLst/>
          </a:prstGeom>
          <a:noFill/>
        </p:spPr>
        <p:txBody>
          <a:bodyPr wrap="square" lIns="0" tIns="0" rIns="0" bIns="0" rtlCol="0" anchor="ctr"/>
          <a:lstStyle/>
          <a:p>
            <a:pPr marL="0" indent="0" algn="ctr">
              <a:buNone/>
            </a:pPr>
            <a:r>
              <a:rPr lang="en-US" sz="1600" b="1" dirty="0">
                <a:solidFill>
                  <a:srgbClr val="F8FAFC"/>
                </a:solidFill>
              </a:rPr>
              <a:t>Kali Linux</a:t>
            </a:r>
            <a:endParaRPr lang="en-US" sz="1600" dirty="0"/>
          </a:p>
        </p:txBody>
      </p:sp>
      <p:sp>
        <p:nvSpPr>
          <p:cNvPr id="22" name="Text 20"/>
          <p:cNvSpPr/>
          <p:nvPr/>
        </p:nvSpPr>
        <p:spPr>
          <a:xfrm>
            <a:off x="1069848" y="3401568"/>
            <a:ext cx="1828800" cy="502920"/>
          </a:xfrm>
          <a:prstGeom prst="rect">
            <a:avLst/>
          </a:prstGeom>
          <a:noFill/>
        </p:spPr>
        <p:txBody>
          <a:bodyPr wrap="square" lIns="0" tIns="0" rIns="0" bIns="0" rtlCol="0" anchor="ctr"/>
          <a:lstStyle/>
          <a:p>
            <a:pPr marL="0" indent="0" algn="ctr">
              <a:buNone/>
            </a:pPr>
            <a:r>
              <a:rPr lang="en-US" sz="1050" dirty="0">
                <a:solidFill>
                  <a:srgbClr val="9FB2C8"/>
                </a:solidFill>
              </a:rPr>
              <a:t>Attacker</a:t>
            </a:r>
            <a:endParaRPr lang="en-US" sz="1050" dirty="0"/>
          </a:p>
          <a:p>
            <a:pPr marL="0" indent="0" algn="ctr">
              <a:buNone/>
            </a:pPr>
            <a:r>
              <a:rPr lang="en-US" sz="1050" dirty="0">
                <a:solidFill>
                  <a:srgbClr val="9FB2C8"/>
                </a:solidFill>
              </a:rPr>
              <a:t>Nmap scan</a:t>
            </a:r>
            <a:endParaRPr lang="en-US" sz="1050" dirty="0"/>
          </a:p>
        </p:txBody>
      </p:sp>
      <p:sp>
        <p:nvSpPr>
          <p:cNvPr id="23" name="Shape 21"/>
          <p:cNvSpPr/>
          <p:nvPr/>
        </p:nvSpPr>
        <p:spPr>
          <a:xfrm>
            <a:off x="4434840" y="2743200"/>
            <a:ext cx="2240280" cy="1463040"/>
          </a:xfrm>
          <a:prstGeom prst="roundRect">
            <a:avLst>
              <a:gd name="adj" fmla="val 10000"/>
            </a:avLst>
          </a:prstGeom>
          <a:solidFill>
            <a:srgbClr val="0D1B2A"/>
          </a:solidFill>
          <a:ln w="16510">
            <a:solidFill>
              <a:srgbClr val="F9D65C"/>
            </a:solidFill>
            <a:prstDash val="solid"/>
          </a:ln>
          <a:effectLst>
            <a:outerShdw blurRad="50800" dist="12700" dir="2700000" algn="bl" rotWithShape="0">
              <a:srgbClr val="000000">
                <a:alpha val="25000"/>
              </a:srgbClr>
            </a:outerShdw>
          </a:effectLst>
        </p:spPr>
      </p:sp>
      <p:sp>
        <p:nvSpPr>
          <p:cNvPr id="24" name="Text 22"/>
          <p:cNvSpPr/>
          <p:nvPr/>
        </p:nvSpPr>
        <p:spPr>
          <a:xfrm>
            <a:off x="4636008" y="2953512"/>
            <a:ext cx="1828800" cy="256032"/>
          </a:xfrm>
          <a:prstGeom prst="rect">
            <a:avLst/>
          </a:prstGeom>
          <a:noFill/>
        </p:spPr>
        <p:txBody>
          <a:bodyPr wrap="square" lIns="0" tIns="0" rIns="0" bIns="0" rtlCol="0" anchor="ctr"/>
          <a:lstStyle/>
          <a:p>
            <a:pPr marL="0" indent="0" algn="ctr">
              <a:buNone/>
            </a:pPr>
            <a:r>
              <a:rPr lang="en-US" sz="1600" b="1" dirty="0">
                <a:solidFill>
                  <a:srgbClr val="F8FAFC"/>
                </a:solidFill>
              </a:rPr>
              <a:t>Metasploitable</a:t>
            </a:r>
            <a:endParaRPr lang="en-US" sz="1600" dirty="0"/>
          </a:p>
        </p:txBody>
      </p:sp>
      <p:sp>
        <p:nvSpPr>
          <p:cNvPr id="25" name="Text 23"/>
          <p:cNvSpPr/>
          <p:nvPr/>
        </p:nvSpPr>
        <p:spPr>
          <a:xfrm>
            <a:off x="4636008" y="3401568"/>
            <a:ext cx="1828800" cy="502920"/>
          </a:xfrm>
          <a:prstGeom prst="rect">
            <a:avLst/>
          </a:prstGeom>
          <a:noFill/>
        </p:spPr>
        <p:txBody>
          <a:bodyPr wrap="square" lIns="0" tIns="0" rIns="0" bIns="0" rtlCol="0" anchor="ctr"/>
          <a:lstStyle/>
          <a:p>
            <a:pPr marL="0" indent="0" algn="ctr">
              <a:buNone/>
            </a:pPr>
            <a:r>
              <a:rPr lang="en-US" sz="1050" dirty="0">
                <a:solidFill>
                  <a:srgbClr val="9FB2C8"/>
                </a:solidFill>
              </a:rPr>
              <a:t>Victim / Target</a:t>
            </a:r>
            <a:endParaRPr lang="en-US" sz="1050" dirty="0"/>
          </a:p>
          <a:p>
            <a:pPr marL="0" indent="0" algn="ctr">
              <a:buNone/>
            </a:pPr>
            <a:r>
              <a:rPr lang="en-US" sz="1050" dirty="0">
                <a:solidFill>
                  <a:srgbClr val="9FB2C8"/>
                </a:solidFill>
              </a:rPr>
              <a:t>Vulnerable services</a:t>
            </a:r>
            <a:endParaRPr lang="en-US" sz="1050" dirty="0"/>
          </a:p>
        </p:txBody>
      </p:sp>
      <p:sp>
        <p:nvSpPr>
          <p:cNvPr id="26" name="Shape 24"/>
          <p:cNvSpPr/>
          <p:nvPr/>
        </p:nvSpPr>
        <p:spPr>
          <a:xfrm>
            <a:off x="8092440" y="2743200"/>
            <a:ext cx="2240280" cy="1463040"/>
          </a:xfrm>
          <a:prstGeom prst="roundRect">
            <a:avLst>
              <a:gd name="adj" fmla="val 10000"/>
            </a:avLst>
          </a:prstGeom>
          <a:solidFill>
            <a:srgbClr val="0D1B2A"/>
          </a:solidFill>
          <a:ln w="16510">
            <a:solidFill>
              <a:srgbClr val="2FF3E0"/>
            </a:solidFill>
            <a:prstDash val="solid"/>
          </a:ln>
          <a:effectLst>
            <a:outerShdw blurRad="50800" dist="12700" dir="2700000" algn="bl" rotWithShape="0">
              <a:srgbClr val="000000">
                <a:alpha val="25000"/>
              </a:srgbClr>
            </a:outerShdw>
          </a:effectLst>
        </p:spPr>
      </p:sp>
      <p:sp>
        <p:nvSpPr>
          <p:cNvPr id="27" name="Text 25"/>
          <p:cNvSpPr/>
          <p:nvPr/>
        </p:nvSpPr>
        <p:spPr>
          <a:xfrm>
            <a:off x="8293608" y="2953512"/>
            <a:ext cx="1828800" cy="256032"/>
          </a:xfrm>
          <a:prstGeom prst="rect">
            <a:avLst/>
          </a:prstGeom>
          <a:noFill/>
        </p:spPr>
        <p:txBody>
          <a:bodyPr wrap="square" lIns="0" tIns="0" rIns="0" bIns="0" rtlCol="0" anchor="ctr"/>
          <a:lstStyle/>
          <a:p>
            <a:pPr marL="0" indent="0" algn="ctr">
              <a:buNone/>
            </a:pPr>
            <a:r>
              <a:rPr lang="en-US" sz="1600" b="1" dirty="0">
                <a:solidFill>
                  <a:srgbClr val="F8FAFC"/>
                </a:solidFill>
              </a:rPr>
              <a:t>Ubuntu</a:t>
            </a:r>
            <a:endParaRPr lang="en-US" sz="1600" dirty="0"/>
          </a:p>
        </p:txBody>
      </p:sp>
      <p:sp>
        <p:nvSpPr>
          <p:cNvPr id="28" name="Text 26"/>
          <p:cNvSpPr/>
          <p:nvPr/>
        </p:nvSpPr>
        <p:spPr>
          <a:xfrm>
            <a:off x="8293608" y="3401568"/>
            <a:ext cx="1828800" cy="502920"/>
          </a:xfrm>
          <a:prstGeom prst="rect">
            <a:avLst/>
          </a:prstGeom>
          <a:noFill/>
        </p:spPr>
        <p:txBody>
          <a:bodyPr wrap="square" lIns="0" tIns="0" rIns="0" bIns="0" rtlCol="0" anchor="ctr"/>
          <a:lstStyle/>
          <a:p>
            <a:pPr marL="0" indent="0" algn="ctr">
              <a:buNone/>
            </a:pPr>
            <a:r>
              <a:rPr lang="en-US" sz="1050" dirty="0">
                <a:solidFill>
                  <a:srgbClr val="9FB2C8"/>
                </a:solidFill>
              </a:rPr>
              <a:t>NIDS Sensor</a:t>
            </a:r>
            <a:endParaRPr lang="en-US" sz="1050" dirty="0"/>
          </a:p>
          <a:p>
            <a:pPr marL="0" indent="0" algn="ctr">
              <a:buNone/>
            </a:pPr>
            <a:r>
              <a:rPr lang="en-US" sz="1050" dirty="0">
                <a:solidFill>
                  <a:srgbClr val="9FB2C8"/>
                </a:solidFill>
              </a:rPr>
              <a:t>Wireshark + Suricata</a:t>
            </a:r>
            <a:endParaRPr lang="en-US" sz="1050" dirty="0"/>
          </a:p>
        </p:txBody>
      </p:sp>
      <p:sp>
        <p:nvSpPr>
          <p:cNvPr id="29" name="Shape 27"/>
          <p:cNvSpPr/>
          <p:nvPr/>
        </p:nvSpPr>
        <p:spPr>
          <a:xfrm>
            <a:off x="822960" y="4892040"/>
            <a:ext cx="10561320" cy="777240"/>
          </a:xfrm>
          <a:prstGeom prst="roundRect">
            <a:avLst>
              <a:gd name="adj" fmla="val 14118"/>
            </a:avLst>
          </a:prstGeom>
          <a:solidFill>
            <a:srgbClr val="0D1B2A">
              <a:alpha val="96000"/>
            </a:srgbClr>
          </a:solidFill>
          <a:ln w="12700">
            <a:solidFill>
              <a:srgbClr val="233548">
                <a:alpha val="95000"/>
              </a:srgbClr>
            </a:solidFill>
            <a:prstDash val="solid"/>
          </a:ln>
          <a:effectLst>
            <a:outerShdw blurRad="38100" dist="12700" dir="2700000" algn="bl" rotWithShape="0">
              <a:srgbClr val="000000">
                <a:alpha val="22000"/>
              </a:srgbClr>
            </a:outerShdw>
          </a:effectLst>
        </p:spPr>
      </p:sp>
      <p:sp>
        <p:nvSpPr>
          <p:cNvPr id="30" name="Shape 28"/>
          <p:cNvSpPr/>
          <p:nvPr/>
        </p:nvSpPr>
        <p:spPr>
          <a:xfrm>
            <a:off x="822960" y="4892040"/>
            <a:ext cx="73152" cy="777240"/>
          </a:xfrm>
          <a:prstGeom prst="rect">
            <a:avLst/>
          </a:prstGeom>
          <a:solidFill>
            <a:srgbClr val="4DFF8F"/>
          </a:solidFill>
          <a:ln w="12700">
            <a:solidFill>
              <a:srgbClr val="4DFF8F"/>
            </a:solidFill>
            <a:prstDash val="solid"/>
          </a:ln>
        </p:spPr>
      </p:sp>
      <p:sp>
        <p:nvSpPr>
          <p:cNvPr id="31" name="Text 29"/>
          <p:cNvSpPr/>
          <p:nvPr/>
        </p:nvSpPr>
        <p:spPr>
          <a:xfrm>
            <a:off x="1051560" y="5056632"/>
            <a:ext cx="10213848" cy="228600"/>
          </a:xfrm>
          <a:prstGeom prst="rect">
            <a:avLst/>
          </a:prstGeom>
          <a:noFill/>
        </p:spPr>
        <p:txBody>
          <a:bodyPr wrap="square" lIns="0" tIns="0" rIns="0" bIns="0" rtlCol="0" anchor="ctr"/>
          <a:lstStyle/>
          <a:p>
            <a:pPr marL="0" indent="0">
              <a:buNone/>
            </a:pPr>
            <a:r>
              <a:rPr lang="en-US" sz="1200" b="1" dirty="0">
                <a:solidFill>
                  <a:srgbClr val="4DFF8F"/>
                </a:solidFill>
                <a:latin typeface="Aptos Display" pitchFamily="34" charset="0"/>
                <a:ea typeface="Aptos Display" pitchFamily="34" charset="-122"/>
                <a:cs typeface="Aptos Display" pitchFamily="34" charset="-120"/>
              </a:rPr>
              <a:t>Monitoring Path</a:t>
            </a:r>
            <a:endParaRPr lang="en-US" sz="1200" dirty="0"/>
          </a:p>
        </p:txBody>
      </p:sp>
      <p:sp>
        <p:nvSpPr>
          <p:cNvPr id="32" name="Text 30"/>
          <p:cNvSpPr/>
          <p:nvPr/>
        </p:nvSpPr>
        <p:spPr>
          <a:xfrm>
            <a:off x="1051560" y="5367528"/>
            <a:ext cx="10213848" cy="210312"/>
          </a:xfrm>
          <a:prstGeom prst="rect">
            <a:avLst/>
          </a:prstGeom>
          <a:noFill/>
        </p:spPr>
        <p:txBody>
          <a:bodyPr wrap="square" lIns="254" tIns="254" rIns="254" bIns="254" rtlCol="0" anchor="t">
            <a:normAutofit/>
          </a:bodyPr>
          <a:lstStyle/>
          <a:p>
            <a:pPr marL="0" indent="0">
              <a:buNone/>
            </a:pPr>
            <a:r>
              <a:rPr lang="en-US" sz="1050" dirty="0">
                <a:solidFill>
                  <a:srgbClr val="F8FAFC"/>
                </a:solidFill>
                <a:latin typeface="Aptos" pitchFamily="34" charset="0"/>
                <a:ea typeface="Aptos" pitchFamily="34" charset="-122"/>
                <a:cs typeface="Aptos" pitchFamily="34" charset="-120"/>
              </a:rPr>
              <a:t>The monitoring machine captures traffic flowing through the active interface and analyzes packet behavior for detection evidence.</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50B1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50B12"/>
          </a:solidFill>
          <a:ln w="12700">
            <a:solidFill>
              <a:srgbClr val="050B12"/>
            </a:solidFill>
            <a:prstDash val="solid"/>
          </a:ln>
        </p:spPr>
      </p:sp>
      <p:sp>
        <p:nvSpPr>
          <p:cNvPr id="3" name="Shape 1"/>
          <p:cNvSpPr/>
          <p:nvPr/>
        </p:nvSpPr>
        <p:spPr>
          <a:xfrm>
            <a:off x="0" y="0"/>
            <a:ext cx="12191695" cy="475488"/>
          </a:xfrm>
          <a:prstGeom prst="rect">
            <a:avLst/>
          </a:prstGeom>
          <a:solidFill>
            <a:srgbClr val="091523"/>
          </a:solidFill>
          <a:ln w="12700">
            <a:solidFill>
              <a:srgbClr val="091523"/>
            </a:solidFill>
            <a:prstDash val="solid"/>
          </a:ln>
        </p:spPr>
      </p:sp>
      <p:sp>
        <p:nvSpPr>
          <p:cNvPr id="4" name="Shape 2"/>
          <p:cNvSpPr/>
          <p:nvPr/>
        </p:nvSpPr>
        <p:spPr>
          <a:xfrm>
            <a:off x="0" y="475488"/>
            <a:ext cx="12191695" cy="22860"/>
          </a:xfrm>
          <a:prstGeom prst="rect">
            <a:avLst/>
          </a:prstGeom>
          <a:solidFill>
            <a:srgbClr val="2FF3E0">
              <a:alpha val="90000"/>
            </a:srgbClr>
          </a:solidFill>
          <a:ln w="12700">
            <a:solidFill>
              <a:srgbClr val="2FF3E0"/>
            </a:solidFill>
            <a:prstDash val="solid"/>
          </a:ln>
        </p:spPr>
      </p:sp>
      <p:sp>
        <p:nvSpPr>
          <p:cNvPr id="6" name="Text 4"/>
          <p:cNvSpPr/>
          <p:nvPr/>
        </p:nvSpPr>
        <p:spPr>
          <a:xfrm>
            <a:off x="11384280" y="100584"/>
            <a:ext cx="347472" cy="256032"/>
          </a:xfrm>
          <a:prstGeom prst="rect">
            <a:avLst/>
          </a:prstGeom>
          <a:noFill/>
        </p:spPr>
        <p:txBody>
          <a:bodyPr wrap="square" lIns="0" tIns="0" rIns="0" bIns="0" rtlCol="0" anchor="ctr"/>
          <a:lstStyle/>
          <a:p>
            <a:pPr marL="0" indent="0" algn="r">
              <a:buNone/>
            </a:pPr>
            <a:r>
              <a:rPr lang="en-US" sz="1000" b="1" dirty="0">
                <a:solidFill>
                  <a:srgbClr val="9FB2C8"/>
                </a:solidFill>
                <a:latin typeface="Aptos Display" pitchFamily="34" charset="0"/>
                <a:ea typeface="Aptos Display" pitchFamily="34" charset="-122"/>
                <a:cs typeface="Aptos Display" pitchFamily="34" charset="-120"/>
              </a:rPr>
              <a:t>06</a:t>
            </a:r>
            <a:endParaRPr lang="en-US" sz="1000" dirty="0"/>
          </a:p>
        </p:txBody>
      </p:sp>
      <p:sp>
        <p:nvSpPr>
          <p:cNvPr id="7" name="Text 5"/>
          <p:cNvSpPr/>
          <p:nvPr/>
        </p:nvSpPr>
        <p:spPr>
          <a:xfrm>
            <a:off x="502920" y="713232"/>
            <a:ext cx="10607040" cy="329184"/>
          </a:xfrm>
          <a:prstGeom prst="rect">
            <a:avLst/>
          </a:prstGeom>
          <a:noFill/>
        </p:spPr>
        <p:txBody>
          <a:bodyPr wrap="square" lIns="0" tIns="0" rIns="0" bIns="0" rtlCol="0" anchor="ctr"/>
          <a:lstStyle/>
          <a:p>
            <a:pPr marL="0" indent="0">
              <a:buNone/>
            </a:pPr>
            <a:r>
              <a:rPr lang="en-US" sz="2200" b="1" dirty="0">
                <a:solidFill>
                  <a:srgbClr val="F8FAFC"/>
                </a:solidFill>
                <a:latin typeface="Aptos Display" pitchFamily="34" charset="0"/>
                <a:ea typeface="Aptos Display" pitchFamily="34" charset="-122"/>
                <a:cs typeface="Aptos Display" pitchFamily="34" charset="-120"/>
              </a:rPr>
              <a:t>Tools Used and Their Roles</a:t>
            </a:r>
            <a:endParaRPr lang="en-US" sz="2200" dirty="0"/>
          </a:p>
        </p:txBody>
      </p:sp>
      <p:sp>
        <p:nvSpPr>
          <p:cNvPr id="8" name="Shape 6"/>
          <p:cNvSpPr/>
          <p:nvPr/>
        </p:nvSpPr>
        <p:spPr>
          <a:xfrm>
            <a:off x="274320" y="1965960"/>
            <a:ext cx="11658600" cy="0"/>
          </a:xfrm>
          <a:prstGeom prst="line">
            <a:avLst/>
          </a:prstGeom>
          <a:noFill/>
          <a:ln w="6350">
            <a:solidFill>
              <a:srgbClr val="233548">
                <a:alpha val="22000"/>
              </a:srgbClr>
            </a:solidFill>
            <a:prstDash val="solid"/>
          </a:ln>
        </p:spPr>
      </p:sp>
      <p:sp>
        <p:nvSpPr>
          <p:cNvPr id="9" name="Shape 7"/>
          <p:cNvSpPr/>
          <p:nvPr/>
        </p:nvSpPr>
        <p:spPr>
          <a:xfrm>
            <a:off x="274320" y="2697480"/>
            <a:ext cx="11658600" cy="0"/>
          </a:xfrm>
          <a:prstGeom prst="line">
            <a:avLst/>
          </a:prstGeom>
          <a:noFill/>
          <a:ln w="6350">
            <a:solidFill>
              <a:srgbClr val="233548">
                <a:alpha val="22000"/>
              </a:srgbClr>
            </a:solidFill>
            <a:prstDash val="solid"/>
          </a:ln>
        </p:spPr>
      </p:sp>
      <p:sp>
        <p:nvSpPr>
          <p:cNvPr id="10" name="Shape 8"/>
          <p:cNvSpPr/>
          <p:nvPr/>
        </p:nvSpPr>
        <p:spPr>
          <a:xfrm>
            <a:off x="274320" y="3429000"/>
            <a:ext cx="11658600" cy="0"/>
          </a:xfrm>
          <a:prstGeom prst="line">
            <a:avLst/>
          </a:prstGeom>
          <a:noFill/>
          <a:ln w="6350">
            <a:solidFill>
              <a:srgbClr val="233548">
                <a:alpha val="22000"/>
              </a:srgbClr>
            </a:solidFill>
            <a:prstDash val="solid"/>
          </a:ln>
        </p:spPr>
      </p:sp>
      <p:sp>
        <p:nvSpPr>
          <p:cNvPr id="11" name="Shape 9"/>
          <p:cNvSpPr/>
          <p:nvPr/>
        </p:nvSpPr>
        <p:spPr>
          <a:xfrm>
            <a:off x="274320" y="4160520"/>
            <a:ext cx="11658600" cy="0"/>
          </a:xfrm>
          <a:prstGeom prst="line">
            <a:avLst/>
          </a:prstGeom>
          <a:noFill/>
          <a:ln w="6350">
            <a:solidFill>
              <a:srgbClr val="233548">
                <a:alpha val="22000"/>
              </a:srgbClr>
            </a:solidFill>
            <a:prstDash val="solid"/>
          </a:ln>
        </p:spPr>
      </p:sp>
      <p:sp>
        <p:nvSpPr>
          <p:cNvPr id="12" name="Shape 10"/>
          <p:cNvSpPr/>
          <p:nvPr/>
        </p:nvSpPr>
        <p:spPr>
          <a:xfrm>
            <a:off x="274320" y="4892040"/>
            <a:ext cx="11658600" cy="0"/>
          </a:xfrm>
          <a:prstGeom prst="line">
            <a:avLst/>
          </a:prstGeom>
          <a:noFill/>
          <a:ln w="6350">
            <a:solidFill>
              <a:srgbClr val="233548">
                <a:alpha val="22000"/>
              </a:srgbClr>
            </a:solidFill>
            <a:prstDash val="solid"/>
          </a:ln>
        </p:spPr>
      </p:sp>
      <p:sp>
        <p:nvSpPr>
          <p:cNvPr id="13" name="Shape 11"/>
          <p:cNvSpPr/>
          <p:nvPr/>
        </p:nvSpPr>
        <p:spPr>
          <a:xfrm>
            <a:off x="274320" y="5623560"/>
            <a:ext cx="11658600" cy="0"/>
          </a:xfrm>
          <a:prstGeom prst="line">
            <a:avLst/>
          </a:prstGeom>
          <a:noFill/>
          <a:ln w="6350">
            <a:solidFill>
              <a:srgbClr val="233548">
                <a:alpha val="22000"/>
              </a:srgbClr>
            </a:solidFill>
            <a:prstDash val="solid"/>
          </a:ln>
        </p:spPr>
      </p:sp>
      <p:sp>
        <p:nvSpPr>
          <p:cNvPr id="14" name="Shape 12"/>
          <p:cNvSpPr/>
          <p:nvPr/>
        </p:nvSpPr>
        <p:spPr>
          <a:xfrm>
            <a:off x="0" y="6611112"/>
            <a:ext cx="12191695" cy="246888"/>
          </a:xfrm>
          <a:prstGeom prst="rect">
            <a:avLst/>
          </a:prstGeom>
          <a:solidFill>
            <a:srgbClr val="03070C"/>
          </a:solidFill>
          <a:ln w="12700">
            <a:solidFill>
              <a:srgbClr val="03070C"/>
            </a:solidFill>
            <a:prstDash val="solid"/>
          </a:ln>
        </p:spPr>
      </p:sp>
      <p:sp>
        <p:nvSpPr>
          <p:cNvPr id="17" name="Shape 15"/>
          <p:cNvSpPr/>
          <p:nvPr/>
        </p:nvSpPr>
        <p:spPr>
          <a:xfrm>
            <a:off x="713232" y="1298448"/>
            <a:ext cx="2240280" cy="384048"/>
          </a:xfrm>
          <a:prstGeom prst="roundRect">
            <a:avLst>
              <a:gd name="adj" fmla="val 19048"/>
            </a:avLst>
          </a:prstGeom>
          <a:solidFill>
            <a:srgbClr val="10263A"/>
          </a:solidFill>
          <a:ln w="12700">
            <a:solidFill>
              <a:srgbClr val="233548">
                <a:alpha val="75000"/>
              </a:srgbClr>
            </a:solidFill>
            <a:prstDash val="solid"/>
          </a:ln>
        </p:spPr>
      </p:sp>
      <p:sp>
        <p:nvSpPr>
          <p:cNvPr id="18" name="Text 16"/>
          <p:cNvSpPr/>
          <p:nvPr/>
        </p:nvSpPr>
        <p:spPr>
          <a:xfrm>
            <a:off x="877824" y="1389888"/>
            <a:ext cx="1920240" cy="146304"/>
          </a:xfrm>
          <a:prstGeom prst="rect">
            <a:avLst/>
          </a:prstGeom>
          <a:noFill/>
        </p:spPr>
        <p:txBody>
          <a:bodyPr wrap="square" lIns="0" tIns="0" rIns="0" bIns="0" rtlCol="0" anchor="ctr"/>
          <a:lstStyle/>
          <a:p>
            <a:pPr marL="0" indent="0">
              <a:buNone/>
            </a:pPr>
            <a:r>
              <a:rPr lang="en-US" sz="1050" b="1" dirty="0">
                <a:solidFill>
                  <a:srgbClr val="2FF3E0"/>
                </a:solidFill>
              </a:rPr>
              <a:t>VirtualBox</a:t>
            </a:r>
            <a:endParaRPr lang="en-US" sz="1050" dirty="0"/>
          </a:p>
        </p:txBody>
      </p:sp>
      <p:sp>
        <p:nvSpPr>
          <p:cNvPr id="19" name="Text 17"/>
          <p:cNvSpPr/>
          <p:nvPr/>
        </p:nvSpPr>
        <p:spPr>
          <a:xfrm>
            <a:off x="3246120" y="1371600"/>
            <a:ext cx="8001000" cy="164592"/>
          </a:xfrm>
          <a:prstGeom prst="rect">
            <a:avLst/>
          </a:prstGeom>
          <a:noFill/>
        </p:spPr>
        <p:txBody>
          <a:bodyPr wrap="square" lIns="0" tIns="0" rIns="0" bIns="0" rtlCol="0" anchor="ctr"/>
          <a:lstStyle/>
          <a:p>
            <a:pPr marL="0" indent="0">
              <a:buNone/>
            </a:pPr>
            <a:r>
              <a:rPr lang="en-US" sz="1100" dirty="0">
                <a:solidFill>
                  <a:srgbClr val="F8FAFC"/>
                </a:solidFill>
              </a:rPr>
              <a:t>Virtual lab platform for isolating the project environment</a:t>
            </a:r>
            <a:endParaRPr lang="en-US" sz="1100" dirty="0"/>
          </a:p>
        </p:txBody>
      </p:sp>
      <p:sp>
        <p:nvSpPr>
          <p:cNvPr id="20" name="Shape 18"/>
          <p:cNvSpPr/>
          <p:nvPr/>
        </p:nvSpPr>
        <p:spPr>
          <a:xfrm>
            <a:off x="713232" y="1920240"/>
            <a:ext cx="2240280" cy="384048"/>
          </a:xfrm>
          <a:prstGeom prst="roundRect">
            <a:avLst>
              <a:gd name="adj" fmla="val 19048"/>
            </a:avLst>
          </a:prstGeom>
          <a:solidFill>
            <a:srgbClr val="0D1B2A"/>
          </a:solidFill>
          <a:ln w="12700">
            <a:solidFill>
              <a:srgbClr val="233548">
                <a:alpha val="75000"/>
              </a:srgbClr>
            </a:solidFill>
            <a:prstDash val="solid"/>
          </a:ln>
        </p:spPr>
      </p:sp>
      <p:sp>
        <p:nvSpPr>
          <p:cNvPr id="21" name="Text 19"/>
          <p:cNvSpPr/>
          <p:nvPr/>
        </p:nvSpPr>
        <p:spPr>
          <a:xfrm>
            <a:off x="877824" y="2011680"/>
            <a:ext cx="1920240" cy="146304"/>
          </a:xfrm>
          <a:prstGeom prst="rect">
            <a:avLst/>
          </a:prstGeom>
          <a:noFill/>
        </p:spPr>
        <p:txBody>
          <a:bodyPr wrap="square" lIns="0" tIns="0" rIns="0" bIns="0" rtlCol="0" anchor="ctr"/>
          <a:lstStyle/>
          <a:p>
            <a:pPr marL="0" indent="0">
              <a:buNone/>
            </a:pPr>
            <a:r>
              <a:rPr lang="en-US" sz="1050" b="1" dirty="0">
                <a:solidFill>
                  <a:srgbClr val="2FF3E0"/>
                </a:solidFill>
              </a:rPr>
              <a:t>Kali Linux</a:t>
            </a:r>
            <a:endParaRPr lang="en-US" sz="1050" dirty="0"/>
          </a:p>
        </p:txBody>
      </p:sp>
      <p:sp>
        <p:nvSpPr>
          <p:cNvPr id="22" name="Text 20"/>
          <p:cNvSpPr/>
          <p:nvPr/>
        </p:nvSpPr>
        <p:spPr>
          <a:xfrm>
            <a:off x="3246120" y="1993392"/>
            <a:ext cx="8001000" cy="164592"/>
          </a:xfrm>
          <a:prstGeom prst="rect">
            <a:avLst/>
          </a:prstGeom>
          <a:noFill/>
        </p:spPr>
        <p:txBody>
          <a:bodyPr wrap="square" lIns="0" tIns="0" rIns="0" bIns="0" rtlCol="0" anchor="ctr"/>
          <a:lstStyle/>
          <a:p>
            <a:pPr marL="0" indent="0">
              <a:buNone/>
            </a:pPr>
            <a:r>
              <a:rPr lang="en-US" sz="1100" dirty="0">
                <a:solidFill>
                  <a:srgbClr val="F8FAFC"/>
                </a:solidFill>
              </a:rPr>
              <a:t>Attacker machine used for Nmap scanning and traffic generation</a:t>
            </a:r>
            <a:endParaRPr lang="en-US" sz="1100" dirty="0"/>
          </a:p>
        </p:txBody>
      </p:sp>
      <p:sp>
        <p:nvSpPr>
          <p:cNvPr id="23" name="Shape 21"/>
          <p:cNvSpPr/>
          <p:nvPr/>
        </p:nvSpPr>
        <p:spPr>
          <a:xfrm>
            <a:off x="713232" y="2542032"/>
            <a:ext cx="2240280" cy="384048"/>
          </a:xfrm>
          <a:prstGeom prst="roundRect">
            <a:avLst>
              <a:gd name="adj" fmla="val 19048"/>
            </a:avLst>
          </a:prstGeom>
          <a:solidFill>
            <a:srgbClr val="10263A"/>
          </a:solidFill>
          <a:ln w="12700">
            <a:solidFill>
              <a:srgbClr val="233548">
                <a:alpha val="75000"/>
              </a:srgbClr>
            </a:solidFill>
            <a:prstDash val="solid"/>
          </a:ln>
        </p:spPr>
      </p:sp>
      <p:sp>
        <p:nvSpPr>
          <p:cNvPr id="24" name="Text 22"/>
          <p:cNvSpPr/>
          <p:nvPr/>
        </p:nvSpPr>
        <p:spPr>
          <a:xfrm>
            <a:off x="877824" y="2633472"/>
            <a:ext cx="1920240" cy="146304"/>
          </a:xfrm>
          <a:prstGeom prst="rect">
            <a:avLst/>
          </a:prstGeom>
          <a:noFill/>
        </p:spPr>
        <p:txBody>
          <a:bodyPr wrap="square" lIns="0" tIns="0" rIns="0" bIns="0" rtlCol="0" anchor="ctr"/>
          <a:lstStyle/>
          <a:p>
            <a:pPr marL="0" indent="0">
              <a:buNone/>
            </a:pPr>
            <a:r>
              <a:rPr lang="en-US" sz="1050" b="1" dirty="0">
                <a:solidFill>
                  <a:srgbClr val="2FF3E0"/>
                </a:solidFill>
              </a:rPr>
              <a:t>Metasploitable</a:t>
            </a:r>
            <a:endParaRPr lang="en-US" sz="1050" dirty="0"/>
          </a:p>
        </p:txBody>
      </p:sp>
      <p:sp>
        <p:nvSpPr>
          <p:cNvPr id="25" name="Text 23"/>
          <p:cNvSpPr/>
          <p:nvPr/>
        </p:nvSpPr>
        <p:spPr>
          <a:xfrm>
            <a:off x="3246120" y="2615184"/>
            <a:ext cx="8001000" cy="164592"/>
          </a:xfrm>
          <a:prstGeom prst="rect">
            <a:avLst/>
          </a:prstGeom>
          <a:noFill/>
        </p:spPr>
        <p:txBody>
          <a:bodyPr wrap="square" lIns="0" tIns="0" rIns="0" bIns="0" rtlCol="0" anchor="ctr"/>
          <a:lstStyle/>
          <a:p>
            <a:pPr marL="0" indent="0">
              <a:buNone/>
            </a:pPr>
            <a:r>
              <a:rPr lang="en-US" sz="1100" dirty="0">
                <a:solidFill>
                  <a:srgbClr val="F8FAFC"/>
                </a:solidFill>
              </a:rPr>
              <a:t>Intentionally vulnerable target machine</a:t>
            </a:r>
            <a:endParaRPr lang="en-US" sz="1100" dirty="0"/>
          </a:p>
        </p:txBody>
      </p:sp>
      <p:sp>
        <p:nvSpPr>
          <p:cNvPr id="26" name="Shape 24"/>
          <p:cNvSpPr/>
          <p:nvPr/>
        </p:nvSpPr>
        <p:spPr>
          <a:xfrm>
            <a:off x="713232" y="3163824"/>
            <a:ext cx="2240280" cy="384048"/>
          </a:xfrm>
          <a:prstGeom prst="roundRect">
            <a:avLst>
              <a:gd name="adj" fmla="val 19048"/>
            </a:avLst>
          </a:prstGeom>
          <a:solidFill>
            <a:srgbClr val="0D1B2A"/>
          </a:solidFill>
          <a:ln w="12700">
            <a:solidFill>
              <a:srgbClr val="233548">
                <a:alpha val="75000"/>
              </a:srgbClr>
            </a:solidFill>
            <a:prstDash val="solid"/>
          </a:ln>
        </p:spPr>
      </p:sp>
      <p:sp>
        <p:nvSpPr>
          <p:cNvPr id="27" name="Text 25"/>
          <p:cNvSpPr/>
          <p:nvPr/>
        </p:nvSpPr>
        <p:spPr>
          <a:xfrm>
            <a:off x="877824" y="3255264"/>
            <a:ext cx="1920240" cy="146304"/>
          </a:xfrm>
          <a:prstGeom prst="rect">
            <a:avLst/>
          </a:prstGeom>
          <a:noFill/>
        </p:spPr>
        <p:txBody>
          <a:bodyPr wrap="square" lIns="0" tIns="0" rIns="0" bIns="0" rtlCol="0" anchor="ctr"/>
          <a:lstStyle/>
          <a:p>
            <a:pPr marL="0" indent="0">
              <a:buNone/>
            </a:pPr>
            <a:r>
              <a:rPr lang="en-US" sz="1050" b="1" dirty="0">
                <a:solidFill>
                  <a:srgbClr val="2FF3E0"/>
                </a:solidFill>
              </a:rPr>
              <a:t>Ubuntu</a:t>
            </a:r>
            <a:endParaRPr lang="en-US" sz="1050" dirty="0"/>
          </a:p>
        </p:txBody>
      </p:sp>
      <p:sp>
        <p:nvSpPr>
          <p:cNvPr id="28" name="Text 26"/>
          <p:cNvSpPr/>
          <p:nvPr/>
        </p:nvSpPr>
        <p:spPr>
          <a:xfrm>
            <a:off x="3246120" y="3236976"/>
            <a:ext cx="8001000" cy="164592"/>
          </a:xfrm>
          <a:prstGeom prst="rect">
            <a:avLst/>
          </a:prstGeom>
          <a:noFill/>
        </p:spPr>
        <p:txBody>
          <a:bodyPr wrap="square" lIns="0" tIns="0" rIns="0" bIns="0" rtlCol="0" anchor="ctr"/>
          <a:lstStyle/>
          <a:p>
            <a:pPr marL="0" indent="0">
              <a:buNone/>
            </a:pPr>
            <a:r>
              <a:rPr lang="en-US" sz="1100" dirty="0">
                <a:solidFill>
                  <a:srgbClr val="F8FAFC"/>
                </a:solidFill>
              </a:rPr>
              <a:t>Monitoring workstation used for Wireshark and Suricata testing</a:t>
            </a:r>
            <a:endParaRPr lang="en-US" sz="1100" dirty="0"/>
          </a:p>
        </p:txBody>
      </p:sp>
      <p:sp>
        <p:nvSpPr>
          <p:cNvPr id="29" name="Shape 27"/>
          <p:cNvSpPr/>
          <p:nvPr/>
        </p:nvSpPr>
        <p:spPr>
          <a:xfrm>
            <a:off x="713232" y="3785616"/>
            <a:ext cx="2240280" cy="384048"/>
          </a:xfrm>
          <a:prstGeom prst="roundRect">
            <a:avLst>
              <a:gd name="adj" fmla="val 19048"/>
            </a:avLst>
          </a:prstGeom>
          <a:solidFill>
            <a:srgbClr val="10263A"/>
          </a:solidFill>
          <a:ln w="12700">
            <a:solidFill>
              <a:srgbClr val="233548">
                <a:alpha val="75000"/>
              </a:srgbClr>
            </a:solidFill>
            <a:prstDash val="solid"/>
          </a:ln>
        </p:spPr>
      </p:sp>
      <p:sp>
        <p:nvSpPr>
          <p:cNvPr id="30" name="Text 28"/>
          <p:cNvSpPr/>
          <p:nvPr/>
        </p:nvSpPr>
        <p:spPr>
          <a:xfrm>
            <a:off x="877824" y="3877056"/>
            <a:ext cx="1920240" cy="146304"/>
          </a:xfrm>
          <a:prstGeom prst="rect">
            <a:avLst/>
          </a:prstGeom>
          <a:noFill/>
        </p:spPr>
        <p:txBody>
          <a:bodyPr wrap="square" lIns="0" tIns="0" rIns="0" bIns="0" rtlCol="0" anchor="ctr"/>
          <a:lstStyle/>
          <a:p>
            <a:pPr marL="0" indent="0">
              <a:buNone/>
            </a:pPr>
            <a:r>
              <a:rPr lang="en-US" sz="1050" b="1" dirty="0">
                <a:solidFill>
                  <a:srgbClr val="2FF3E0"/>
                </a:solidFill>
              </a:rPr>
              <a:t>Wireshark</a:t>
            </a:r>
            <a:endParaRPr lang="en-US" sz="1050" dirty="0"/>
          </a:p>
        </p:txBody>
      </p:sp>
      <p:sp>
        <p:nvSpPr>
          <p:cNvPr id="31" name="Text 29"/>
          <p:cNvSpPr/>
          <p:nvPr/>
        </p:nvSpPr>
        <p:spPr>
          <a:xfrm>
            <a:off x="3246120" y="3858768"/>
            <a:ext cx="8001000" cy="164592"/>
          </a:xfrm>
          <a:prstGeom prst="rect">
            <a:avLst/>
          </a:prstGeom>
          <a:noFill/>
        </p:spPr>
        <p:txBody>
          <a:bodyPr wrap="square" lIns="0" tIns="0" rIns="0" bIns="0" rtlCol="0" anchor="ctr"/>
          <a:lstStyle/>
          <a:p>
            <a:pPr marL="0" indent="0">
              <a:buNone/>
            </a:pPr>
            <a:r>
              <a:rPr lang="en-US" sz="1100" dirty="0">
                <a:solidFill>
                  <a:srgbClr val="F8FAFC"/>
                </a:solidFill>
              </a:rPr>
              <a:t>Packet capture and protocol analysis</a:t>
            </a:r>
            <a:endParaRPr lang="en-US" sz="1100" dirty="0"/>
          </a:p>
        </p:txBody>
      </p:sp>
      <p:sp>
        <p:nvSpPr>
          <p:cNvPr id="32" name="Shape 30"/>
          <p:cNvSpPr/>
          <p:nvPr/>
        </p:nvSpPr>
        <p:spPr>
          <a:xfrm>
            <a:off x="713232" y="4407408"/>
            <a:ext cx="2240280" cy="384048"/>
          </a:xfrm>
          <a:prstGeom prst="roundRect">
            <a:avLst>
              <a:gd name="adj" fmla="val 19048"/>
            </a:avLst>
          </a:prstGeom>
          <a:solidFill>
            <a:srgbClr val="0D1B2A"/>
          </a:solidFill>
          <a:ln w="12700">
            <a:solidFill>
              <a:srgbClr val="233548">
                <a:alpha val="75000"/>
              </a:srgbClr>
            </a:solidFill>
            <a:prstDash val="solid"/>
          </a:ln>
        </p:spPr>
      </p:sp>
      <p:sp>
        <p:nvSpPr>
          <p:cNvPr id="33" name="Text 31"/>
          <p:cNvSpPr/>
          <p:nvPr/>
        </p:nvSpPr>
        <p:spPr>
          <a:xfrm>
            <a:off x="877824" y="4498848"/>
            <a:ext cx="1920240" cy="146304"/>
          </a:xfrm>
          <a:prstGeom prst="rect">
            <a:avLst/>
          </a:prstGeom>
          <a:noFill/>
        </p:spPr>
        <p:txBody>
          <a:bodyPr wrap="square" lIns="0" tIns="0" rIns="0" bIns="0" rtlCol="0" anchor="ctr"/>
          <a:lstStyle/>
          <a:p>
            <a:pPr marL="0" indent="0">
              <a:buNone/>
            </a:pPr>
            <a:r>
              <a:rPr lang="en-US" sz="1050" b="1" dirty="0">
                <a:solidFill>
                  <a:srgbClr val="2FF3E0"/>
                </a:solidFill>
              </a:rPr>
              <a:t>Nmap</a:t>
            </a:r>
            <a:endParaRPr lang="en-US" sz="1050" dirty="0"/>
          </a:p>
        </p:txBody>
      </p:sp>
      <p:sp>
        <p:nvSpPr>
          <p:cNvPr id="34" name="Text 32"/>
          <p:cNvSpPr/>
          <p:nvPr/>
        </p:nvSpPr>
        <p:spPr>
          <a:xfrm>
            <a:off x="3246120" y="4480560"/>
            <a:ext cx="8001000" cy="164592"/>
          </a:xfrm>
          <a:prstGeom prst="rect">
            <a:avLst/>
          </a:prstGeom>
          <a:noFill/>
        </p:spPr>
        <p:txBody>
          <a:bodyPr wrap="square" lIns="0" tIns="0" rIns="0" bIns="0" rtlCol="0" anchor="ctr"/>
          <a:lstStyle/>
          <a:p>
            <a:pPr marL="0" indent="0">
              <a:buNone/>
            </a:pPr>
            <a:r>
              <a:rPr lang="en-US" sz="1100" dirty="0">
                <a:solidFill>
                  <a:srgbClr val="F8FAFC"/>
                </a:solidFill>
              </a:rPr>
              <a:t>Reconnaissance and port scanning simulation</a:t>
            </a:r>
            <a:endParaRPr lang="en-US" sz="1100" dirty="0"/>
          </a:p>
        </p:txBody>
      </p:sp>
      <p:sp>
        <p:nvSpPr>
          <p:cNvPr id="35" name="Shape 33"/>
          <p:cNvSpPr/>
          <p:nvPr/>
        </p:nvSpPr>
        <p:spPr>
          <a:xfrm>
            <a:off x="713232" y="5029200"/>
            <a:ext cx="2240280" cy="384048"/>
          </a:xfrm>
          <a:prstGeom prst="roundRect">
            <a:avLst>
              <a:gd name="adj" fmla="val 19048"/>
            </a:avLst>
          </a:prstGeom>
          <a:solidFill>
            <a:srgbClr val="10263A"/>
          </a:solidFill>
          <a:ln w="12700">
            <a:solidFill>
              <a:srgbClr val="233548">
                <a:alpha val="75000"/>
              </a:srgbClr>
            </a:solidFill>
            <a:prstDash val="solid"/>
          </a:ln>
        </p:spPr>
      </p:sp>
      <p:sp>
        <p:nvSpPr>
          <p:cNvPr id="36" name="Text 34"/>
          <p:cNvSpPr/>
          <p:nvPr/>
        </p:nvSpPr>
        <p:spPr>
          <a:xfrm>
            <a:off x="877824" y="5120640"/>
            <a:ext cx="1920240" cy="146304"/>
          </a:xfrm>
          <a:prstGeom prst="rect">
            <a:avLst/>
          </a:prstGeom>
          <a:noFill/>
        </p:spPr>
        <p:txBody>
          <a:bodyPr wrap="square" lIns="0" tIns="0" rIns="0" bIns="0" rtlCol="0" anchor="ctr"/>
          <a:lstStyle/>
          <a:p>
            <a:pPr marL="0" indent="0">
              <a:buNone/>
            </a:pPr>
            <a:r>
              <a:rPr lang="en-US" sz="1050" b="1" dirty="0">
                <a:solidFill>
                  <a:srgbClr val="2FF3E0"/>
                </a:solidFill>
              </a:rPr>
              <a:t>Suricata</a:t>
            </a:r>
            <a:endParaRPr lang="en-US" sz="1050" dirty="0"/>
          </a:p>
        </p:txBody>
      </p:sp>
      <p:sp>
        <p:nvSpPr>
          <p:cNvPr id="37" name="Text 35"/>
          <p:cNvSpPr/>
          <p:nvPr/>
        </p:nvSpPr>
        <p:spPr>
          <a:xfrm>
            <a:off x="3246120" y="5102352"/>
            <a:ext cx="8001000" cy="164592"/>
          </a:xfrm>
          <a:prstGeom prst="rect">
            <a:avLst/>
          </a:prstGeom>
          <a:noFill/>
        </p:spPr>
        <p:txBody>
          <a:bodyPr wrap="square" lIns="0" tIns="0" rIns="0" bIns="0" rtlCol="0" anchor="ctr"/>
          <a:lstStyle/>
          <a:p>
            <a:pPr marL="0" indent="0">
              <a:buNone/>
            </a:pPr>
            <a:r>
              <a:rPr lang="en-US" sz="1100" dirty="0">
                <a:solidFill>
                  <a:srgbClr val="F8FAFC"/>
                </a:solidFill>
              </a:rPr>
              <a:t>NIDS engine for traffic inspection and alerting concepts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50B1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50B12"/>
          </a:solidFill>
          <a:ln w="12700">
            <a:solidFill>
              <a:srgbClr val="050B12"/>
            </a:solidFill>
            <a:prstDash val="solid"/>
          </a:ln>
        </p:spPr>
      </p:sp>
      <p:sp>
        <p:nvSpPr>
          <p:cNvPr id="3" name="Shape 1"/>
          <p:cNvSpPr/>
          <p:nvPr/>
        </p:nvSpPr>
        <p:spPr>
          <a:xfrm>
            <a:off x="0" y="0"/>
            <a:ext cx="12191695" cy="475488"/>
          </a:xfrm>
          <a:prstGeom prst="rect">
            <a:avLst/>
          </a:prstGeom>
          <a:solidFill>
            <a:srgbClr val="091523"/>
          </a:solidFill>
          <a:ln w="12700">
            <a:solidFill>
              <a:srgbClr val="091523"/>
            </a:solidFill>
            <a:prstDash val="solid"/>
          </a:ln>
        </p:spPr>
      </p:sp>
      <p:sp>
        <p:nvSpPr>
          <p:cNvPr id="4" name="Shape 2"/>
          <p:cNvSpPr/>
          <p:nvPr/>
        </p:nvSpPr>
        <p:spPr>
          <a:xfrm>
            <a:off x="0" y="475488"/>
            <a:ext cx="12191695" cy="22860"/>
          </a:xfrm>
          <a:prstGeom prst="rect">
            <a:avLst/>
          </a:prstGeom>
          <a:solidFill>
            <a:srgbClr val="2FF3E0">
              <a:alpha val="90000"/>
            </a:srgbClr>
          </a:solidFill>
          <a:ln w="12700">
            <a:solidFill>
              <a:srgbClr val="2FF3E0"/>
            </a:solidFill>
            <a:prstDash val="solid"/>
          </a:ln>
        </p:spPr>
      </p:sp>
      <p:sp>
        <p:nvSpPr>
          <p:cNvPr id="6" name="Text 4"/>
          <p:cNvSpPr/>
          <p:nvPr/>
        </p:nvSpPr>
        <p:spPr>
          <a:xfrm>
            <a:off x="11384280" y="100584"/>
            <a:ext cx="347472" cy="256032"/>
          </a:xfrm>
          <a:prstGeom prst="rect">
            <a:avLst/>
          </a:prstGeom>
          <a:noFill/>
        </p:spPr>
        <p:txBody>
          <a:bodyPr wrap="square" lIns="0" tIns="0" rIns="0" bIns="0" rtlCol="0" anchor="ctr"/>
          <a:lstStyle/>
          <a:p>
            <a:pPr marL="0" indent="0" algn="r">
              <a:buNone/>
            </a:pPr>
            <a:r>
              <a:rPr lang="en-US" sz="1000" b="1" dirty="0">
                <a:solidFill>
                  <a:srgbClr val="9FB2C8"/>
                </a:solidFill>
                <a:latin typeface="Aptos Display" pitchFamily="34" charset="0"/>
                <a:ea typeface="Aptos Display" pitchFamily="34" charset="-122"/>
                <a:cs typeface="Aptos Display" pitchFamily="34" charset="-120"/>
              </a:rPr>
              <a:t>07</a:t>
            </a:r>
            <a:endParaRPr lang="en-US" sz="1000" dirty="0"/>
          </a:p>
        </p:txBody>
      </p:sp>
      <p:sp>
        <p:nvSpPr>
          <p:cNvPr id="7" name="Text 5"/>
          <p:cNvSpPr/>
          <p:nvPr/>
        </p:nvSpPr>
        <p:spPr>
          <a:xfrm>
            <a:off x="502920" y="713232"/>
            <a:ext cx="10607040" cy="329184"/>
          </a:xfrm>
          <a:prstGeom prst="rect">
            <a:avLst/>
          </a:prstGeom>
          <a:noFill/>
        </p:spPr>
        <p:txBody>
          <a:bodyPr wrap="square" lIns="0" tIns="0" rIns="0" bIns="0" rtlCol="0" anchor="ctr"/>
          <a:lstStyle/>
          <a:p>
            <a:pPr marL="0" indent="0">
              <a:buNone/>
            </a:pPr>
            <a:r>
              <a:rPr lang="en-US" sz="2200" b="1" dirty="0">
                <a:solidFill>
                  <a:srgbClr val="F8FAFC"/>
                </a:solidFill>
                <a:latin typeface="Aptos Display" pitchFamily="34" charset="0"/>
                <a:ea typeface="Aptos Display" pitchFamily="34" charset="-122"/>
                <a:cs typeface="Aptos Display" pitchFamily="34" charset="-120"/>
              </a:rPr>
              <a:t>Implementation Workflow</a:t>
            </a:r>
            <a:endParaRPr lang="en-US" sz="2200" dirty="0"/>
          </a:p>
        </p:txBody>
      </p:sp>
      <p:sp>
        <p:nvSpPr>
          <p:cNvPr id="8" name="Shape 6"/>
          <p:cNvSpPr/>
          <p:nvPr/>
        </p:nvSpPr>
        <p:spPr>
          <a:xfrm>
            <a:off x="274320" y="1965960"/>
            <a:ext cx="11658600" cy="0"/>
          </a:xfrm>
          <a:prstGeom prst="line">
            <a:avLst/>
          </a:prstGeom>
          <a:noFill/>
          <a:ln w="6350">
            <a:solidFill>
              <a:srgbClr val="233548">
                <a:alpha val="22000"/>
              </a:srgbClr>
            </a:solidFill>
            <a:prstDash val="solid"/>
          </a:ln>
        </p:spPr>
      </p:sp>
      <p:sp>
        <p:nvSpPr>
          <p:cNvPr id="9" name="Shape 7"/>
          <p:cNvSpPr/>
          <p:nvPr/>
        </p:nvSpPr>
        <p:spPr>
          <a:xfrm>
            <a:off x="274320" y="2697480"/>
            <a:ext cx="11658600" cy="0"/>
          </a:xfrm>
          <a:prstGeom prst="line">
            <a:avLst/>
          </a:prstGeom>
          <a:noFill/>
          <a:ln w="6350">
            <a:solidFill>
              <a:srgbClr val="233548">
                <a:alpha val="22000"/>
              </a:srgbClr>
            </a:solidFill>
            <a:prstDash val="solid"/>
          </a:ln>
        </p:spPr>
      </p:sp>
      <p:sp>
        <p:nvSpPr>
          <p:cNvPr id="10" name="Shape 8"/>
          <p:cNvSpPr/>
          <p:nvPr/>
        </p:nvSpPr>
        <p:spPr>
          <a:xfrm>
            <a:off x="274320" y="3429000"/>
            <a:ext cx="11658600" cy="0"/>
          </a:xfrm>
          <a:prstGeom prst="line">
            <a:avLst/>
          </a:prstGeom>
          <a:noFill/>
          <a:ln w="6350">
            <a:solidFill>
              <a:srgbClr val="233548">
                <a:alpha val="22000"/>
              </a:srgbClr>
            </a:solidFill>
            <a:prstDash val="solid"/>
          </a:ln>
        </p:spPr>
      </p:sp>
      <p:sp>
        <p:nvSpPr>
          <p:cNvPr id="11" name="Shape 9"/>
          <p:cNvSpPr/>
          <p:nvPr/>
        </p:nvSpPr>
        <p:spPr>
          <a:xfrm>
            <a:off x="274320" y="4160520"/>
            <a:ext cx="11658600" cy="0"/>
          </a:xfrm>
          <a:prstGeom prst="line">
            <a:avLst/>
          </a:prstGeom>
          <a:noFill/>
          <a:ln w="6350">
            <a:solidFill>
              <a:srgbClr val="233548">
                <a:alpha val="22000"/>
              </a:srgbClr>
            </a:solidFill>
            <a:prstDash val="solid"/>
          </a:ln>
        </p:spPr>
      </p:sp>
      <p:sp>
        <p:nvSpPr>
          <p:cNvPr id="12" name="Shape 10"/>
          <p:cNvSpPr/>
          <p:nvPr/>
        </p:nvSpPr>
        <p:spPr>
          <a:xfrm>
            <a:off x="274320" y="4892040"/>
            <a:ext cx="11658600" cy="0"/>
          </a:xfrm>
          <a:prstGeom prst="line">
            <a:avLst/>
          </a:prstGeom>
          <a:noFill/>
          <a:ln w="6350">
            <a:solidFill>
              <a:srgbClr val="233548">
                <a:alpha val="22000"/>
              </a:srgbClr>
            </a:solidFill>
            <a:prstDash val="solid"/>
          </a:ln>
        </p:spPr>
      </p:sp>
      <p:sp>
        <p:nvSpPr>
          <p:cNvPr id="13" name="Shape 11"/>
          <p:cNvSpPr/>
          <p:nvPr/>
        </p:nvSpPr>
        <p:spPr>
          <a:xfrm>
            <a:off x="274320" y="5623560"/>
            <a:ext cx="11658600" cy="0"/>
          </a:xfrm>
          <a:prstGeom prst="line">
            <a:avLst/>
          </a:prstGeom>
          <a:noFill/>
          <a:ln w="6350">
            <a:solidFill>
              <a:srgbClr val="233548">
                <a:alpha val="22000"/>
              </a:srgbClr>
            </a:solidFill>
            <a:prstDash val="solid"/>
          </a:ln>
        </p:spPr>
      </p:sp>
      <p:sp>
        <p:nvSpPr>
          <p:cNvPr id="14" name="Shape 12"/>
          <p:cNvSpPr/>
          <p:nvPr/>
        </p:nvSpPr>
        <p:spPr>
          <a:xfrm>
            <a:off x="0" y="6611112"/>
            <a:ext cx="12191695" cy="246888"/>
          </a:xfrm>
          <a:prstGeom prst="rect">
            <a:avLst/>
          </a:prstGeom>
          <a:solidFill>
            <a:srgbClr val="03070C"/>
          </a:solidFill>
          <a:ln w="12700">
            <a:solidFill>
              <a:srgbClr val="03070C"/>
            </a:solidFill>
            <a:prstDash val="solid"/>
          </a:ln>
        </p:spPr>
      </p:sp>
      <p:sp>
        <p:nvSpPr>
          <p:cNvPr id="17" name="Shape 15"/>
          <p:cNvSpPr/>
          <p:nvPr/>
        </p:nvSpPr>
        <p:spPr>
          <a:xfrm>
            <a:off x="685800" y="1508760"/>
            <a:ext cx="3502152" cy="1965960"/>
          </a:xfrm>
          <a:prstGeom prst="roundRect">
            <a:avLst>
              <a:gd name="adj" fmla="val 6047"/>
            </a:avLst>
          </a:prstGeom>
          <a:solidFill>
            <a:srgbClr val="0D1B2A">
              <a:alpha val="97000"/>
            </a:srgbClr>
          </a:solidFill>
          <a:ln w="12700">
            <a:solidFill>
              <a:srgbClr val="233548">
                <a:alpha val="92000"/>
              </a:srgbClr>
            </a:solidFill>
            <a:prstDash val="solid"/>
          </a:ln>
        </p:spPr>
      </p:sp>
      <p:sp>
        <p:nvSpPr>
          <p:cNvPr id="18" name="Text 16"/>
          <p:cNvSpPr/>
          <p:nvPr/>
        </p:nvSpPr>
        <p:spPr>
          <a:xfrm>
            <a:off x="850392" y="1673352"/>
            <a:ext cx="502920" cy="228600"/>
          </a:xfrm>
          <a:prstGeom prst="rect">
            <a:avLst/>
          </a:prstGeom>
          <a:noFill/>
        </p:spPr>
        <p:txBody>
          <a:bodyPr wrap="square" lIns="0" tIns="0" rIns="0" bIns="0" rtlCol="0" anchor="ctr"/>
          <a:lstStyle/>
          <a:p>
            <a:pPr marL="0" indent="0">
              <a:buNone/>
            </a:pPr>
            <a:r>
              <a:rPr lang="en-US" sz="1500" b="1" dirty="0">
                <a:solidFill>
                  <a:srgbClr val="2FF3E0"/>
                </a:solidFill>
              </a:rPr>
              <a:t>01</a:t>
            </a:r>
            <a:endParaRPr lang="en-US" sz="1500" dirty="0"/>
          </a:p>
        </p:txBody>
      </p:sp>
      <p:sp>
        <p:nvSpPr>
          <p:cNvPr id="19" name="Text 17"/>
          <p:cNvSpPr/>
          <p:nvPr/>
        </p:nvSpPr>
        <p:spPr>
          <a:xfrm>
            <a:off x="850392" y="2039112"/>
            <a:ext cx="3172968" cy="320040"/>
          </a:xfrm>
          <a:prstGeom prst="rect">
            <a:avLst/>
          </a:prstGeom>
          <a:noFill/>
        </p:spPr>
        <p:txBody>
          <a:bodyPr wrap="square" lIns="0" tIns="0" rIns="0" bIns="0" rtlCol="0" anchor="ctr"/>
          <a:lstStyle/>
          <a:p>
            <a:pPr marL="0" indent="0">
              <a:buNone/>
            </a:pPr>
            <a:r>
              <a:rPr lang="en-US" sz="1250" b="1" dirty="0">
                <a:solidFill>
                  <a:srgbClr val="F8FAFC"/>
                </a:solidFill>
              </a:rPr>
              <a:t>Configure lab</a:t>
            </a:r>
            <a:endParaRPr lang="en-US" sz="1250" dirty="0"/>
          </a:p>
        </p:txBody>
      </p:sp>
      <p:sp>
        <p:nvSpPr>
          <p:cNvPr id="20" name="Text 18"/>
          <p:cNvSpPr/>
          <p:nvPr/>
        </p:nvSpPr>
        <p:spPr>
          <a:xfrm>
            <a:off x="850392" y="2441448"/>
            <a:ext cx="3172968" cy="914400"/>
          </a:xfrm>
          <a:prstGeom prst="rect">
            <a:avLst/>
          </a:prstGeom>
          <a:noFill/>
        </p:spPr>
        <p:txBody>
          <a:bodyPr wrap="square" lIns="127" tIns="127" rIns="127" bIns="127" rtlCol="0" anchor="ctr">
            <a:normAutofit/>
          </a:bodyPr>
          <a:lstStyle/>
          <a:p>
            <a:pPr marL="0" indent="0">
              <a:buNone/>
            </a:pPr>
            <a:r>
              <a:rPr lang="en-US" sz="950" dirty="0">
                <a:solidFill>
                  <a:srgbClr val="9FB2C8"/>
                </a:solidFill>
              </a:rPr>
              <a:t>Set up Ubuntu, Kali and Metasploitable in VirtualBox and identify active network interfaces.</a:t>
            </a:r>
            <a:endParaRPr lang="en-US" sz="950" dirty="0"/>
          </a:p>
        </p:txBody>
      </p:sp>
      <p:sp>
        <p:nvSpPr>
          <p:cNvPr id="21" name="Shape 19"/>
          <p:cNvSpPr/>
          <p:nvPr/>
        </p:nvSpPr>
        <p:spPr>
          <a:xfrm>
            <a:off x="4352544" y="1508760"/>
            <a:ext cx="3502152" cy="1965960"/>
          </a:xfrm>
          <a:prstGeom prst="roundRect">
            <a:avLst>
              <a:gd name="adj" fmla="val 6047"/>
            </a:avLst>
          </a:prstGeom>
          <a:solidFill>
            <a:srgbClr val="0D1B2A">
              <a:alpha val="97000"/>
            </a:srgbClr>
          </a:solidFill>
          <a:ln w="12700">
            <a:solidFill>
              <a:srgbClr val="233548">
                <a:alpha val="92000"/>
              </a:srgbClr>
            </a:solidFill>
            <a:prstDash val="solid"/>
          </a:ln>
        </p:spPr>
      </p:sp>
      <p:sp>
        <p:nvSpPr>
          <p:cNvPr id="22" name="Text 20"/>
          <p:cNvSpPr/>
          <p:nvPr/>
        </p:nvSpPr>
        <p:spPr>
          <a:xfrm>
            <a:off x="4517136" y="1673352"/>
            <a:ext cx="502920" cy="228600"/>
          </a:xfrm>
          <a:prstGeom prst="rect">
            <a:avLst/>
          </a:prstGeom>
          <a:noFill/>
        </p:spPr>
        <p:txBody>
          <a:bodyPr wrap="square" lIns="0" tIns="0" rIns="0" bIns="0" rtlCol="0" anchor="ctr"/>
          <a:lstStyle/>
          <a:p>
            <a:pPr marL="0" indent="0">
              <a:buNone/>
            </a:pPr>
            <a:r>
              <a:rPr lang="en-US" sz="1500" b="1" dirty="0">
                <a:solidFill>
                  <a:srgbClr val="2FF3E0"/>
                </a:solidFill>
              </a:rPr>
              <a:t>02</a:t>
            </a:r>
            <a:endParaRPr lang="en-US" sz="1500" dirty="0"/>
          </a:p>
        </p:txBody>
      </p:sp>
      <p:sp>
        <p:nvSpPr>
          <p:cNvPr id="23" name="Text 21"/>
          <p:cNvSpPr/>
          <p:nvPr/>
        </p:nvSpPr>
        <p:spPr>
          <a:xfrm>
            <a:off x="4517136" y="2039112"/>
            <a:ext cx="3172968" cy="320040"/>
          </a:xfrm>
          <a:prstGeom prst="rect">
            <a:avLst/>
          </a:prstGeom>
          <a:noFill/>
        </p:spPr>
        <p:txBody>
          <a:bodyPr wrap="square" lIns="0" tIns="0" rIns="0" bIns="0" rtlCol="0" anchor="ctr"/>
          <a:lstStyle/>
          <a:p>
            <a:pPr marL="0" indent="0">
              <a:buNone/>
            </a:pPr>
            <a:r>
              <a:rPr lang="en-US" sz="1250" b="1" dirty="0">
                <a:solidFill>
                  <a:srgbClr val="F8FAFC"/>
                </a:solidFill>
              </a:rPr>
              <a:t>Capture traffic</a:t>
            </a:r>
            <a:endParaRPr lang="en-US" sz="1250" dirty="0"/>
          </a:p>
        </p:txBody>
      </p:sp>
      <p:sp>
        <p:nvSpPr>
          <p:cNvPr id="24" name="Text 22"/>
          <p:cNvSpPr/>
          <p:nvPr/>
        </p:nvSpPr>
        <p:spPr>
          <a:xfrm>
            <a:off x="4517136" y="2441448"/>
            <a:ext cx="3172968" cy="914400"/>
          </a:xfrm>
          <a:prstGeom prst="rect">
            <a:avLst/>
          </a:prstGeom>
          <a:noFill/>
        </p:spPr>
        <p:txBody>
          <a:bodyPr wrap="square" lIns="127" tIns="127" rIns="127" bIns="127" rtlCol="0" anchor="ctr">
            <a:normAutofit/>
          </a:bodyPr>
          <a:lstStyle/>
          <a:p>
            <a:pPr marL="0" indent="0">
              <a:buNone/>
            </a:pPr>
            <a:r>
              <a:rPr lang="en-US" sz="950" dirty="0">
                <a:solidFill>
                  <a:srgbClr val="9FB2C8"/>
                </a:solidFill>
              </a:rPr>
              <a:t>Use Wireshark on the active interface to observe DNS, TCP, ARP and other protocol activity.</a:t>
            </a:r>
            <a:endParaRPr lang="en-US" sz="950" dirty="0"/>
          </a:p>
        </p:txBody>
      </p:sp>
      <p:sp>
        <p:nvSpPr>
          <p:cNvPr id="25" name="Shape 23"/>
          <p:cNvSpPr/>
          <p:nvPr/>
        </p:nvSpPr>
        <p:spPr>
          <a:xfrm>
            <a:off x="8019288" y="1508760"/>
            <a:ext cx="3502152" cy="1965960"/>
          </a:xfrm>
          <a:prstGeom prst="roundRect">
            <a:avLst>
              <a:gd name="adj" fmla="val 6047"/>
            </a:avLst>
          </a:prstGeom>
          <a:solidFill>
            <a:srgbClr val="0D1B2A">
              <a:alpha val="97000"/>
            </a:srgbClr>
          </a:solidFill>
          <a:ln w="12700">
            <a:solidFill>
              <a:srgbClr val="233548">
                <a:alpha val="92000"/>
              </a:srgbClr>
            </a:solidFill>
            <a:prstDash val="solid"/>
          </a:ln>
        </p:spPr>
      </p:sp>
      <p:sp>
        <p:nvSpPr>
          <p:cNvPr id="26" name="Text 24"/>
          <p:cNvSpPr/>
          <p:nvPr/>
        </p:nvSpPr>
        <p:spPr>
          <a:xfrm>
            <a:off x="8183880" y="1673352"/>
            <a:ext cx="502920" cy="228600"/>
          </a:xfrm>
          <a:prstGeom prst="rect">
            <a:avLst/>
          </a:prstGeom>
          <a:noFill/>
        </p:spPr>
        <p:txBody>
          <a:bodyPr wrap="square" lIns="0" tIns="0" rIns="0" bIns="0" rtlCol="0" anchor="ctr"/>
          <a:lstStyle/>
          <a:p>
            <a:pPr marL="0" indent="0">
              <a:buNone/>
            </a:pPr>
            <a:r>
              <a:rPr lang="en-US" sz="1500" b="1" dirty="0">
                <a:solidFill>
                  <a:srgbClr val="2FF3E0"/>
                </a:solidFill>
              </a:rPr>
              <a:t>03</a:t>
            </a:r>
            <a:endParaRPr lang="en-US" sz="1500" dirty="0"/>
          </a:p>
        </p:txBody>
      </p:sp>
      <p:sp>
        <p:nvSpPr>
          <p:cNvPr id="27" name="Text 25"/>
          <p:cNvSpPr/>
          <p:nvPr/>
        </p:nvSpPr>
        <p:spPr>
          <a:xfrm>
            <a:off x="8183880" y="2039112"/>
            <a:ext cx="3172968" cy="320040"/>
          </a:xfrm>
          <a:prstGeom prst="rect">
            <a:avLst/>
          </a:prstGeom>
          <a:noFill/>
        </p:spPr>
        <p:txBody>
          <a:bodyPr wrap="square" lIns="0" tIns="0" rIns="0" bIns="0" rtlCol="0" anchor="ctr"/>
          <a:lstStyle/>
          <a:p>
            <a:pPr marL="0" indent="0">
              <a:buNone/>
            </a:pPr>
            <a:r>
              <a:rPr lang="en-US" sz="1250" b="1" dirty="0">
                <a:solidFill>
                  <a:srgbClr val="F8FAFC"/>
                </a:solidFill>
              </a:rPr>
              <a:t>Analyze findings</a:t>
            </a:r>
            <a:endParaRPr lang="en-US" sz="1250" dirty="0"/>
          </a:p>
        </p:txBody>
      </p:sp>
      <p:sp>
        <p:nvSpPr>
          <p:cNvPr id="28" name="Text 26"/>
          <p:cNvSpPr/>
          <p:nvPr/>
        </p:nvSpPr>
        <p:spPr>
          <a:xfrm>
            <a:off x="8183880" y="2441448"/>
            <a:ext cx="3172968" cy="914400"/>
          </a:xfrm>
          <a:prstGeom prst="rect">
            <a:avLst/>
          </a:prstGeom>
          <a:noFill/>
        </p:spPr>
        <p:txBody>
          <a:bodyPr wrap="square" lIns="127" tIns="127" rIns="127" bIns="127" rtlCol="0" anchor="ctr">
            <a:normAutofit/>
          </a:bodyPr>
          <a:lstStyle/>
          <a:p>
            <a:pPr marL="0" indent="0">
              <a:buNone/>
            </a:pPr>
            <a:r>
              <a:rPr lang="en-US" sz="950" dirty="0">
                <a:solidFill>
                  <a:srgbClr val="9FB2C8"/>
                </a:solidFill>
              </a:rPr>
              <a:t>Inspect TCP flags and repeated connection attempts to identify scanning behavior.</a:t>
            </a:r>
            <a:endParaRPr lang="en-US" sz="950" dirty="0"/>
          </a:p>
        </p:txBody>
      </p:sp>
      <p:sp>
        <p:nvSpPr>
          <p:cNvPr id="29" name="Shape 27"/>
          <p:cNvSpPr/>
          <p:nvPr/>
        </p:nvSpPr>
        <p:spPr>
          <a:xfrm>
            <a:off x="685800" y="3931920"/>
            <a:ext cx="4937760" cy="1691640"/>
          </a:xfrm>
          <a:prstGeom prst="roundRect">
            <a:avLst>
              <a:gd name="adj" fmla="val 4324"/>
            </a:avLst>
          </a:prstGeom>
          <a:solidFill>
            <a:srgbClr val="020817"/>
          </a:solidFill>
          <a:ln w="12700">
            <a:solidFill>
              <a:srgbClr val="233548"/>
            </a:solidFill>
            <a:prstDash val="solid"/>
          </a:ln>
        </p:spPr>
      </p:sp>
      <p:sp>
        <p:nvSpPr>
          <p:cNvPr id="30" name="Text 28"/>
          <p:cNvSpPr/>
          <p:nvPr/>
        </p:nvSpPr>
        <p:spPr>
          <a:xfrm>
            <a:off x="850392" y="4078224"/>
            <a:ext cx="4608576" cy="1399032"/>
          </a:xfrm>
          <a:prstGeom prst="rect">
            <a:avLst/>
          </a:prstGeom>
          <a:noFill/>
        </p:spPr>
        <p:txBody>
          <a:bodyPr wrap="square" lIns="127" tIns="127" rIns="127" bIns="127" rtlCol="0" anchor="ctr">
            <a:normAutofit/>
          </a:bodyPr>
          <a:lstStyle/>
          <a:p>
            <a:pPr marL="0" indent="0">
              <a:buNone/>
            </a:pPr>
            <a:r>
              <a:rPr lang="en-US" sz="1200" dirty="0">
                <a:solidFill>
                  <a:srgbClr val="4DFF8F"/>
                </a:solidFill>
                <a:latin typeface="Cascadia Mono" pitchFamily="34" charset="0"/>
                <a:ea typeface="Cascadia Mono" pitchFamily="34" charset="-122"/>
                <a:cs typeface="Cascadia Mono" pitchFamily="34" charset="-120"/>
              </a:rPr>
              <a:t>Commands used:</a:t>
            </a:r>
            <a:endParaRPr lang="en-US" sz="1200" dirty="0"/>
          </a:p>
          <a:p>
            <a:pPr marL="0" indent="0">
              <a:buNone/>
            </a:pPr>
            <a:endParaRPr lang="en-US" sz="1200" dirty="0"/>
          </a:p>
          <a:p>
            <a:pPr marL="0" indent="0">
              <a:buNone/>
            </a:pPr>
            <a:r>
              <a:rPr lang="en-US" sz="1200" dirty="0">
                <a:solidFill>
                  <a:srgbClr val="4DFF8F"/>
                </a:solidFill>
                <a:latin typeface="Cascadia Mono" pitchFamily="34" charset="0"/>
                <a:ea typeface="Cascadia Mono" pitchFamily="34" charset="-122"/>
                <a:cs typeface="Cascadia Mono" pitchFamily="34" charset="-120"/>
              </a:rPr>
              <a:t>ip a</a:t>
            </a:r>
            <a:endParaRPr lang="en-US" sz="1200" dirty="0"/>
          </a:p>
          <a:p>
            <a:pPr marL="0" indent="0">
              <a:buNone/>
            </a:pPr>
            <a:r>
              <a:rPr lang="en-US" sz="1200" dirty="0">
                <a:solidFill>
                  <a:srgbClr val="4DFF8F"/>
                </a:solidFill>
                <a:latin typeface="Cascadia Mono" pitchFamily="34" charset="0"/>
                <a:ea typeface="Cascadia Mono" pitchFamily="34" charset="-122"/>
                <a:cs typeface="Cascadia Mono" pitchFamily="34" charset="-120"/>
              </a:rPr>
              <a:t>ifconfig</a:t>
            </a:r>
            <a:endParaRPr lang="en-US" sz="1200" dirty="0"/>
          </a:p>
          <a:p>
            <a:pPr marL="0" indent="0">
              <a:buNone/>
            </a:pPr>
            <a:r>
              <a:rPr lang="en-US" sz="1200" dirty="0">
                <a:solidFill>
                  <a:srgbClr val="4DFF8F"/>
                </a:solidFill>
                <a:latin typeface="Cascadia Mono" pitchFamily="34" charset="0"/>
                <a:ea typeface="Cascadia Mono" pitchFamily="34" charset="-122"/>
                <a:cs typeface="Cascadia Mono" pitchFamily="34" charset="-120"/>
              </a:rPr>
              <a:t>nmap -Pn -sT &lt;target-ip&gt;</a:t>
            </a:r>
            <a:endParaRPr lang="en-US" sz="1200" dirty="0"/>
          </a:p>
          <a:p>
            <a:pPr marL="0" indent="0">
              <a:buNone/>
            </a:pPr>
            <a:r>
              <a:rPr lang="en-US" sz="1200" dirty="0">
                <a:solidFill>
                  <a:srgbClr val="4DFF8F"/>
                </a:solidFill>
                <a:latin typeface="Cascadia Mono" pitchFamily="34" charset="0"/>
                <a:ea typeface="Cascadia Mono" pitchFamily="34" charset="-122"/>
                <a:cs typeface="Cascadia Mono" pitchFamily="34" charset="-120"/>
              </a:rPr>
              <a:t>tcp.flags.syn == 1</a:t>
            </a:r>
            <a:endParaRPr lang="en-US" sz="1200" dirty="0"/>
          </a:p>
        </p:txBody>
      </p:sp>
      <p:sp>
        <p:nvSpPr>
          <p:cNvPr id="31" name="Shape 29"/>
          <p:cNvSpPr/>
          <p:nvPr/>
        </p:nvSpPr>
        <p:spPr>
          <a:xfrm>
            <a:off x="6263640" y="3931920"/>
            <a:ext cx="5257800" cy="1691640"/>
          </a:xfrm>
          <a:prstGeom prst="roundRect">
            <a:avLst>
              <a:gd name="adj" fmla="val 6486"/>
            </a:avLst>
          </a:prstGeom>
          <a:solidFill>
            <a:srgbClr val="0D1B2A">
              <a:alpha val="96000"/>
            </a:srgbClr>
          </a:solidFill>
          <a:ln w="12700">
            <a:solidFill>
              <a:srgbClr val="233548">
                <a:alpha val="95000"/>
              </a:srgbClr>
            </a:solidFill>
            <a:prstDash val="solid"/>
          </a:ln>
          <a:effectLst>
            <a:outerShdw blurRad="38100" dist="12700" dir="2700000" algn="bl" rotWithShape="0">
              <a:srgbClr val="000000">
                <a:alpha val="22000"/>
              </a:srgbClr>
            </a:outerShdw>
          </a:effectLst>
        </p:spPr>
      </p:sp>
      <p:sp>
        <p:nvSpPr>
          <p:cNvPr id="32" name="Shape 30"/>
          <p:cNvSpPr/>
          <p:nvPr/>
        </p:nvSpPr>
        <p:spPr>
          <a:xfrm>
            <a:off x="6263640" y="3931920"/>
            <a:ext cx="73152" cy="1691640"/>
          </a:xfrm>
          <a:prstGeom prst="rect">
            <a:avLst/>
          </a:prstGeom>
          <a:solidFill>
            <a:srgbClr val="4DFF8F"/>
          </a:solidFill>
          <a:ln w="12700">
            <a:solidFill>
              <a:srgbClr val="4DFF8F"/>
            </a:solidFill>
            <a:prstDash val="solid"/>
          </a:ln>
        </p:spPr>
      </p:sp>
      <p:sp>
        <p:nvSpPr>
          <p:cNvPr id="33" name="Text 31"/>
          <p:cNvSpPr/>
          <p:nvPr/>
        </p:nvSpPr>
        <p:spPr>
          <a:xfrm>
            <a:off x="6492240" y="4096512"/>
            <a:ext cx="4910328" cy="228600"/>
          </a:xfrm>
          <a:prstGeom prst="rect">
            <a:avLst/>
          </a:prstGeom>
          <a:noFill/>
        </p:spPr>
        <p:txBody>
          <a:bodyPr wrap="square" lIns="0" tIns="0" rIns="0" bIns="0" rtlCol="0" anchor="ctr"/>
          <a:lstStyle/>
          <a:p>
            <a:pPr marL="0" indent="0">
              <a:buNone/>
            </a:pPr>
            <a:r>
              <a:rPr lang="en-US" sz="1200" b="1" dirty="0">
                <a:solidFill>
                  <a:srgbClr val="4DFF8F"/>
                </a:solidFill>
                <a:latin typeface="Aptos Display" pitchFamily="34" charset="0"/>
                <a:ea typeface="Aptos Display" pitchFamily="34" charset="-122"/>
                <a:cs typeface="Aptos Display" pitchFamily="34" charset="-120"/>
              </a:rPr>
              <a:t>Evidence-focused approach</a:t>
            </a:r>
            <a:endParaRPr lang="en-US" sz="1200" dirty="0"/>
          </a:p>
        </p:txBody>
      </p:sp>
      <p:sp>
        <p:nvSpPr>
          <p:cNvPr id="34" name="Text 32"/>
          <p:cNvSpPr/>
          <p:nvPr/>
        </p:nvSpPr>
        <p:spPr>
          <a:xfrm>
            <a:off x="6492240" y="4407408"/>
            <a:ext cx="4910328" cy="1124712"/>
          </a:xfrm>
          <a:prstGeom prst="rect">
            <a:avLst/>
          </a:prstGeom>
          <a:noFill/>
        </p:spPr>
        <p:txBody>
          <a:bodyPr wrap="square" lIns="254" tIns="254" rIns="254" bIns="254" rtlCol="0" anchor="t">
            <a:normAutofit/>
          </a:bodyPr>
          <a:lstStyle/>
          <a:p>
            <a:pPr marL="0" indent="0">
              <a:buNone/>
            </a:pPr>
            <a:r>
              <a:rPr lang="en-US" sz="1050" dirty="0">
                <a:solidFill>
                  <a:srgbClr val="F8FAFC"/>
                </a:solidFill>
                <a:latin typeface="Aptos" pitchFamily="34" charset="0"/>
                <a:ea typeface="Aptos" pitchFamily="34" charset="-122"/>
                <a:cs typeface="Aptos" pitchFamily="34" charset="-120"/>
              </a:rPr>
              <a:t>Every major step was documented with screenshots so the defence shows a clear implementation path, not just theory.</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50B1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50B12"/>
          </a:solidFill>
          <a:ln w="12700">
            <a:solidFill>
              <a:srgbClr val="050B12"/>
            </a:solidFill>
            <a:prstDash val="solid"/>
          </a:ln>
        </p:spPr>
        <p:txBody>
          <a:bodyPr/>
          <a:p>
            <a:endParaRPr lang="en-US"/>
          </a:p>
        </p:txBody>
      </p:sp>
      <p:sp>
        <p:nvSpPr>
          <p:cNvPr id="3" name="Shape 1"/>
          <p:cNvSpPr/>
          <p:nvPr/>
        </p:nvSpPr>
        <p:spPr>
          <a:xfrm>
            <a:off x="0" y="0"/>
            <a:ext cx="12191695" cy="475488"/>
          </a:xfrm>
          <a:prstGeom prst="rect">
            <a:avLst/>
          </a:prstGeom>
          <a:solidFill>
            <a:srgbClr val="091523"/>
          </a:solidFill>
          <a:ln w="12700">
            <a:solidFill>
              <a:srgbClr val="091523"/>
            </a:solidFill>
            <a:prstDash val="solid"/>
          </a:ln>
        </p:spPr>
      </p:sp>
      <p:sp>
        <p:nvSpPr>
          <p:cNvPr id="4" name="Shape 2"/>
          <p:cNvSpPr/>
          <p:nvPr/>
        </p:nvSpPr>
        <p:spPr>
          <a:xfrm>
            <a:off x="0" y="475488"/>
            <a:ext cx="12191695" cy="22860"/>
          </a:xfrm>
          <a:prstGeom prst="rect">
            <a:avLst/>
          </a:prstGeom>
          <a:solidFill>
            <a:srgbClr val="2FF3E0">
              <a:alpha val="90000"/>
            </a:srgbClr>
          </a:solidFill>
          <a:ln w="12700">
            <a:solidFill>
              <a:srgbClr val="2FF3E0"/>
            </a:solidFill>
            <a:prstDash val="solid"/>
          </a:ln>
        </p:spPr>
      </p:sp>
      <p:sp>
        <p:nvSpPr>
          <p:cNvPr id="6" name="Text 4"/>
          <p:cNvSpPr/>
          <p:nvPr/>
        </p:nvSpPr>
        <p:spPr>
          <a:xfrm>
            <a:off x="11384280" y="100584"/>
            <a:ext cx="347472" cy="256032"/>
          </a:xfrm>
          <a:prstGeom prst="rect">
            <a:avLst/>
          </a:prstGeom>
          <a:noFill/>
        </p:spPr>
        <p:txBody>
          <a:bodyPr wrap="square" lIns="0" tIns="0" rIns="0" bIns="0" rtlCol="0" anchor="ctr"/>
          <a:lstStyle/>
          <a:p>
            <a:pPr marL="0" indent="0" algn="r">
              <a:buNone/>
            </a:pPr>
            <a:r>
              <a:rPr lang="en-US" sz="1000" b="1" dirty="0">
                <a:solidFill>
                  <a:srgbClr val="9FB2C8"/>
                </a:solidFill>
                <a:latin typeface="Aptos Display" pitchFamily="34" charset="0"/>
                <a:ea typeface="Aptos Display" pitchFamily="34" charset="-122"/>
                <a:cs typeface="Aptos Display" pitchFamily="34" charset="-120"/>
              </a:rPr>
              <a:t>08</a:t>
            </a:r>
            <a:endParaRPr lang="en-US" sz="1000" dirty="0"/>
          </a:p>
        </p:txBody>
      </p:sp>
      <p:sp>
        <p:nvSpPr>
          <p:cNvPr id="7" name="Text 5"/>
          <p:cNvSpPr/>
          <p:nvPr/>
        </p:nvSpPr>
        <p:spPr>
          <a:xfrm>
            <a:off x="502920" y="713232"/>
            <a:ext cx="10607040" cy="329184"/>
          </a:xfrm>
          <a:prstGeom prst="rect">
            <a:avLst/>
          </a:prstGeom>
          <a:noFill/>
        </p:spPr>
        <p:txBody>
          <a:bodyPr wrap="square" lIns="0" tIns="0" rIns="0" bIns="0" rtlCol="0" anchor="ctr"/>
          <a:lstStyle/>
          <a:p>
            <a:pPr marL="0" indent="0">
              <a:buNone/>
            </a:pPr>
            <a:r>
              <a:rPr lang="en-US" sz="2200" b="1" dirty="0">
                <a:solidFill>
                  <a:srgbClr val="F8FAFC"/>
                </a:solidFill>
                <a:latin typeface="Aptos Display" pitchFamily="34" charset="0"/>
                <a:ea typeface="Aptos Display" pitchFamily="34" charset="-122"/>
                <a:cs typeface="Aptos Display" pitchFamily="34" charset="-120"/>
              </a:rPr>
              <a:t>Step 1 — Lab and Interface Setup</a:t>
            </a:r>
            <a:endParaRPr lang="en-US" sz="2200" dirty="0"/>
          </a:p>
        </p:txBody>
      </p:sp>
      <p:sp>
        <p:nvSpPr>
          <p:cNvPr id="8" name="Shape 6"/>
          <p:cNvSpPr/>
          <p:nvPr/>
        </p:nvSpPr>
        <p:spPr>
          <a:xfrm>
            <a:off x="274320" y="1965960"/>
            <a:ext cx="11658600" cy="0"/>
          </a:xfrm>
          <a:prstGeom prst="line">
            <a:avLst/>
          </a:prstGeom>
          <a:noFill/>
          <a:ln w="6350">
            <a:solidFill>
              <a:srgbClr val="233548">
                <a:alpha val="22000"/>
              </a:srgbClr>
            </a:solidFill>
            <a:prstDash val="solid"/>
          </a:ln>
        </p:spPr>
      </p:sp>
      <p:sp>
        <p:nvSpPr>
          <p:cNvPr id="9" name="Shape 7"/>
          <p:cNvSpPr/>
          <p:nvPr/>
        </p:nvSpPr>
        <p:spPr>
          <a:xfrm>
            <a:off x="274320" y="2697480"/>
            <a:ext cx="11658600" cy="0"/>
          </a:xfrm>
          <a:prstGeom prst="line">
            <a:avLst/>
          </a:prstGeom>
          <a:noFill/>
          <a:ln w="6350">
            <a:solidFill>
              <a:srgbClr val="233548">
                <a:alpha val="22000"/>
              </a:srgbClr>
            </a:solidFill>
            <a:prstDash val="solid"/>
          </a:ln>
        </p:spPr>
      </p:sp>
      <p:sp>
        <p:nvSpPr>
          <p:cNvPr id="10" name="Shape 8"/>
          <p:cNvSpPr/>
          <p:nvPr/>
        </p:nvSpPr>
        <p:spPr>
          <a:xfrm>
            <a:off x="274320" y="3429000"/>
            <a:ext cx="11658600" cy="0"/>
          </a:xfrm>
          <a:prstGeom prst="line">
            <a:avLst/>
          </a:prstGeom>
          <a:noFill/>
          <a:ln w="6350">
            <a:solidFill>
              <a:srgbClr val="233548">
                <a:alpha val="22000"/>
              </a:srgbClr>
            </a:solidFill>
            <a:prstDash val="solid"/>
          </a:ln>
        </p:spPr>
      </p:sp>
      <p:sp>
        <p:nvSpPr>
          <p:cNvPr id="11" name="Shape 9"/>
          <p:cNvSpPr/>
          <p:nvPr/>
        </p:nvSpPr>
        <p:spPr>
          <a:xfrm>
            <a:off x="274320" y="4160520"/>
            <a:ext cx="11658600" cy="0"/>
          </a:xfrm>
          <a:prstGeom prst="line">
            <a:avLst/>
          </a:prstGeom>
          <a:noFill/>
          <a:ln w="6350">
            <a:solidFill>
              <a:srgbClr val="233548">
                <a:alpha val="22000"/>
              </a:srgbClr>
            </a:solidFill>
            <a:prstDash val="solid"/>
          </a:ln>
        </p:spPr>
      </p:sp>
      <p:sp>
        <p:nvSpPr>
          <p:cNvPr id="12" name="Shape 10"/>
          <p:cNvSpPr/>
          <p:nvPr/>
        </p:nvSpPr>
        <p:spPr>
          <a:xfrm>
            <a:off x="274320" y="4892040"/>
            <a:ext cx="11658600" cy="0"/>
          </a:xfrm>
          <a:prstGeom prst="line">
            <a:avLst/>
          </a:prstGeom>
          <a:noFill/>
          <a:ln w="6350">
            <a:solidFill>
              <a:srgbClr val="233548">
                <a:alpha val="22000"/>
              </a:srgbClr>
            </a:solidFill>
            <a:prstDash val="solid"/>
          </a:ln>
        </p:spPr>
      </p:sp>
      <p:sp>
        <p:nvSpPr>
          <p:cNvPr id="13" name="Shape 11"/>
          <p:cNvSpPr/>
          <p:nvPr/>
        </p:nvSpPr>
        <p:spPr>
          <a:xfrm>
            <a:off x="274320" y="5623560"/>
            <a:ext cx="11658600" cy="0"/>
          </a:xfrm>
          <a:prstGeom prst="line">
            <a:avLst/>
          </a:prstGeom>
          <a:noFill/>
          <a:ln w="6350">
            <a:solidFill>
              <a:srgbClr val="233548">
                <a:alpha val="22000"/>
              </a:srgbClr>
            </a:solidFill>
            <a:prstDash val="solid"/>
          </a:ln>
        </p:spPr>
      </p:sp>
      <p:sp>
        <p:nvSpPr>
          <p:cNvPr id="14" name="Shape 12"/>
          <p:cNvSpPr/>
          <p:nvPr/>
        </p:nvSpPr>
        <p:spPr>
          <a:xfrm>
            <a:off x="0" y="6611112"/>
            <a:ext cx="12191695" cy="246888"/>
          </a:xfrm>
          <a:prstGeom prst="rect">
            <a:avLst/>
          </a:prstGeom>
          <a:solidFill>
            <a:srgbClr val="03070C"/>
          </a:solidFill>
          <a:ln w="12700">
            <a:solidFill>
              <a:srgbClr val="03070C"/>
            </a:solidFill>
            <a:prstDash val="solid"/>
          </a:ln>
        </p:spPr>
      </p:sp>
      <p:sp>
        <p:nvSpPr>
          <p:cNvPr id="17" name="Shape 15"/>
          <p:cNvSpPr/>
          <p:nvPr/>
        </p:nvSpPr>
        <p:spPr>
          <a:xfrm>
            <a:off x="694944" y="1207008"/>
            <a:ext cx="1600200" cy="292608"/>
          </a:xfrm>
          <a:prstGeom prst="roundRect">
            <a:avLst>
              <a:gd name="adj" fmla="val 18750"/>
            </a:avLst>
          </a:prstGeom>
          <a:solidFill>
            <a:srgbClr val="2FF3E0"/>
          </a:solidFill>
          <a:ln w="12700">
            <a:solidFill>
              <a:srgbClr val="2FF3E0">
                <a:alpha val="85000"/>
              </a:srgbClr>
            </a:solidFill>
            <a:prstDash val="solid"/>
          </a:ln>
        </p:spPr>
      </p:sp>
      <p:sp>
        <p:nvSpPr>
          <p:cNvPr id="18" name="Text 16"/>
          <p:cNvSpPr/>
          <p:nvPr/>
        </p:nvSpPr>
        <p:spPr>
          <a:xfrm>
            <a:off x="804672" y="1275588"/>
            <a:ext cx="1380744" cy="109728"/>
          </a:xfrm>
          <a:prstGeom prst="rect">
            <a:avLst/>
          </a:prstGeom>
          <a:noFill/>
        </p:spPr>
        <p:txBody>
          <a:bodyPr wrap="square" lIns="0" tIns="0" rIns="0" bIns="0" rtlCol="0" anchor="ctr"/>
          <a:lstStyle/>
          <a:p>
            <a:pPr marL="0" indent="0">
              <a:buNone/>
            </a:pPr>
            <a:r>
              <a:rPr lang="en-US" sz="750" b="1" dirty="0">
                <a:solidFill>
                  <a:srgbClr val="050B12"/>
                </a:solidFill>
              </a:rPr>
              <a:t>SCREENSHOT EVIDENCE</a:t>
            </a:r>
            <a:endParaRPr lang="en-US" sz="750" dirty="0"/>
          </a:p>
        </p:txBody>
      </p:sp>
      <p:sp>
        <p:nvSpPr>
          <p:cNvPr id="19" name="Shape 17"/>
          <p:cNvSpPr/>
          <p:nvPr/>
        </p:nvSpPr>
        <p:spPr>
          <a:xfrm>
            <a:off x="667512" y="1655064"/>
            <a:ext cx="5623560" cy="4297680"/>
          </a:xfrm>
          <a:prstGeom prst="roundRect">
            <a:avLst>
              <a:gd name="adj" fmla="val 2553"/>
            </a:avLst>
          </a:prstGeom>
          <a:solidFill>
            <a:srgbClr val="06101B"/>
          </a:solidFill>
          <a:ln w="12700">
            <a:solidFill>
              <a:srgbClr val="2FF3E0">
                <a:alpha val="65000"/>
              </a:srgbClr>
            </a:solidFill>
            <a:prstDash val="solid"/>
          </a:ln>
        </p:spPr>
      </p:sp>
      <p:pic>
        <p:nvPicPr>
          <p:cNvPr id="20" name="Image 0" descr="/mnt/data/7976fbb3-b22e-4f17-9108-a23104aa5032.png"/>
          <p:cNvPicPr>
            <a:picLocks noChangeAspect="1"/>
          </p:cNvPicPr>
          <p:nvPr/>
        </p:nvPicPr>
        <p:blipFill>
          <a:blip r:embed="rId1"/>
          <a:srcRect l="10468" t="3050" r="6557"/>
          <a:stretch>
            <a:fillRect/>
          </a:stretch>
        </p:blipFill>
        <p:spPr>
          <a:xfrm>
            <a:off x="713105" y="1664335"/>
            <a:ext cx="5543550" cy="4258310"/>
          </a:xfrm>
          <a:prstGeom prst="rect">
            <a:avLst/>
          </a:prstGeom>
        </p:spPr>
      </p:pic>
      <p:sp>
        <p:nvSpPr>
          <p:cNvPr id="21" name="Text 18"/>
          <p:cNvSpPr/>
          <p:nvPr/>
        </p:nvSpPr>
        <p:spPr>
          <a:xfrm>
            <a:off x="713232" y="5980176"/>
            <a:ext cx="5532120" cy="201168"/>
          </a:xfrm>
          <a:prstGeom prst="rect">
            <a:avLst/>
          </a:prstGeom>
          <a:noFill/>
        </p:spPr>
        <p:txBody>
          <a:bodyPr wrap="square" lIns="0" tIns="0" rIns="0" bIns="0" rtlCol="0" anchor="ctr"/>
          <a:lstStyle/>
          <a:p>
            <a:pPr marL="0" indent="0" algn="ctr">
              <a:buNone/>
            </a:pPr>
            <a:r>
              <a:rPr lang="en-US" sz="850" i="1" dirty="0">
                <a:solidFill>
                  <a:srgbClr val="9FB2C8"/>
                </a:solidFill>
              </a:rPr>
              <a:t>Ubuntu interface discovery and Suricata startup evidence</a:t>
            </a:r>
            <a:endParaRPr lang="en-US" sz="850" dirty="0"/>
          </a:p>
        </p:txBody>
      </p:sp>
      <p:sp>
        <p:nvSpPr>
          <p:cNvPr id="22" name="Shape 19"/>
          <p:cNvSpPr/>
          <p:nvPr/>
        </p:nvSpPr>
        <p:spPr>
          <a:xfrm>
            <a:off x="6675120" y="1664208"/>
            <a:ext cx="4617720" cy="1143000"/>
          </a:xfrm>
          <a:prstGeom prst="roundRect">
            <a:avLst>
              <a:gd name="adj" fmla="val 9600"/>
            </a:avLst>
          </a:prstGeom>
          <a:solidFill>
            <a:srgbClr val="0D1B2A">
              <a:alpha val="96000"/>
            </a:srgbClr>
          </a:solidFill>
          <a:ln w="12700">
            <a:solidFill>
              <a:srgbClr val="233548">
                <a:alpha val="95000"/>
              </a:srgbClr>
            </a:solidFill>
            <a:prstDash val="solid"/>
          </a:ln>
          <a:effectLst>
            <a:outerShdw blurRad="38100" dist="12700" dir="2700000" algn="bl" rotWithShape="0">
              <a:srgbClr val="000000">
                <a:alpha val="22000"/>
              </a:srgbClr>
            </a:outerShdw>
          </a:effectLst>
        </p:spPr>
      </p:sp>
      <p:sp>
        <p:nvSpPr>
          <p:cNvPr id="23" name="Shape 20"/>
          <p:cNvSpPr/>
          <p:nvPr/>
        </p:nvSpPr>
        <p:spPr>
          <a:xfrm>
            <a:off x="6675120" y="1664208"/>
            <a:ext cx="73152" cy="1143000"/>
          </a:xfrm>
          <a:prstGeom prst="rect">
            <a:avLst/>
          </a:prstGeom>
          <a:solidFill>
            <a:srgbClr val="2FF3E0"/>
          </a:solidFill>
          <a:ln w="12700">
            <a:solidFill>
              <a:srgbClr val="2FF3E0"/>
            </a:solidFill>
            <a:prstDash val="solid"/>
          </a:ln>
        </p:spPr>
      </p:sp>
      <p:sp>
        <p:nvSpPr>
          <p:cNvPr id="24" name="Text 21"/>
          <p:cNvSpPr/>
          <p:nvPr/>
        </p:nvSpPr>
        <p:spPr>
          <a:xfrm>
            <a:off x="6903720" y="1828800"/>
            <a:ext cx="4270248" cy="228600"/>
          </a:xfrm>
          <a:prstGeom prst="rect">
            <a:avLst/>
          </a:prstGeom>
          <a:noFill/>
        </p:spPr>
        <p:txBody>
          <a:bodyPr wrap="square" lIns="0" tIns="0" rIns="0" bIns="0" rtlCol="0" anchor="ctr"/>
          <a:lstStyle/>
          <a:p>
            <a:pPr marL="0" indent="0">
              <a:buNone/>
            </a:pPr>
            <a:r>
              <a:rPr lang="en-US" sz="1200" b="1" dirty="0">
                <a:solidFill>
                  <a:srgbClr val="2FF3E0"/>
                </a:solidFill>
                <a:latin typeface="Aptos Display" pitchFamily="34" charset="0"/>
                <a:ea typeface="Aptos Display" pitchFamily="34" charset="-122"/>
                <a:cs typeface="Aptos Display" pitchFamily="34" charset="-120"/>
              </a:rPr>
              <a:t>What this proves</a:t>
            </a:r>
            <a:endParaRPr lang="en-US" sz="1200" dirty="0"/>
          </a:p>
        </p:txBody>
      </p:sp>
      <p:sp>
        <p:nvSpPr>
          <p:cNvPr id="25" name="Text 22"/>
          <p:cNvSpPr/>
          <p:nvPr/>
        </p:nvSpPr>
        <p:spPr>
          <a:xfrm>
            <a:off x="6903720" y="2139696"/>
            <a:ext cx="4270248" cy="576072"/>
          </a:xfrm>
          <a:prstGeom prst="rect">
            <a:avLst/>
          </a:prstGeom>
          <a:noFill/>
        </p:spPr>
        <p:txBody>
          <a:bodyPr wrap="square" lIns="254" tIns="254" rIns="254" bIns="254" rtlCol="0" anchor="t">
            <a:normAutofit/>
          </a:bodyPr>
          <a:lstStyle/>
          <a:p>
            <a:pPr marL="0" indent="0">
              <a:buNone/>
            </a:pPr>
            <a:r>
              <a:rPr lang="en-US" sz="1050" dirty="0">
                <a:solidFill>
                  <a:srgbClr val="F8FAFC"/>
                </a:solidFill>
                <a:latin typeface="Aptos" pitchFamily="34" charset="0"/>
                <a:ea typeface="Aptos" pitchFamily="34" charset="-122"/>
                <a:cs typeface="Aptos" pitchFamily="34" charset="-120"/>
              </a:rPr>
              <a:t>The monitoring machine was configured and network interfaces were identified before packet capture and detection testing.</a:t>
            </a:r>
            <a:endParaRPr lang="en-US" sz="1050" dirty="0"/>
          </a:p>
        </p:txBody>
      </p:sp>
      <p:sp>
        <p:nvSpPr>
          <p:cNvPr id="26" name="Shape 23"/>
          <p:cNvSpPr/>
          <p:nvPr/>
        </p:nvSpPr>
        <p:spPr>
          <a:xfrm>
            <a:off x="6675120" y="3154680"/>
            <a:ext cx="4617720" cy="1234440"/>
          </a:xfrm>
          <a:prstGeom prst="roundRect">
            <a:avLst>
              <a:gd name="adj" fmla="val 8889"/>
            </a:avLst>
          </a:prstGeom>
          <a:solidFill>
            <a:srgbClr val="0D1B2A">
              <a:alpha val="96000"/>
            </a:srgbClr>
          </a:solidFill>
          <a:ln w="12700">
            <a:solidFill>
              <a:srgbClr val="233548">
                <a:alpha val="95000"/>
              </a:srgbClr>
            </a:solidFill>
            <a:prstDash val="solid"/>
          </a:ln>
          <a:effectLst>
            <a:outerShdw blurRad="38100" dist="12700" dir="2700000" algn="bl" rotWithShape="0">
              <a:srgbClr val="000000">
                <a:alpha val="22000"/>
              </a:srgbClr>
            </a:outerShdw>
          </a:effectLst>
        </p:spPr>
      </p:sp>
      <p:sp>
        <p:nvSpPr>
          <p:cNvPr id="27" name="Shape 24"/>
          <p:cNvSpPr/>
          <p:nvPr/>
        </p:nvSpPr>
        <p:spPr>
          <a:xfrm>
            <a:off x="6675120" y="3154680"/>
            <a:ext cx="73152" cy="1234440"/>
          </a:xfrm>
          <a:prstGeom prst="rect">
            <a:avLst/>
          </a:prstGeom>
          <a:solidFill>
            <a:srgbClr val="F9D65C"/>
          </a:solidFill>
          <a:ln w="12700">
            <a:solidFill>
              <a:srgbClr val="F9D65C"/>
            </a:solidFill>
            <a:prstDash val="solid"/>
          </a:ln>
        </p:spPr>
      </p:sp>
      <p:sp>
        <p:nvSpPr>
          <p:cNvPr id="28" name="Text 25"/>
          <p:cNvSpPr/>
          <p:nvPr/>
        </p:nvSpPr>
        <p:spPr>
          <a:xfrm>
            <a:off x="6903720" y="3319272"/>
            <a:ext cx="4270248" cy="228600"/>
          </a:xfrm>
          <a:prstGeom prst="rect">
            <a:avLst/>
          </a:prstGeom>
          <a:noFill/>
        </p:spPr>
        <p:txBody>
          <a:bodyPr wrap="square" lIns="0" tIns="0" rIns="0" bIns="0" rtlCol="0" anchor="ctr"/>
          <a:lstStyle/>
          <a:p>
            <a:pPr marL="0" indent="0">
              <a:buNone/>
            </a:pPr>
            <a:r>
              <a:rPr lang="en-US" sz="1200" b="1" dirty="0">
                <a:solidFill>
                  <a:srgbClr val="F9D65C"/>
                </a:solidFill>
                <a:latin typeface="Aptos Display" pitchFamily="34" charset="0"/>
                <a:ea typeface="Aptos Display" pitchFamily="34" charset="-122"/>
                <a:cs typeface="Aptos Display" pitchFamily="34" charset="-120"/>
              </a:rPr>
              <a:t>Key finding</a:t>
            </a:r>
            <a:endParaRPr lang="en-US" sz="1200" dirty="0"/>
          </a:p>
        </p:txBody>
      </p:sp>
      <p:sp>
        <p:nvSpPr>
          <p:cNvPr id="29" name="Text 26"/>
          <p:cNvSpPr/>
          <p:nvPr/>
        </p:nvSpPr>
        <p:spPr>
          <a:xfrm>
            <a:off x="6903720" y="3630168"/>
            <a:ext cx="4270248" cy="667512"/>
          </a:xfrm>
          <a:prstGeom prst="rect">
            <a:avLst/>
          </a:prstGeom>
          <a:noFill/>
        </p:spPr>
        <p:txBody>
          <a:bodyPr wrap="square" lIns="254" tIns="254" rIns="254" bIns="254" rtlCol="0" anchor="t">
            <a:normAutofit/>
          </a:bodyPr>
          <a:lstStyle/>
          <a:p>
            <a:pPr marL="0" indent="0">
              <a:buNone/>
            </a:pPr>
            <a:r>
              <a:rPr lang="en-US" sz="1050" dirty="0">
                <a:solidFill>
                  <a:srgbClr val="F8FAFC"/>
                </a:solidFill>
                <a:latin typeface="Aptos" pitchFamily="34" charset="0"/>
                <a:ea typeface="Aptos" pitchFamily="34" charset="-122"/>
                <a:cs typeface="Aptos" pitchFamily="34" charset="-120"/>
              </a:rPr>
              <a:t>Traffic visibility depended on the active interface. During testing, enp0s8 showed live TCP traffic while enp0s3 showed mainly broadcast traffic.</a:t>
            </a:r>
            <a:endParaRPr lang="en-US" sz="1050" dirty="0"/>
          </a:p>
        </p:txBody>
      </p:sp>
      <p:sp>
        <p:nvSpPr>
          <p:cNvPr id="30" name="Shape 27"/>
          <p:cNvSpPr/>
          <p:nvPr/>
        </p:nvSpPr>
        <p:spPr>
          <a:xfrm>
            <a:off x="6675120" y="4754880"/>
            <a:ext cx="4617720" cy="868680"/>
          </a:xfrm>
          <a:prstGeom prst="roundRect">
            <a:avLst>
              <a:gd name="adj" fmla="val 12632"/>
            </a:avLst>
          </a:prstGeom>
          <a:solidFill>
            <a:srgbClr val="0D1B2A">
              <a:alpha val="96000"/>
            </a:srgbClr>
          </a:solidFill>
          <a:ln w="12700">
            <a:solidFill>
              <a:srgbClr val="233548">
                <a:alpha val="95000"/>
              </a:srgbClr>
            </a:solidFill>
            <a:prstDash val="solid"/>
          </a:ln>
          <a:effectLst>
            <a:outerShdw blurRad="38100" dist="12700" dir="2700000" algn="bl" rotWithShape="0">
              <a:srgbClr val="000000">
                <a:alpha val="22000"/>
              </a:srgbClr>
            </a:outerShdw>
          </a:effectLst>
        </p:spPr>
      </p:sp>
      <p:sp>
        <p:nvSpPr>
          <p:cNvPr id="31" name="Shape 28"/>
          <p:cNvSpPr/>
          <p:nvPr/>
        </p:nvSpPr>
        <p:spPr>
          <a:xfrm>
            <a:off x="6675120" y="4754880"/>
            <a:ext cx="73152" cy="868680"/>
          </a:xfrm>
          <a:prstGeom prst="rect">
            <a:avLst/>
          </a:prstGeom>
          <a:solidFill>
            <a:srgbClr val="4DFF8F"/>
          </a:solidFill>
          <a:ln w="12700">
            <a:solidFill>
              <a:srgbClr val="4DFF8F"/>
            </a:solidFill>
            <a:prstDash val="solid"/>
          </a:ln>
        </p:spPr>
      </p:sp>
      <p:sp>
        <p:nvSpPr>
          <p:cNvPr id="32" name="Text 29"/>
          <p:cNvSpPr/>
          <p:nvPr/>
        </p:nvSpPr>
        <p:spPr>
          <a:xfrm>
            <a:off x="6903720" y="4919472"/>
            <a:ext cx="4270248" cy="228600"/>
          </a:xfrm>
          <a:prstGeom prst="rect">
            <a:avLst/>
          </a:prstGeom>
          <a:noFill/>
        </p:spPr>
        <p:txBody>
          <a:bodyPr wrap="square" lIns="0" tIns="0" rIns="0" bIns="0" rtlCol="0" anchor="ctr"/>
          <a:lstStyle/>
          <a:p>
            <a:pPr marL="0" indent="0">
              <a:buNone/>
            </a:pPr>
            <a:r>
              <a:rPr lang="en-US" sz="1200" b="1" dirty="0">
                <a:solidFill>
                  <a:srgbClr val="4DFF8F"/>
                </a:solidFill>
                <a:latin typeface="Aptos Display" pitchFamily="34" charset="0"/>
                <a:ea typeface="Aptos Display" pitchFamily="34" charset="-122"/>
                <a:cs typeface="Aptos Display" pitchFamily="34" charset="-120"/>
              </a:rPr>
              <a:t>Defence </a:t>
            </a:r>
            <a:endParaRPr lang="en-US" sz="1200" dirty="0"/>
          </a:p>
        </p:txBody>
      </p:sp>
      <p:sp>
        <p:nvSpPr>
          <p:cNvPr id="33" name="Text 30"/>
          <p:cNvSpPr/>
          <p:nvPr/>
        </p:nvSpPr>
        <p:spPr>
          <a:xfrm>
            <a:off x="6903720" y="5230368"/>
            <a:ext cx="4270248" cy="301752"/>
          </a:xfrm>
          <a:prstGeom prst="rect">
            <a:avLst/>
          </a:prstGeom>
          <a:noFill/>
        </p:spPr>
        <p:txBody>
          <a:bodyPr wrap="square" lIns="254" tIns="254" rIns="254" bIns="254" rtlCol="0" anchor="t">
            <a:normAutofit/>
          </a:bodyPr>
          <a:lstStyle/>
          <a:p>
            <a:pPr marL="0" indent="0">
              <a:buNone/>
            </a:pPr>
            <a:r>
              <a:rPr lang="en-US" sz="1050" dirty="0">
                <a:solidFill>
                  <a:srgbClr val="F8FAFC"/>
                </a:solidFill>
                <a:latin typeface="Aptos" pitchFamily="34" charset="0"/>
                <a:ea typeface="Aptos" pitchFamily="34" charset="-122"/>
                <a:cs typeface="Aptos" pitchFamily="34" charset="-120"/>
              </a:rPr>
              <a:t>I identified the active interface before analyzing traffic to ensure the monitoring system captured relevant packets.</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50B1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50B12"/>
          </a:solidFill>
          <a:ln w="12700">
            <a:solidFill>
              <a:srgbClr val="050B12"/>
            </a:solidFill>
            <a:prstDash val="solid"/>
          </a:ln>
        </p:spPr>
      </p:sp>
      <p:sp>
        <p:nvSpPr>
          <p:cNvPr id="3" name="Shape 1"/>
          <p:cNvSpPr/>
          <p:nvPr/>
        </p:nvSpPr>
        <p:spPr>
          <a:xfrm>
            <a:off x="0" y="0"/>
            <a:ext cx="12191695" cy="475488"/>
          </a:xfrm>
          <a:prstGeom prst="rect">
            <a:avLst/>
          </a:prstGeom>
          <a:solidFill>
            <a:srgbClr val="091523"/>
          </a:solidFill>
          <a:ln w="12700">
            <a:solidFill>
              <a:srgbClr val="091523"/>
            </a:solidFill>
            <a:prstDash val="solid"/>
          </a:ln>
        </p:spPr>
      </p:sp>
      <p:sp>
        <p:nvSpPr>
          <p:cNvPr id="4" name="Shape 2"/>
          <p:cNvSpPr/>
          <p:nvPr/>
        </p:nvSpPr>
        <p:spPr>
          <a:xfrm>
            <a:off x="0" y="475488"/>
            <a:ext cx="12191695" cy="22860"/>
          </a:xfrm>
          <a:prstGeom prst="rect">
            <a:avLst/>
          </a:prstGeom>
          <a:solidFill>
            <a:srgbClr val="2FF3E0">
              <a:alpha val="90000"/>
            </a:srgbClr>
          </a:solidFill>
          <a:ln w="12700">
            <a:solidFill>
              <a:srgbClr val="2FF3E0"/>
            </a:solidFill>
            <a:prstDash val="solid"/>
          </a:ln>
        </p:spPr>
      </p:sp>
      <p:sp>
        <p:nvSpPr>
          <p:cNvPr id="6" name="Text 4"/>
          <p:cNvSpPr/>
          <p:nvPr/>
        </p:nvSpPr>
        <p:spPr>
          <a:xfrm>
            <a:off x="11384280" y="100584"/>
            <a:ext cx="347472" cy="256032"/>
          </a:xfrm>
          <a:prstGeom prst="rect">
            <a:avLst/>
          </a:prstGeom>
          <a:noFill/>
        </p:spPr>
        <p:txBody>
          <a:bodyPr wrap="square" lIns="0" tIns="0" rIns="0" bIns="0" rtlCol="0" anchor="ctr"/>
          <a:lstStyle/>
          <a:p>
            <a:pPr marL="0" indent="0" algn="r">
              <a:buNone/>
            </a:pPr>
            <a:r>
              <a:rPr lang="en-US" sz="1000" b="1" dirty="0">
                <a:solidFill>
                  <a:srgbClr val="9FB2C8"/>
                </a:solidFill>
                <a:latin typeface="Aptos Display" pitchFamily="34" charset="0"/>
                <a:ea typeface="Aptos Display" pitchFamily="34" charset="-122"/>
                <a:cs typeface="Aptos Display" pitchFamily="34" charset="-120"/>
              </a:rPr>
              <a:t>09</a:t>
            </a:r>
            <a:endParaRPr lang="en-US" sz="1000" dirty="0"/>
          </a:p>
        </p:txBody>
      </p:sp>
      <p:sp>
        <p:nvSpPr>
          <p:cNvPr id="7" name="Text 5"/>
          <p:cNvSpPr/>
          <p:nvPr/>
        </p:nvSpPr>
        <p:spPr>
          <a:xfrm>
            <a:off x="502920" y="713232"/>
            <a:ext cx="10607040" cy="329184"/>
          </a:xfrm>
          <a:prstGeom prst="rect">
            <a:avLst/>
          </a:prstGeom>
          <a:noFill/>
        </p:spPr>
        <p:txBody>
          <a:bodyPr wrap="square" lIns="0" tIns="0" rIns="0" bIns="0" rtlCol="0" anchor="ctr"/>
          <a:lstStyle/>
          <a:p>
            <a:pPr marL="0" indent="0">
              <a:buNone/>
            </a:pPr>
            <a:r>
              <a:rPr lang="en-US" sz="2200" b="1" dirty="0">
                <a:solidFill>
                  <a:srgbClr val="F8FAFC"/>
                </a:solidFill>
                <a:latin typeface="Aptos Display" pitchFamily="34" charset="0"/>
                <a:ea typeface="Aptos Display" pitchFamily="34" charset="-122"/>
                <a:cs typeface="Aptos Display" pitchFamily="34" charset="-120"/>
              </a:rPr>
              <a:t>Step 2 — Suricata Deployment</a:t>
            </a:r>
            <a:endParaRPr lang="en-US" sz="2200" dirty="0"/>
          </a:p>
        </p:txBody>
      </p:sp>
      <p:sp>
        <p:nvSpPr>
          <p:cNvPr id="8" name="Shape 6"/>
          <p:cNvSpPr/>
          <p:nvPr/>
        </p:nvSpPr>
        <p:spPr>
          <a:xfrm>
            <a:off x="274320" y="1965960"/>
            <a:ext cx="11658600" cy="0"/>
          </a:xfrm>
          <a:prstGeom prst="line">
            <a:avLst/>
          </a:prstGeom>
          <a:noFill/>
          <a:ln w="6350">
            <a:solidFill>
              <a:srgbClr val="233548">
                <a:alpha val="22000"/>
              </a:srgbClr>
            </a:solidFill>
            <a:prstDash val="solid"/>
          </a:ln>
        </p:spPr>
      </p:sp>
      <p:sp>
        <p:nvSpPr>
          <p:cNvPr id="9" name="Shape 7"/>
          <p:cNvSpPr/>
          <p:nvPr/>
        </p:nvSpPr>
        <p:spPr>
          <a:xfrm>
            <a:off x="274320" y="2697480"/>
            <a:ext cx="11658600" cy="0"/>
          </a:xfrm>
          <a:prstGeom prst="line">
            <a:avLst/>
          </a:prstGeom>
          <a:noFill/>
          <a:ln w="6350">
            <a:solidFill>
              <a:srgbClr val="233548">
                <a:alpha val="22000"/>
              </a:srgbClr>
            </a:solidFill>
            <a:prstDash val="solid"/>
          </a:ln>
        </p:spPr>
      </p:sp>
      <p:sp>
        <p:nvSpPr>
          <p:cNvPr id="10" name="Shape 8"/>
          <p:cNvSpPr/>
          <p:nvPr/>
        </p:nvSpPr>
        <p:spPr>
          <a:xfrm>
            <a:off x="274320" y="3429000"/>
            <a:ext cx="11658600" cy="0"/>
          </a:xfrm>
          <a:prstGeom prst="line">
            <a:avLst/>
          </a:prstGeom>
          <a:noFill/>
          <a:ln w="6350">
            <a:solidFill>
              <a:srgbClr val="233548">
                <a:alpha val="22000"/>
              </a:srgbClr>
            </a:solidFill>
            <a:prstDash val="solid"/>
          </a:ln>
        </p:spPr>
      </p:sp>
      <p:sp>
        <p:nvSpPr>
          <p:cNvPr id="11" name="Shape 9"/>
          <p:cNvSpPr/>
          <p:nvPr/>
        </p:nvSpPr>
        <p:spPr>
          <a:xfrm>
            <a:off x="274320" y="4160520"/>
            <a:ext cx="11658600" cy="0"/>
          </a:xfrm>
          <a:prstGeom prst="line">
            <a:avLst/>
          </a:prstGeom>
          <a:noFill/>
          <a:ln w="6350">
            <a:solidFill>
              <a:srgbClr val="233548">
                <a:alpha val="22000"/>
              </a:srgbClr>
            </a:solidFill>
            <a:prstDash val="solid"/>
          </a:ln>
        </p:spPr>
      </p:sp>
      <p:sp>
        <p:nvSpPr>
          <p:cNvPr id="12" name="Shape 10"/>
          <p:cNvSpPr/>
          <p:nvPr/>
        </p:nvSpPr>
        <p:spPr>
          <a:xfrm>
            <a:off x="274320" y="4892040"/>
            <a:ext cx="11658600" cy="0"/>
          </a:xfrm>
          <a:prstGeom prst="line">
            <a:avLst/>
          </a:prstGeom>
          <a:noFill/>
          <a:ln w="6350">
            <a:solidFill>
              <a:srgbClr val="233548">
                <a:alpha val="22000"/>
              </a:srgbClr>
            </a:solidFill>
            <a:prstDash val="solid"/>
          </a:ln>
        </p:spPr>
      </p:sp>
      <p:sp>
        <p:nvSpPr>
          <p:cNvPr id="13" name="Shape 11"/>
          <p:cNvSpPr/>
          <p:nvPr/>
        </p:nvSpPr>
        <p:spPr>
          <a:xfrm>
            <a:off x="274320" y="5623560"/>
            <a:ext cx="11658600" cy="0"/>
          </a:xfrm>
          <a:prstGeom prst="line">
            <a:avLst/>
          </a:prstGeom>
          <a:noFill/>
          <a:ln w="6350">
            <a:solidFill>
              <a:srgbClr val="233548">
                <a:alpha val="22000"/>
              </a:srgbClr>
            </a:solidFill>
            <a:prstDash val="solid"/>
          </a:ln>
        </p:spPr>
      </p:sp>
      <p:sp>
        <p:nvSpPr>
          <p:cNvPr id="14" name="Shape 12"/>
          <p:cNvSpPr/>
          <p:nvPr/>
        </p:nvSpPr>
        <p:spPr>
          <a:xfrm>
            <a:off x="0" y="6611112"/>
            <a:ext cx="12191695" cy="246888"/>
          </a:xfrm>
          <a:prstGeom prst="rect">
            <a:avLst/>
          </a:prstGeom>
          <a:solidFill>
            <a:srgbClr val="03070C"/>
          </a:solidFill>
          <a:ln w="12700">
            <a:solidFill>
              <a:srgbClr val="03070C"/>
            </a:solidFill>
            <a:prstDash val="solid"/>
          </a:ln>
        </p:spPr>
      </p:sp>
      <p:sp>
        <p:nvSpPr>
          <p:cNvPr id="17" name="Shape 15"/>
          <p:cNvSpPr/>
          <p:nvPr/>
        </p:nvSpPr>
        <p:spPr>
          <a:xfrm>
            <a:off x="685800" y="1371600"/>
            <a:ext cx="5715000" cy="4069080"/>
          </a:xfrm>
          <a:prstGeom prst="roundRect">
            <a:avLst>
              <a:gd name="adj" fmla="val 2697"/>
            </a:avLst>
          </a:prstGeom>
          <a:solidFill>
            <a:srgbClr val="06101B"/>
          </a:solidFill>
          <a:ln w="12700">
            <a:solidFill>
              <a:srgbClr val="2FF3E0">
                <a:alpha val="65000"/>
              </a:srgbClr>
            </a:solidFill>
            <a:prstDash val="solid"/>
          </a:ln>
        </p:spPr>
      </p:sp>
      <p:pic>
        <p:nvPicPr>
          <p:cNvPr id="18" name="Image 0" descr="/mnt/data/943657d6-4486-4db8-8759-aa0e3bc5e7da.png"/>
          <p:cNvPicPr>
            <a:picLocks noChangeAspect="1"/>
          </p:cNvPicPr>
          <p:nvPr/>
        </p:nvPicPr>
        <p:blipFill>
          <a:blip r:embed="rId1"/>
          <a:srcRect l="34575" r="34575"/>
          <a:stretch>
            <a:fillRect/>
          </a:stretch>
        </p:blipFill>
        <p:spPr>
          <a:xfrm>
            <a:off x="731520" y="1417320"/>
            <a:ext cx="5623560" cy="3977640"/>
          </a:xfrm>
          <a:prstGeom prst="rect">
            <a:avLst/>
          </a:prstGeom>
        </p:spPr>
      </p:pic>
      <p:sp>
        <p:nvSpPr>
          <p:cNvPr id="19" name="Text 16"/>
          <p:cNvSpPr/>
          <p:nvPr/>
        </p:nvSpPr>
        <p:spPr>
          <a:xfrm>
            <a:off x="731520" y="5468112"/>
            <a:ext cx="5623560" cy="201168"/>
          </a:xfrm>
          <a:prstGeom prst="rect">
            <a:avLst/>
          </a:prstGeom>
          <a:noFill/>
        </p:spPr>
        <p:txBody>
          <a:bodyPr wrap="square" lIns="0" tIns="0" rIns="0" bIns="0" rtlCol="0" anchor="ctr"/>
          <a:lstStyle/>
          <a:p>
            <a:pPr marL="0" indent="0" algn="ctr">
              <a:buNone/>
            </a:pPr>
            <a:r>
              <a:rPr lang="en-US" sz="850" i="1" dirty="0">
                <a:solidFill>
                  <a:srgbClr val="9FB2C8"/>
                </a:solidFill>
              </a:rPr>
              <a:t>Suricata fast.log showing IDS log output during testing</a:t>
            </a:r>
            <a:endParaRPr lang="en-US" sz="850" dirty="0"/>
          </a:p>
        </p:txBody>
      </p:sp>
      <p:sp>
        <p:nvSpPr>
          <p:cNvPr id="20" name="Shape 17"/>
          <p:cNvSpPr/>
          <p:nvPr/>
        </p:nvSpPr>
        <p:spPr>
          <a:xfrm>
            <a:off x="6720840" y="1600200"/>
            <a:ext cx="4480560" cy="1783080"/>
          </a:xfrm>
          <a:prstGeom prst="roundRect">
            <a:avLst>
              <a:gd name="adj" fmla="val 4103"/>
            </a:avLst>
          </a:prstGeom>
          <a:solidFill>
            <a:srgbClr val="020817"/>
          </a:solidFill>
          <a:ln w="12700">
            <a:solidFill>
              <a:srgbClr val="233548"/>
            </a:solidFill>
            <a:prstDash val="solid"/>
          </a:ln>
        </p:spPr>
      </p:sp>
      <p:sp>
        <p:nvSpPr>
          <p:cNvPr id="21" name="Text 18"/>
          <p:cNvSpPr/>
          <p:nvPr/>
        </p:nvSpPr>
        <p:spPr>
          <a:xfrm>
            <a:off x="6885432" y="1746504"/>
            <a:ext cx="4151376" cy="1490472"/>
          </a:xfrm>
          <a:prstGeom prst="rect">
            <a:avLst/>
          </a:prstGeom>
          <a:noFill/>
        </p:spPr>
        <p:txBody>
          <a:bodyPr wrap="square" lIns="127" tIns="127" rIns="127" bIns="127" rtlCol="0" anchor="ctr">
            <a:normAutofit/>
          </a:bodyPr>
          <a:lstStyle/>
          <a:p>
            <a:pPr marL="0" indent="0">
              <a:buNone/>
            </a:pPr>
            <a:r>
              <a:rPr lang="en-US" sz="1200" dirty="0">
                <a:solidFill>
                  <a:srgbClr val="4DFF8F"/>
                </a:solidFill>
                <a:latin typeface="Cascadia Mono" pitchFamily="34" charset="0"/>
                <a:ea typeface="Cascadia Mono" pitchFamily="34" charset="-122"/>
                <a:cs typeface="Cascadia Mono" pitchFamily="34" charset="-120"/>
              </a:rPr>
              <a:t>sudo apt install suricata -y</a:t>
            </a:r>
            <a:endParaRPr lang="en-US" sz="1200" dirty="0"/>
          </a:p>
          <a:p>
            <a:pPr marL="0" indent="0">
              <a:buNone/>
            </a:pPr>
            <a:r>
              <a:rPr lang="en-US" sz="1200" dirty="0">
                <a:solidFill>
                  <a:srgbClr val="4DFF8F"/>
                </a:solidFill>
                <a:latin typeface="Cascadia Mono" pitchFamily="34" charset="0"/>
                <a:ea typeface="Cascadia Mono" pitchFamily="34" charset="-122"/>
                <a:cs typeface="Cascadia Mono" pitchFamily="34" charset="-120"/>
              </a:rPr>
              <a:t>suricata --build-info</a:t>
            </a:r>
            <a:endParaRPr lang="en-US" sz="1200" dirty="0"/>
          </a:p>
          <a:p>
            <a:pPr marL="0" indent="0">
              <a:buNone/>
            </a:pPr>
            <a:r>
              <a:rPr lang="en-US" sz="1200" dirty="0">
                <a:solidFill>
                  <a:srgbClr val="4DFF8F"/>
                </a:solidFill>
                <a:latin typeface="Cascadia Mono" pitchFamily="34" charset="0"/>
                <a:ea typeface="Cascadia Mono" pitchFamily="34" charset="-122"/>
                <a:cs typeface="Cascadia Mono" pitchFamily="34" charset="-120"/>
              </a:rPr>
              <a:t>sudo suricata -c /etc/suricata/suricata.yaml -i &lt;interface&gt;</a:t>
            </a:r>
            <a:endParaRPr lang="en-US" sz="1200" dirty="0"/>
          </a:p>
          <a:p>
            <a:pPr marL="0" indent="0">
              <a:buNone/>
            </a:pPr>
            <a:r>
              <a:rPr lang="en-US" sz="1200" dirty="0">
                <a:solidFill>
                  <a:srgbClr val="4DFF8F"/>
                </a:solidFill>
                <a:latin typeface="Cascadia Mono" pitchFamily="34" charset="0"/>
                <a:ea typeface="Cascadia Mono" pitchFamily="34" charset="-122"/>
                <a:cs typeface="Cascadia Mono" pitchFamily="34" charset="-120"/>
              </a:rPr>
              <a:t>sudo tail -f /var/log/suricata/fast.log</a:t>
            </a:r>
            <a:endParaRPr lang="en-US" sz="1200" dirty="0"/>
          </a:p>
        </p:txBody>
      </p:sp>
      <p:sp>
        <p:nvSpPr>
          <p:cNvPr id="22" name="Shape 19"/>
          <p:cNvSpPr/>
          <p:nvPr/>
        </p:nvSpPr>
        <p:spPr>
          <a:xfrm>
            <a:off x="6720840" y="3886200"/>
            <a:ext cx="4480560" cy="1051560"/>
          </a:xfrm>
          <a:prstGeom prst="roundRect">
            <a:avLst>
              <a:gd name="adj" fmla="val 10435"/>
            </a:avLst>
          </a:prstGeom>
          <a:solidFill>
            <a:srgbClr val="0D1B2A">
              <a:alpha val="96000"/>
            </a:srgbClr>
          </a:solidFill>
          <a:ln w="12700">
            <a:solidFill>
              <a:srgbClr val="233548">
                <a:alpha val="95000"/>
              </a:srgbClr>
            </a:solidFill>
            <a:prstDash val="solid"/>
          </a:ln>
          <a:effectLst>
            <a:outerShdw blurRad="38100" dist="12700" dir="2700000" algn="bl" rotWithShape="0">
              <a:srgbClr val="000000">
                <a:alpha val="22000"/>
              </a:srgbClr>
            </a:outerShdw>
          </a:effectLst>
        </p:spPr>
      </p:sp>
      <p:sp>
        <p:nvSpPr>
          <p:cNvPr id="23" name="Shape 20"/>
          <p:cNvSpPr/>
          <p:nvPr/>
        </p:nvSpPr>
        <p:spPr>
          <a:xfrm>
            <a:off x="6720840" y="3886200"/>
            <a:ext cx="73152" cy="1051560"/>
          </a:xfrm>
          <a:prstGeom prst="rect">
            <a:avLst/>
          </a:prstGeom>
          <a:solidFill>
            <a:srgbClr val="4DFF8F"/>
          </a:solidFill>
          <a:ln w="12700">
            <a:solidFill>
              <a:srgbClr val="4DFF8F"/>
            </a:solidFill>
            <a:prstDash val="solid"/>
          </a:ln>
        </p:spPr>
      </p:sp>
      <p:sp>
        <p:nvSpPr>
          <p:cNvPr id="24" name="Text 21"/>
          <p:cNvSpPr/>
          <p:nvPr/>
        </p:nvSpPr>
        <p:spPr>
          <a:xfrm>
            <a:off x="6949440" y="4050792"/>
            <a:ext cx="4133088" cy="228600"/>
          </a:xfrm>
          <a:prstGeom prst="rect">
            <a:avLst/>
          </a:prstGeom>
          <a:noFill/>
        </p:spPr>
        <p:txBody>
          <a:bodyPr wrap="square" lIns="0" tIns="0" rIns="0" bIns="0" rtlCol="0" anchor="ctr"/>
          <a:lstStyle/>
          <a:p>
            <a:pPr marL="0" indent="0">
              <a:buNone/>
            </a:pPr>
            <a:r>
              <a:rPr lang="en-US" sz="1200" b="1" dirty="0">
                <a:solidFill>
                  <a:srgbClr val="4DFF8F"/>
                </a:solidFill>
                <a:latin typeface="Aptos Display" pitchFamily="34" charset="0"/>
                <a:ea typeface="Aptos Display" pitchFamily="34" charset="-122"/>
                <a:cs typeface="Aptos Display" pitchFamily="34" charset="-120"/>
              </a:rPr>
              <a:t>Analysis</a:t>
            </a:r>
            <a:endParaRPr lang="en-US" sz="1200" dirty="0"/>
          </a:p>
        </p:txBody>
      </p:sp>
      <p:sp>
        <p:nvSpPr>
          <p:cNvPr id="25" name="Text 22"/>
          <p:cNvSpPr/>
          <p:nvPr/>
        </p:nvSpPr>
        <p:spPr>
          <a:xfrm>
            <a:off x="6949440" y="4361688"/>
            <a:ext cx="4133088" cy="484632"/>
          </a:xfrm>
          <a:prstGeom prst="rect">
            <a:avLst/>
          </a:prstGeom>
          <a:noFill/>
        </p:spPr>
        <p:txBody>
          <a:bodyPr wrap="square" lIns="254" tIns="254" rIns="254" bIns="254" rtlCol="0" anchor="t">
            <a:normAutofit/>
          </a:bodyPr>
          <a:lstStyle/>
          <a:p>
            <a:pPr marL="0" indent="0">
              <a:buNone/>
            </a:pPr>
            <a:r>
              <a:rPr lang="en-US" sz="1050" dirty="0">
                <a:solidFill>
                  <a:srgbClr val="F8FAFC"/>
                </a:solidFill>
                <a:latin typeface="Aptos" pitchFamily="34" charset="0"/>
                <a:ea typeface="Aptos" pitchFamily="34" charset="-122"/>
                <a:cs typeface="Aptos" pitchFamily="34" charset="-120"/>
              </a:rPr>
              <a:t>Suricata was deployed as the NIDS engine. Initial logs confirmed the engine was producing alerts and recording traffic events.</a:t>
            </a:r>
            <a:endParaRPr lang="en-US" sz="1050" dirty="0"/>
          </a:p>
        </p:txBody>
      </p:sp>
      <p:sp>
        <p:nvSpPr>
          <p:cNvPr id="26" name="Shape 23"/>
          <p:cNvSpPr/>
          <p:nvPr/>
        </p:nvSpPr>
        <p:spPr>
          <a:xfrm>
            <a:off x="6793865" y="5225415"/>
            <a:ext cx="4480560" cy="685800"/>
          </a:xfrm>
          <a:prstGeom prst="roundRect">
            <a:avLst>
              <a:gd name="adj" fmla="val 16000"/>
            </a:avLst>
          </a:prstGeom>
          <a:solidFill>
            <a:srgbClr val="0D1B2A">
              <a:alpha val="96000"/>
            </a:srgbClr>
          </a:solidFill>
          <a:ln w="12700">
            <a:solidFill>
              <a:srgbClr val="233548">
                <a:alpha val="95000"/>
              </a:srgbClr>
            </a:solidFill>
            <a:prstDash val="solid"/>
          </a:ln>
          <a:effectLst>
            <a:outerShdw blurRad="38100" dist="12700" dir="2700000" algn="bl" rotWithShape="0">
              <a:srgbClr val="000000">
                <a:alpha val="22000"/>
              </a:srgbClr>
            </a:outerShdw>
          </a:effectLst>
        </p:spPr>
      </p:sp>
      <p:sp>
        <p:nvSpPr>
          <p:cNvPr id="27" name="Shape 24"/>
          <p:cNvSpPr/>
          <p:nvPr/>
        </p:nvSpPr>
        <p:spPr>
          <a:xfrm>
            <a:off x="6720840" y="5257800"/>
            <a:ext cx="73152" cy="685800"/>
          </a:xfrm>
          <a:prstGeom prst="rect">
            <a:avLst/>
          </a:prstGeom>
          <a:solidFill>
            <a:srgbClr val="2FF3E0"/>
          </a:solidFill>
          <a:ln w="12700">
            <a:solidFill>
              <a:srgbClr val="2FF3E0"/>
            </a:solidFill>
            <a:prstDash val="solid"/>
          </a:ln>
        </p:spPr>
      </p:sp>
      <p:sp>
        <p:nvSpPr>
          <p:cNvPr id="28" name="Text 25"/>
          <p:cNvSpPr/>
          <p:nvPr/>
        </p:nvSpPr>
        <p:spPr>
          <a:xfrm>
            <a:off x="6885305" y="5348605"/>
            <a:ext cx="4133215" cy="193040"/>
          </a:xfrm>
          <a:prstGeom prst="rect">
            <a:avLst/>
          </a:prstGeom>
          <a:noFill/>
        </p:spPr>
        <p:txBody>
          <a:bodyPr wrap="square" lIns="0" tIns="0" rIns="0" bIns="0" rtlCol="0" anchor="ctr"/>
          <a:lstStyle/>
          <a:p>
            <a:pPr marL="0" indent="0">
              <a:buNone/>
            </a:pPr>
            <a:r>
              <a:rPr lang="en-US" sz="1200" b="1" dirty="0">
                <a:solidFill>
                  <a:srgbClr val="2FF3E0"/>
                </a:solidFill>
                <a:latin typeface="Aptos Display" pitchFamily="34" charset="0"/>
                <a:ea typeface="Aptos Display" pitchFamily="34" charset="-122"/>
                <a:cs typeface="Aptos Display" pitchFamily="34" charset="-120"/>
              </a:rPr>
              <a:t>SOC relevance</a:t>
            </a:r>
            <a:endParaRPr lang="en-US" sz="1200" dirty="0"/>
          </a:p>
        </p:txBody>
      </p:sp>
      <p:sp>
        <p:nvSpPr>
          <p:cNvPr id="29" name="Text 26"/>
          <p:cNvSpPr/>
          <p:nvPr/>
        </p:nvSpPr>
        <p:spPr>
          <a:xfrm>
            <a:off x="6885305" y="5649595"/>
            <a:ext cx="4133215" cy="249555"/>
          </a:xfrm>
          <a:prstGeom prst="rect">
            <a:avLst/>
          </a:prstGeom>
          <a:noFill/>
        </p:spPr>
        <p:txBody>
          <a:bodyPr wrap="square" lIns="254" tIns="254" rIns="254" bIns="254" rtlCol="0" anchor="t">
            <a:normAutofit fontScale="80000"/>
          </a:bodyPr>
          <a:lstStyle/>
          <a:p>
            <a:pPr marL="0" indent="0">
              <a:buNone/>
            </a:pPr>
            <a:r>
              <a:rPr lang="en-US" sz="1050" dirty="0">
                <a:solidFill>
                  <a:srgbClr val="F8FAFC"/>
                </a:solidFill>
                <a:latin typeface="Aptos" pitchFamily="34" charset="0"/>
                <a:ea typeface="Aptos" pitchFamily="34" charset="-122"/>
                <a:cs typeface="Aptos" pitchFamily="34" charset="-120"/>
              </a:rPr>
              <a:t>Security teams use IDS logs to triage suspicious network events and begin investigation.</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50B1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50B12"/>
          </a:solidFill>
          <a:ln w="12700">
            <a:solidFill>
              <a:srgbClr val="050B12"/>
            </a:solidFill>
            <a:prstDash val="solid"/>
          </a:ln>
        </p:spPr>
        <p:txBody>
          <a:bodyPr/>
          <a:p>
            <a:endParaRPr lang="en-US"/>
          </a:p>
        </p:txBody>
      </p:sp>
      <p:sp>
        <p:nvSpPr>
          <p:cNvPr id="3" name="Shape 1"/>
          <p:cNvSpPr/>
          <p:nvPr/>
        </p:nvSpPr>
        <p:spPr>
          <a:xfrm>
            <a:off x="0" y="0"/>
            <a:ext cx="12191695" cy="475488"/>
          </a:xfrm>
          <a:prstGeom prst="rect">
            <a:avLst/>
          </a:prstGeom>
          <a:solidFill>
            <a:srgbClr val="091523"/>
          </a:solidFill>
          <a:ln w="12700">
            <a:solidFill>
              <a:srgbClr val="091523"/>
            </a:solidFill>
            <a:prstDash val="solid"/>
          </a:ln>
        </p:spPr>
      </p:sp>
      <p:sp>
        <p:nvSpPr>
          <p:cNvPr id="4" name="Shape 2"/>
          <p:cNvSpPr/>
          <p:nvPr/>
        </p:nvSpPr>
        <p:spPr>
          <a:xfrm>
            <a:off x="0" y="475488"/>
            <a:ext cx="12191695" cy="22860"/>
          </a:xfrm>
          <a:prstGeom prst="rect">
            <a:avLst/>
          </a:prstGeom>
          <a:solidFill>
            <a:srgbClr val="2FF3E0">
              <a:alpha val="90000"/>
            </a:srgbClr>
          </a:solidFill>
          <a:ln w="12700">
            <a:solidFill>
              <a:srgbClr val="2FF3E0"/>
            </a:solidFill>
            <a:prstDash val="solid"/>
          </a:ln>
        </p:spPr>
      </p:sp>
      <p:sp>
        <p:nvSpPr>
          <p:cNvPr id="6" name="Text 4"/>
          <p:cNvSpPr/>
          <p:nvPr/>
        </p:nvSpPr>
        <p:spPr>
          <a:xfrm>
            <a:off x="11384280" y="100584"/>
            <a:ext cx="347472" cy="256032"/>
          </a:xfrm>
          <a:prstGeom prst="rect">
            <a:avLst/>
          </a:prstGeom>
          <a:noFill/>
        </p:spPr>
        <p:txBody>
          <a:bodyPr wrap="square" lIns="0" tIns="0" rIns="0" bIns="0" rtlCol="0" anchor="ctr"/>
          <a:lstStyle/>
          <a:p>
            <a:pPr marL="0" indent="0" algn="r">
              <a:buNone/>
            </a:pPr>
            <a:r>
              <a:rPr lang="en-US" sz="1000" b="1" dirty="0">
                <a:solidFill>
                  <a:srgbClr val="9FB2C8"/>
                </a:solidFill>
                <a:latin typeface="Aptos Display" pitchFamily="34" charset="0"/>
                <a:ea typeface="Aptos Display" pitchFamily="34" charset="-122"/>
                <a:cs typeface="Aptos Display" pitchFamily="34" charset="-120"/>
              </a:rPr>
              <a:t>10</a:t>
            </a:r>
            <a:endParaRPr lang="en-US" sz="1000" dirty="0"/>
          </a:p>
        </p:txBody>
      </p:sp>
      <p:sp>
        <p:nvSpPr>
          <p:cNvPr id="7" name="Text 5"/>
          <p:cNvSpPr/>
          <p:nvPr/>
        </p:nvSpPr>
        <p:spPr>
          <a:xfrm>
            <a:off x="502920" y="713232"/>
            <a:ext cx="10607040" cy="329184"/>
          </a:xfrm>
          <a:prstGeom prst="rect">
            <a:avLst/>
          </a:prstGeom>
          <a:noFill/>
        </p:spPr>
        <p:txBody>
          <a:bodyPr wrap="square" lIns="0" tIns="0" rIns="0" bIns="0" rtlCol="0" anchor="ctr"/>
          <a:lstStyle/>
          <a:p>
            <a:pPr marL="0" indent="0">
              <a:buNone/>
            </a:pPr>
            <a:r>
              <a:rPr lang="en-US" sz="2200" b="1" dirty="0">
                <a:solidFill>
                  <a:srgbClr val="F8FAFC"/>
                </a:solidFill>
                <a:latin typeface="Aptos Display" pitchFamily="34" charset="0"/>
                <a:ea typeface="Aptos Display" pitchFamily="34" charset="-122"/>
                <a:cs typeface="Aptos Display" pitchFamily="34" charset="-120"/>
              </a:rPr>
              <a:t>Step 3 — Interface Troubleshooting</a:t>
            </a:r>
            <a:endParaRPr lang="en-US" sz="2200" dirty="0"/>
          </a:p>
        </p:txBody>
      </p:sp>
      <p:sp>
        <p:nvSpPr>
          <p:cNvPr id="8" name="Shape 6"/>
          <p:cNvSpPr/>
          <p:nvPr/>
        </p:nvSpPr>
        <p:spPr>
          <a:xfrm>
            <a:off x="274320" y="1965960"/>
            <a:ext cx="11658600" cy="0"/>
          </a:xfrm>
          <a:prstGeom prst="line">
            <a:avLst/>
          </a:prstGeom>
          <a:noFill/>
          <a:ln w="6350">
            <a:solidFill>
              <a:srgbClr val="233548">
                <a:alpha val="22000"/>
              </a:srgbClr>
            </a:solidFill>
            <a:prstDash val="solid"/>
          </a:ln>
        </p:spPr>
      </p:sp>
      <p:sp>
        <p:nvSpPr>
          <p:cNvPr id="9" name="Shape 7"/>
          <p:cNvSpPr/>
          <p:nvPr/>
        </p:nvSpPr>
        <p:spPr>
          <a:xfrm>
            <a:off x="274320" y="2697480"/>
            <a:ext cx="11658600" cy="0"/>
          </a:xfrm>
          <a:prstGeom prst="line">
            <a:avLst/>
          </a:prstGeom>
          <a:noFill/>
          <a:ln w="6350">
            <a:solidFill>
              <a:srgbClr val="233548">
                <a:alpha val="22000"/>
              </a:srgbClr>
            </a:solidFill>
            <a:prstDash val="solid"/>
          </a:ln>
        </p:spPr>
      </p:sp>
      <p:sp>
        <p:nvSpPr>
          <p:cNvPr id="10" name="Shape 8"/>
          <p:cNvSpPr/>
          <p:nvPr/>
        </p:nvSpPr>
        <p:spPr>
          <a:xfrm>
            <a:off x="274320" y="3429000"/>
            <a:ext cx="11658600" cy="0"/>
          </a:xfrm>
          <a:prstGeom prst="line">
            <a:avLst/>
          </a:prstGeom>
          <a:noFill/>
          <a:ln w="6350">
            <a:solidFill>
              <a:srgbClr val="233548">
                <a:alpha val="22000"/>
              </a:srgbClr>
            </a:solidFill>
            <a:prstDash val="solid"/>
          </a:ln>
        </p:spPr>
      </p:sp>
      <p:sp>
        <p:nvSpPr>
          <p:cNvPr id="11" name="Shape 9"/>
          <p:cNvSpPr/>
          <p:nvPr/>
        </p:nvSpPr>
        <p:spPr>
          <a:xfrm>
            <a:off x="274320" y="4160520"/>
            <a:ext cx="11658600" cy="0"/>
          </a:xfrm>
          <a:prstGeom prst="line">
            <a:avLst/>
          </a:prstGeom>
          <a:noFill/>
          <a:ln w="6350">
            <a:solidFill>
              <a:srgbClr val="233548">
                <a:alpha val="22000"/>
              </a:srgbClr>
            </a:solidFill>
            <a:prstDash val="solid"/>
          </a:ln>
        </p:spPr>
      </p:sp>
      <p:sp>
        <p:nvSpPr>
          <p:cNvPr id="12" name="Shape 10"/>
          <p:cNvSpPr/>
          <p:nvPr/>
        </p:nvSpPr>
        <p:spPr>
          <a:xfrm>
            <a:off x="274320" y="4892040"/>
            <a:ext cx="11658600" cy="0"/>
          </a:xfrm>
          <a:prstGeom prst="line">
            <a:avLst/>
          </a:prstGeom>
          <a:noFill/>
          <a:ln w="6350">
            <a:solidFill>
              <a:srgbClr val="233548">
                <a:alpha val="22000"/>
              </a:srgbClr>
            </a:solidFill>
            <a:prstDash val="solid"/>
          </a:ln>
        </p:spPr>
      </p:sp>
      <p:sp>
        <p:nvSpPr>
          <p:cNvPr id="13" name="Shape 11"/>
          <p:cNvSpPr/>
          <p:nvPr/>
        </p:nvSpPr>
        <p:spPr>
          <a:xfrm>
            <a:off x="274320" y="5623560"/>
            <a:ext cx="11658600" cy="0"/>
          </a:xfrm>
          <a:prstGeom prst="line">
            <a:avLst/>
          </a:prstGeom>
          <a:noFill/>
          <a:ln w="6350">
            <a:solidFill>
              <a:srgbClr val="233548">
                <a:alpha val="22000"/>
              </a:srgbClr>
            </a:solidFill>
            <a:prstDash val="solid"/>
          </a:ln>
        </p:spPr>
      </p:sp>
      <p:sp>
        <p:nvSpPr>
          <p:cNvPr id="14" name="Shape 12"/>
          <p:cNvSpPr/>
          <p:nvPr/>
        </p:nvSpPr>
        <p:spPr>
          <a:xfrm>
            <a:off x="0" y="6611112"/>
            <a:ext cx="12191695" cy="246888"/>
          </a:xfrm>
          <a:prstGeom prst="rect">
            <a:avLst/>
          </a:prstGeom>
          <a:solidFill>
            <a:srgbClr val="03070C"/>
          </a:solidFill>
          <a:ln w="12700">
            <a:solidFill>
              <a:srgbClr val="03070C"/>
            </a:solidFill>
            <a:prstDash val="solid"/>
          </a:ln>
        </p:spPr>
      </p:sp>
      <p:sp>
        <p:nvSpPr>
          <p:cNvPr id="17" name="Shape 15"/>
          <p:cNvSpPr/>
          <p:nvPr/>
        </p:nvSpPr>
        <p:spPr>
          <a:xfrm>
            <a:off x="667512" y="1280160"/>
            <a:ext cx="5486400" cy="4526280"/>
          </a:xfrm>
          <a:prstGeom prst="roundRect">
            <a:avLst>
              <a:gd name="adj" fmla="val 2424"/>
            </a:avLst>
          </a:prstGeom>
          <a:solidFill>
            <a:srgbClr val="06101B"/>
          </a:solidFill>
          <a:ln w="12700">
            <a:solidFill>
              <a:srgbClr val="2FF3E0">
                <a:alpha val="65000"/>
              </a:srgbClr>
            </a:solidFill>
            <a:prstDash val="solid"/>
          </a:ln>
        </p:spPr>
      </p:sp>
      <p:pic>
        <p:nvPicPr>
          <p:cNvPr id="18" name="Image 0" descr="/mnt/data/3933ee92-f5cb-470a-bef1-87eebc2474fd.png"/>
          <p:cNvPicPr>
            <a:picLocks noChangeAspect="1"/>
          </p:cNvPicPr>
          <p:nvPr/>
        </p:nvPicPr>
        <p:blipFill>
          <a:blip r:embed="rId1"/>
          <a:srcRect t="6689" b="6689"/>
          <a:stretch>
            <a:fillRect/>
          </a:stretch>
        </p:blipFill>
        <p:spPr>
          <a:xfrm>
            <a:off x="713232" y="1325880"/>
            <a:ext cx="5394960" cy="4434840"/>
          </a:xfrm>
          <a:prstGeom prst="rect">
            <a:avLst/>
          </a:prstGeom>
        </p:spPr>
      </p:pic>
      <p:sp>
        <p:nvSpPr>
          <p:cNvPr id="19" name="Text 16"/>
          <p:cNvSpPr/>
          <p:nvPr/>
        </p:nvSpPr>
        <p:spPr>
          <a:xfrm>
            <a:off x="713232" y="5833872"/>
            <a:ext cx="5394960" cy="201168"/>
          </a:xfrm>
          <a:prstGeom prst="rect">
            <a:avLst/>
          </a:prstGeom>
          <a:noFill/>
        </p:spPr>
        <p:txBody>
          <a:bodyPr wrap="square" lIns="0" tIns="0" rIns="0" bIns="0" rtlCol="0" anchor="ctr"/>
          <a:lstStyle/>
          <a:p>
            <a:pPr marL="0" indent="0" algn="ctr">
              <a:buNone/>
            </a:pPr>
            <a:r>
              <a:rPr lang="en-US" sz="850" i="1" dirty="0">
                <a:solidFill>
                  <a:srgbClr val="9FB2C8"/>
                </a:solidFill>
              </a:rPr>
              <a:t>Wireshark interface selection screen</a:t>
            </a:r>
            <a:endParaRPr lang="en-US" sz="850" dirty="0"/>
          </a:p>
        </p:txBody>
      </p:sp>
      <p:sp>
        <p:nvSpPr>
          <p:cNvPr id="20" name="Shape 17"/>
          <p:cNvSpPr/>
          <p:nvPr/>
        </p:nvSpPr>
        <p:spPr>
          <a:xfrm>
            <a:off x="6446520" y="1325880"/>
            <a:ext cx="4892040" cy="1143000"/>
          </a:xfrm>
          <a:prstGeom prst="roundRect">
            <a:avLst>
              <a:gd name="adj" fmla="val 9600"/>
            </a:avLst>
          </a:prstGeom>
          <a:solidFill>
            <a:srgbClr val="0D1B2A">
              <a:alpha val="96000"/>
            </a:srgbClr>
          </a:solidFill>
          <a:ln w="12700">
            <a:solidFill>
              <a:srgbClr val="233548">
                <a:alpha val="95000"/>
              </a:srgbClr>
            </a:solidFill>
            <a:prstDash val="solid"/>
          </a:ln>
          <a:effectLst>
            <a:outerShdw blurRad="38100" dist="12700" dir="2700000" algn="bl" rotWithShape="0">
              <a:srgbClr val="000000">
                <a:alpha val="22000"/>
              </a:srgbClr>
            </a:outerShdw>
          </a:effectLst>
        </p:spPr>
      </p:sp>
      <p:sp>
        <p:nvSpPr>
          <p:cNvPr id="21" name="Shape 18"/>
          <p:cNvSpPr/>
          <p:nvPr/>
        </p:nvSpPr>
        <p:spPr>
          <a:xfrm>
            <a:off x="6446520" y="1325880"/>
            <a:ext cx="73152" cy="1143000"/>
          </a:xfrm>
          <a:prstGeom prst="rect">
            <a:avLst/>
          </a:prstGeom>
          <a:solidFill>
            <a:srgbClr val="FF4D6D"/>
          </a:solidFill>
          <a:ln w="12700">
            <a:solidFill>
              <a:srgbClr val="FF4D6D"/>
            </a:solidFill>
            <a:prstDash val="solid"/>
          </a:ln>
        </p:spPr>
      </p:sp>
      <p:sp>
        <p:nvSpPr>
          <p:cNvPr id="22" name="Text 19"/>
          <p:cNvSpPr/>
          <p:nvPr/>
        </p:nvSpPr>
        <p:spPr>
          <a:xfrm>
            <a:off x="6675120" y="1490472"/>
            <a:ext cx="4544568" cy="228600"/>
          </a:xfrm>
          <a:prstGeom prst="rect">
            <a:avLst/>
          </a:prstGeom>
          <a:noFill/>
        </p:spPr>
        <p:txBody>
          <a:bodyPr wrap="square" lIns="0" tIns="0" rIns="0" bIns="0" rtlCol="0" anchor="ctr"/>
          <a:lstStyle/>
          <a:p>
            <a:pPr marL="0" indent="0">
              <a:buNone/>
            </a:pPr>
            <a:r>
              <a:rPr lang="en-US" sz="1200" b="1" dirty="0">
                <a:solidFill>
                  <a:srgbClr val="FF4D6D"/>
                </a:solidFill>
                <a:latin typeface="Aptos Display" pitchFamily="34" charset="0"/>
                <a:ea typeface="Aptos Display" pitchFamily="34" charset="-122"/>
                <a:cs typeface="Aptos Display" pitchFamily="34" charset="-120"/>
              </a:rPr>
              <a:t>Issue encountered</a:t>
            </a:r>
            <a:endParaRPr lang="en-US" sz="1200" dirty="0"/>
          </a:p>
        </p:txBody>
      </p:sp>
      <p:sp>
        <p:nvSpPr>
          <p:cNvPr id="23" name="Text 20"/>
          <p:cNvSpPr/>
          <p:nvPr/>
        </p:nvSpPr>
        <p:spPr>
          <a:xfrm>
            <a:off x="6675120" y="1801368"/>
            <a:ext cx="4544568" cy="576072"/>
          </a:xfrm>
          <a:prstGeom prst="rect">
            <a:avLst/>
          </a:prstGeom>
          <a:noFill/>
        </p:spPr>
        <p:txBody>
          <a:bodyPr wrap="square" lIns="254" tIns="254" rIns="254" bIns="254" rtlCol="0" anchor="t">
            <a:normAutofit/>
          </a:bodyPr>
          <a:lstStyle/>
          <a:p>
            <a:pPr marL="0" indent="0">
              <a:buNone/>
            </a:pPr>
            <a:r>
              <a:rPr lang="en-US" sz="1050" dirty="0">
                <a:solidFill>
                  <a:srgbClr val="F8FAFC"/>
                </a:solidFill>
                <a:latin typeface="Aptos" pitchFamily="34" charset="0"/>
                <a:ea typeface="Aptos" pitchFamily="34" charset="-122"/>
                <a:cs typeface="Aptos" pitchFamily="34" charset="-120"/>
              </a:rPr>
              <a:t>Live attack visibility was inconsistent on the host-only interface. This is common in virtualized labs when traffic routing prefers another interface.</a:t>
            </a:r>
            <a:endParaRPr lang="en-US" sz="1050" dirty="0"/>
          </a:p>
        </p:txBody>
      </p:sp>
      <p:sp>
        <p:nvSpPr>
          <p:cNvPr id="24" name="Shape 21"/>
          <p:cNvSpPr/>
          <p:nvPr/>
        </p:nvSpPr>
        <p:spPr>
          <a:xfrm>
            <a:off x="6446520" y="2811780"/>
            <a:ext cx="4892040" cy="1234440"/>
          </a:xfrm>
          <a:prstGeom prst="roundRect">
            <a:avLst>
              <a:gd name="adj" fmla="val 8889"/>
            </a:avLst>
          </a:prstGeom>
          <a:solidFill>
            <a:srgbClr val="0D1B2A">
              <a:alpha val="96000"/>
            </a:srgbClr>
          </a:solidFill>
          <a:ln w="12700">
            <a:solidFill>
              <a:srgbClr val="233548">
                <a:alpha val="95000"/>
              </a:srgbClr>
            </a:solidFill>
            <a:prstDash val="solid"/>
          </a:ln>
          <a:effectLst>
            <a:outerShdw blurRad="38100" dist="12700" dir="2700000" algn="bl" rotWithShape="0">
              <a:srgbClr val="000000">
                <a:alpha val="22000"/>
              </a:srgbClr>
            </a:outerShdw>
          </a:effectLst>
        </p:spPr>
      </p:sp>
      <p:sp>
        <p:nvSpPr>
          <p:cNvPr id="25" name="Shape 22"/>
          <p:cNvSpPr/>
          <p:nvPr/>
        </p:nvSpPr>
        <p:spPr>
          <a:xfrm>
            <a:off x="6446520" y="2788920"/>
            <a:ext cx="73152" cy="1234440"/>
          </a:xfrm>
          <a:prstGeom prst="rect">
            <a:avLst/>
          </a:prstGeom>
          <a:solidFill>
            <a:srgbClr val="4DFF8F"/>
          </a:solidFill>
          <a:ln w="12700">
            <a:solidFill>
              <a:srgbClr val="4DFF8F"/>
            </a:solidFill>
            <a:prstDash val="solid"/>
          </a:ln>
        </p:spPr>
      </p:sp>
      <p:sp>
        <p:nvSpPr>
          <p:cNvPr id="26" name="Text 23"/>
          <p:cNvSpPr/>
          <p:nvPr/>
        </p:nvSpPr>
        <p:spPr>
          <a:xfrm>
            <a:off x="6675120" y="2953512"/>
            <a:ext cx="4544568" cy="228600"/>
          </a:xfrm>
          <a:prstGeom prst="rect">
            <a:avLst/>
          </a:prstGeom>
          <a:noFill/>
        </p:spPr>
        <p:txBody>
          <a:bodyPr wrap="square" lIns="0" tIns="0" rIns="0" bIns="0" rtlCol="0" anchor="ctr"/>
          <a:lstStyle/>
          <a:p>
            <a:pPr marL="0" indent="0">
              <a:buNone/>
            </a:pPr>
            <a:r>
              <a:rPr lang="en-US" sz="1200" b="1" dirty="0">
                <a:solidFill>
                  <a:srgbClr val="4DFF8F"/>
                </a:solidFill>
                <a:latin typeface="Aptos Display" pitchFamily="34" charset="0"/>
                <a:ea typeface="Aptos Display" pitchFamily="34" charset="-122"/>
                <a:cs typeface="Aptos Display" pitchFamily="34" charset="-120"/>
              </a:rPr>
              <a:t>Resolution</a:t>
            </a:r>
            <a:endParaRPr lang="en-US" sz="1200" dirty="0"/>
          </a:p>
        </p:txBody>
      </p:sp>
      <p:sp>
        <p:nvSpPr>
          <p:cNvPr id="27" name="Text 24"/>
          <p:cNvSpPr/>
          <p:nvPr/>
        </p:nvSpPr>
        <p:spPr>
          <a:xfrm>
            <a:off x="6675120" y="3264408"/>
            <a:ext cx="4544568" cy="667512"/>
          </a:xfrm>
          <a:prstGeom prst="rect">
            <a:avLst/>
          </a:prstGeom>
          <a:noFill/>
        </p:spPr>
        <p:txBody>
          <a:bodyPr wrap="square" lIns="254" tIns="254" rIns="254" bIns="254" rtlCol="0" anchor="t">
            <a:normAutofit/>
          </a:bodyPr>
          <a:lstStyle/>
          <a:p>
            <a:pPr marL="0" indent="0">
              <a:buNone/>
            </a:pPr>
            <a:r>
              <a:rPr lang="en-US" sz="1050" dirty="0">
                <a:solidFill>
                  <a:srgbClr val="F8FAFC"/>
                </a:solidFill>
                <a:latin typeface="Aptos" pitchFamily="34" charset="0"/>
                <a:ea typeface="Aptos" pitchFamily="34" charset="-122"/>
                <a:cs typeface="Aptos" pitchFamily="34" charset="-120"/>
              </a:rPr>
              <a:t>I monitored the interface that showed actual TCP activity during testing. This ensured the evidence reflected real packets flowing through the lab system.</a:t>
            </a:r>
            <a:endParaRPr lang="en-US" sz="1050" dirty="0"/>
          </a:p>
        </p:txBody>
      </p:sp>
      <p:sp>
        <p:nvSpPr>
          <p:cNvPr id="28" name="Shape 25"/>
          <p:cNvSpPr/>
          <p:nvPr/>
        </p:nvSpPr>
        <p:spPr>
          <a:xfrm>
            <a:off x="6446520" y="4389120"/>
            <a:ext cx="4892040" cy="1143000"/>
          </a:xfrm>
          <a:prstGeom prst="roundRect">
            <a:avLst>
              <a:gd name="adj" fmla="val 9600"/>
            </a:avLst>
          </a:prstGeom>
          <a:solidFill>
            <a:srgbClr val="0D1B2A">
              <a:alpha val="96000"/>
            </a:srgbClr>
          </a:solidFill>
          <a:ln w="12700">
            <a:solidFill>
              <a:srgbClr val="233548">
                <a:alpha val="95000"/>
              </a:srgbClr>
            </a:solidFill>
            <a:prstDash val="solid"/>
          </a:ln>
          <a:effectLst>
            <a:outerShdw blurRad="38100" dist="12700" dir="2700000" algn="bl" rotWithShape="0">
              <a:srgbClr val="000000">
                <a:alpha val="22000"/>
              </a:srgbClr>
            </a:outerShdw>
          </a:effectLst>
        </p:spPr>
        <p:txBody>
          <a:bodyPr/>
          <a:p>
            <a:endParaRPr lang="en-US"/>
          </a:p>
        </p:txBody>
      </p:sp>
      <p:sp>
        <p:nvSpPr>
          <p:cNvPr id="29" name="Shape 26"/>
          <p:cNvSpPr/>
          <p:nvPr/>
        </p:nvSpPr>
        <p:spPr>
          <a:xfrm>
            <a:off x="6446520" y="4389120"/>
            <a:ext cx="73152" cy="1143000"/>
          </a:xfrm>
          <a:prstGeom prst="rect">
            <a:avLst/>
          </a:prstGeom>
          <a:solidFill>
            <a:srgbClr val="2FF3E0"/>
          </a:solidFill>
          <a:ln w="12700">
            <a:solidFill>
              <a:srgbClr val="2FF3E0"/>
            </a:solidFill>
            <a:prstDash val="solid"/>
          </a:ln>
        </p:spPr>
      </p:sp>
      <p:sp>
        <p:nvSpPr>
          <p:cNvPr id="30" name="Text 27"/>
          <p:cNvSpPr/>
          <p:nvPr/>
        </p:nvSpPr>
        <p:spPr>
          <a:xfrm>
            <a:off x="6675120" y="4553712"/>
            <a:ext cx="4544568" cy="228600"/>
          </a:xfrm>
          <a:prstGeom prst="rect">
            <a:avLst/>
          </a:prstGeom>
          <a:noFill/>
        </p:spPr>
        <p:txBody>
          <a:bodyPr wrap="square" lIns="0" tIns="0" rIns="0" bIns="0" rtlCol="0" anchor="ctr"/>
          <a:lstStyle/>
          <a:p>
            <a:pPr marL="0" indent="0">
              <a:buNone/>
            </a:pPr>
            <a:r>
              <a:rPr lang="en-US" sz="1200" b="1" dirty="0">
                <a:solidFill>
                  <a:srgbClr val="2FF3E0"/>
                </a:solidFill>
                <a:latin typeface="Aptos Display" pitchFamily="34" charset="0"/>
                <a:ea typeface="Aptos Display" pitchFamily="34" charset="-122"/>
                <a:cs typeface="Aptos Display" pitchFamily="34" charset="-120"/>
              </a:rPr>
              <a:t>SOC Reporting</a:t>
            </a:r>
            <a:endParaRPr lang="en-US" sz="1200" dirty="0"/>
          </a:p>
        </p:txBody>
      </p:sp>
      <p:sp>
        <p:nvSpPr>
          <p:cNvPr id="31" name="Text 28"/>
          <p:cNvSpPr/>
          <p:nvPr/>
        </p:nvSpPr>
        <p:spPr>
          <a:xfrm>
            <a:off x="6675120" y="4864608"/>
            <a:ext cx="4544568" cy="576072"/>
          </a:xfrm>
          <a:prstGeom prst="rect">
            <a:avLst/>
          </a:prstGeom>
          <a:noFill/>
        </p:spPr>
        <p:txBody>
          <a:bodyPr wrap="square" lIns="254" tIns="254" rIns="254" bIns="254" rtlCol="0" anchor="t">
            <a:normAutofit/>
          </a:bodyPr>
          <a:lstStyle/>
          <a:p>
            <a:pPr marL="0" indent="0">
              <a:buNone/>
            </a:pPr>
            <a:r>
              <a:rPr lang="en-US" sz="1050" dirty="0">
                <a:solidFill>
                  <a:srgbClr val="F8FAFC"/>
                </a:solidFill>
                <a:latin typeface="Aptos" pitchFamily="34" charset="0"/>
                <a:ea typeface="Aptos" pitchFamily="34" charset="-122"/>
                <a:cs typeface="Aptos" pitchFamily="34" charset="-120"/>
              </a:rPr>
              <a:t>I adapted the monitoring configuration based on packet visibility, which is an important troubleshooting step in network security analysis.</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50B1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50B12"/>
          </a:solidFill>
          <a:ln w="12700">
            <a:solidFill>
              <a:srgbClr val="050B12"/>
            </a:solidFill>
            <a:prstDash val="solid"/>
          </a:ln>
        </p:spPr>
      </p:sp>
      <p:sp>
        <p:nvSpPr>
          <p:cNvPr id="3" name="Shape 1"/>
          <p:cNvSpPr/>
          <p:nvPr/>
        </p:nvSpPr>
        <p:spPr>
          <a:xfrm>
            <a:off x="0" y="0"/>
            <a:ext cx="12191695" cy="475488"/>
          </a:xfrm>
          <a:prstGeom prst="rect">
            <a:avLst/>
          </a:prstGeom>
          <a:solidFill>
            <a:srgbClr val="091523"/>
          </a:solidFill>
          <a:ln w="12700">
            <a:solidFill>
              <a:srgbClr val="091523"/>
            </a:solidFill>
            <a:prstDash val="solid"/>
          </a:ln>
        </p:spPr>
      </p:sp>
      <p:sp>
        <p:nvSpPr>
          <p:cNvPr id="4" name="Shape 2"/>
          <p:cNvSpPr/>
          <p:nvPr/>
        </p:nvSpPr>
        <p:spPr>
          <a:xfrm>
            <a:off x="0" y="475488"/>
            <a:ext cx="12191695" cy="22860"/>
          </a:xfrm>
          <a:prstGeom prst="rect">
            <a:avLst/>
          </a:prstGeom>
          <a:solidFill>
            <a:srgbClr val="2FF3E0">
              <a:alpha val="90000"/>
            </a:srgbClr>
          </a:solidFill>
          <a:ln w="12700">
            <a:solidFill>
              <a:srgbClr val="2FF3E0"/>
            </a:solidFill>
            <a:prstDash val="solid"/>
          </a:ln>
        </p:spPr>
      </p:sp>
      <p:sp>
        <p:nvSpPr>
          <p:cNvPr id="6" name="Text 4"/>
          <p:cNvSpPr/>
          <p:nvPr/>
        </p:nvSpPr>
        <p:spPr>
          <a:xfrm>
            <a:off x="11384280" y="100584"/>
            <a:ext cx="347472" cy="256032"/>
          </a:xfrm>
          <a:prstGeom prst="rect">
            <a:avLst/>
          </a:prstGeom>
          <a:noFill/>
        </p:spPr>
        <p:txBody>
          <a:bodyPr wrap="square" lIns="0" tIns="0" rIns="0" bIns="0" rtlCol="0" anchor="ctr"/>
          <a:lstStyle/>
          <a:p>
            <a:pPr marL="0" indent="0" algn="r">
              <a:buNone/>
            </a:pPr>
            <a:r>
              <a:rPr lang="en-US" sz="1000" b="1" dirty="0">
                <a:solidFill>
                  <a:srgbClr val="9FB2C8"/>
                </a:solidFill>
                <a:latin typeface="Aptos Display" pitchFamily="34" charset="0"/>
                <a:ea typeface="Aptos Display" pitchFamily="34" charset="-122"/>
                <a:cs typeface="Aptos Display" pitchFamily="34" charset="-120"/>
              </a:rPr>
              <a:t>11</a:t>
            </a:r>
            <a:endParaRPr lang="en-US" sz="1000" dirty="0"/>
          </a:p>
        </p:txBody>
      </p:sp>
      <p:sp>
        <p:nvSpPr>
          <p:cNvPr id="7" name="Text 5"/>
          <p:cNvSpPr/>
          <p:nvPr/>
        </p:nvSpPr>
        <p:spPr>
          <a:xfrm>
            <a:off x="502920" y="713232"/>
            <a:ext cx="10607040" cy="329184"/>
          </a:xfrm>
          <a:prstGeom prst="rect">
            <a:avLst/>
          </a:prstGeom>
          <a:noFill/>
        </p:spPr>
        <p:txBody>
          <a:bodyPr wrap="square" lIns="0" tIns="0" rIns="0" bIns="0" rtlCol="0" anchor="ctr"/>
          <a:lstStyle/>
          <a:p>
            <a:pPr marL="0" indent="0">
              <a:buNone/>
            </a:pPr>
            <a:r>
              <a:rPr lang="en-US" sz="2200" b="1" dirty="0">
                <a:solidFill>
                  <a:srgbClr val="F8FAFC"/>
                </a:solidFill>
                <a:latin typeface="Aptos Display" pitchFamily="34" charset="0"/>
                <a:ea typeface="Aptos Display" pitchFamily="34" charset="-122"/>
                <a:cs typeface="Aptos Display" pitchFamily="34" charset="-120"/>
              </a:rPr>
              <a:t>Step 4 — Attack Simulation with Nmap</a:t>
            </a:r>
            <a:endParaRPr lang="en-US" sz="2200" dirty="0"/>
          </a:p>
        </p:txBody>
      </p:sp>
      <p:sp>
        <p:nvSpPr>
          <p:cNvPr id="8" name="Shape 6"/>
          <p:cNvSpPr/>
          <p:nvPr/>
        </p:nvSpPr>
        <p:spPr>
          <a:xfrm>
            <a:off x="274320" y="1965960"/>
            <a:ext cx="11658600" cy="0"/>
          </a:xfrm>
          <a:prstGeom prst="line">
            <a:avLst/>
          </a:prstGeom>
          <a:noFill/>
          <a:ln w="6350">
            <a:solidFill>
              <a:srgbClr val="233548">
                <a:alpha val="22000"/>
              </a:srgbClr>
            </a:solidFill>
            <a:prstDash val="solid"/>
          </a:ln>
        </p:spPr>
      </p:sp>
      <p:sp>
        <p:nvSpPr>
          <p:cNvPr id="9" name="Shape 7"/>
          <p:cNvSpPr/>
          <p:nvPr/>
        </p:nvSpPr>
        <p:spPr>
          <a:xfrm>
            <a:off x="274320" y="2697480"/>
            <a:ext cx="11658600" cy="0"/>
          </a:xfrm>
          <a:prstGeom prst="line">
            <a:avLst/>
          </a:prstGeom>
          <a:noFill/>
          <a:ln w="6350">
            <a:solidFill>
              <a:srgbClr val="233548">
                <a:alpha val="22000"/>
              </a:srgbClr>
            </a:solidFill>
            <a:prstDash val="solid"/>
          </a:ln>
        </p:spPr>
      </p:sp>
      <p:sp>
        <p:nvSpPr>
          <p:cNvPr id="10" name="Shape 8"/>
          <p:cNvSpPr/>
          <p:nvPr/>
        </p:nvSpPr>
        <p:spPr>
          <a:xfrm>
            <a:off x="274320" y="3429000"/>
            <a:ext cx="11658600" cy="0"/>
          </a:xfrm>
          <a:prstGeom prst="line">
            <a:avLst/>
          </a:prstGeom>
          <a:noFill/>
          <a:ln w="6350">
            <a:solidFill>
              <a:srgbClr val="233548">
                <a:alpha val="22000"/>
              </a:srgbClr>
            </a:solidFill>
            <a:prstDash val="solid"/>
          </a:ln>
        </p:spPr>
      </p:sp>
      <p:sp>
        <p:nvSpPr>
          <p:cNvPr id="11" name="Shape 9"/>
          <p:cNvSpPr/>
          <p:nvPr/>
        </p:nvSpPr>
        <p:spPr>
          <a:xfrm>
            <a:off x="274320" y="4160520"/>
            <a:ext cx="11658600" cy="0"/>
          </a:xfrm>
          <a:prstGeom prst="line">
            <a:avLst/>
          </a:prstGeom>
          <a:noFill/>
          <a:ln w="6350">
            <a:solidFill>
              <a:srgbClr val="233548">
                <a:alpha val="22000"/>
              </a:srgbClr>
            </a:solidFill>
            <a:prstDash val="solid"/>
          </a:ln>
        </p:spPr>
      </p:sp>
      <p:sp>
        <p:nvSpPr>
          <p:cNvPr id="12" name="Shape 10"/>
          <p:cNvSpPr/>
          <p:nvPr/>
        </p:nvSpPr>
        <p:spPr>
          <a:xfrm>
            <a:off x="274320" y="4892040"/>
            <a:ext cx="11658600" cy="0"/>
          </a:xfrm>
          <a:prstGeom prst="line">
            <a:avLst/>
          </a:prstGeom>
          <a:noFill/>
          <a:ln w="6350">
            <a:solidFill>
              <a:srgbClr val="233548">
                <a:alpha val="22000"/>
              </a:srgbClr>
            </a:solidFill>
            <a:prstDash val="solid"/>
          </a:ln>
        </p:spPr>
      </p:sp>
      <p:sp>
        <p:nvSpPr>
          <p:cNvPr id="13" name="Shape 11"/>
          <p:cNvSpPr/>
          <p:nvPr/>
        </p:nvSpPr>
        <p:spPr>
          <a:xfrm>
            <a:off x="274320" y="5623560"/>
            <a:ext cx="11658600" cy="0"/>
          </a:xfrm>
          <a:prstGeom prst="line">
            <a:avLst/>
          </a:prstGeom>
          <a:noFill/>
          <a:ln w="6350">
            <a:solidFill>
              <a:srgbClr val="233548">
                <a:alpha val="22000"/>
              </a:srgbClr>
            </a:solidFill>
            <a:prstDash val="solid"/>
          </a:ln>
        </p:spPr>
      </p:sp>
      <p:sp>
        <p:nvSpPr>
          <p:cNvPr id="14" name="Shape 12"/>
          <p:cNvSpPr/>
          <p:nvPr/>
        </p:nvSpPr>
        <p:spPr>
          <a:xfrm>
            <a:off x="0" y="6611112"/>
            <a:ext cx="12191695" cy="246888"/>
          </a:xfrm>
          <a:prstGeom prst="rect">
            <a:avLst/>
          </a:prstGeom>
          <a:solidFill>
            <a:srgbClr val="03070C"/>
          </a:solidFill>
          <a:ln w="12700">
            <a:solidFill>
              <a:srgbClr val="03070C"/>
            </a:solidFill>
            <a:prstDash val="solid"/>
          </a:ln>
        </p:spPr>
      </p:sp>
      <p:sp>
        <p:nvSpPr>
          <p:cNvPr id="17" name="Shape 15"/>
          <p:cNvSpPr/>
          <p:nvPr/>
        </p:nvSpPr>
        <p:spPr>
          <a:xfrm>
            <a:off x="685800" y="1371600"/>
            <a:ext cx="5806440" cy="1965960"/>
          </a:xfrm>
          <a:prstGeom prst="roundRect">
            <a:avLst>
              <a:gd name="adj" fmla="val 5581"/>
            </a:avLst>
          </a:prstGeom>
          <a:solidFill>
            <a:srgbClr val="06101B"/>
          </a:solidFill>
          <a:ln w="12700">
            <a:solidFill>
              <a:srgbClr val="2FF3E0">
                <a:alpha val="65000"/>
              </a:srgbClr>
            </a:solidFill>
            <a:prstDash val="solid"/>
          </a:ln>
        </p:spPr>
      </p:sp>
      <p:pic>
        <p:nvPicPr>
          <p:cNvPr id="18" name="Image 0" descr="/mnt/data/0806ec5f-4e41-4b23-90a8-8fd615153f89.png"/>
          <p:cNvPicPr>
            <a:picLocks noChangeAspect="1"/>
          </p:cNvPicPr>
          <p:nvPr/>
        </p:nvPicPr>
        <p:blipFill>
          <a:blip r:embed="rId1"/>
          <a:stretch>
            <a:fillRect/>
          </a:stretch>
        </p:blipFill>
        <p:spPr>
          <a:xfrm>
            <a:off x="731520" y="2128721"/>
            <a:ext cx="5715000" cy="451718"/>
          </a:xfrm>
          <a:prstGeom prst="rect">
            <a:avLst/>
          </a:prstGeom>
        </p:spPr>
      </p:pic>
      <p:sp>
        <p:nvSpPr>
          <p:cNvPr id="19" name="Text 16"/>
          <p:cNvSpPr/>
          <p:nvPr/>
        </p:nvSpPr>
        <p:spPr>
          <a:xfrm>
            <a:off x="731520" y="3364992"/>
            <a:ext cx="5715000" cy="201168"/>
          </a:xfrm>
          <a:prstGeom prst="rect">
            <a:avLst/>
          </a:prstGeom>
          <a:noFill/>
        </p:spPr>
        <p:txBody>
          <a:bodyPr wrap="square" lIns="0" tIns="0" rIns="0" bIns="0" rtlCol="0" anchor="ctr"/>
          <a:lstStyle/>
          <a:p>
            <a:pPr marL="0" indent="0" algn="ctr">
              <a:buNone/>
            </a:pPr>
            <a:r>
              <a:rPr lang="en-US" sz="850" i="1" dirty="0">
                <a:solidFill>
                  <a:srgbClr val="9FB2C8"/>
                </a:solidFill>
              </a:rPr>
              <a:t>Kali Linux running Nmap vulnerability scan against target IP</a:t>
            </a:r>
            <a:endParaRPr lang="en-US" sz="850" dirty="0"/>
          </a:p>
        </p:txBody>
      </p:sp>
      <p:sp>
        <p:nvSpPr>
          <p:cNvPr id="20" name="Shape 17"/>
          <p:cNvSpPr/>
          <p:nvPr/>
        </p:nvSpPr>
        <p:spPr>
          <a:xfrm>
            <a:off x="731520" y="3840480"/>
            <a:ext cx="5715000" cy="868680"/>
          </a:xfrm>
          <a:prstGeom prst="roundRect">
            <a:avLst>
              <a:gd name="adj" fmla="val 8421"/>
            </a:avLst>
          </a:prstGeom>
          <a:solidFill>
            <a:srgbClr val="020817"/>
          </a:solidFill>
          <a:ln w="12700">
            <a:solidFill>
              <a:srgbClr val="233548"/>
            </a:solidFill>
            <a:prstDash val="solid"/>
          </a:ln>
        </p:spPr>
      </p:sp>
      <p:sp>
        <p:nvSpPr>
          <p:cNvPr id="21" name="Text 18"/>
          <p:cNvSpPr/>
          <p:nvPr/>
        </p:nvSpPr>
        <p:spPr>
          <a:xfrm>
            <a:off x="896112" y="3986784"/>
            <a:ext cx="5385816" cy="576072"/>
          </a:xfrm>
          <a:prstGeom prst="rect">
            <a:avLst/>
          </a:prstGeom>
          <a:noFill/>
        </p:spPr>
        <p:txBody>
          <a:bodyPr wrap="square" lIns="127" tIns="127" rIns="127" bIns="127" rtlCol="0" anchor="ctr">
            <a:normAutofit/>
          </a:bodyPr>
          <a:lstStyle/>
          <a:p>
            <a:pPr marL="0" indent="0">
              <a:buNone/>
            </a:pPr>
            <a:r>
              <a:rPr lang="en-US" sz="1200" dirty="0">
                <a:solidFill>
                  <a:srgbClr val="4DFF8F"/>
                </a:solidFill>
                <a:latin typeface="Cascadia Mono" pitchFamily="34" charset="0"/>
                <a:ea typeface="Cascadia Mono" pitchFamily="34" charset="-122"/>
                <a:cs typeface="Cascadia Mono" pitchFamily="34" charset="-120"/>
              </a:rPr>
              <a:t>nmap --script vuln 192.168.56.101</a:t>
            </a:r>
            <a:endParaRPr lang="en-US" sz="1200" dirty="0"/>
          </a:p>
          <a:p>
            <a:pPr marL="0" indent="0">
              <a:buNone/>
            </a:pPr>
            <a:r>
              <a:rPr lang="en-US" sz="1200" dirty="0">
                <a:solidFill>
                  <a:srgbClr val="4DFF8F"/>
                </a:solidFill>
                <a:latin typeface="Cascadia Mono" pitchFamily="34" charset="0"/>
                <a:ea typeface="Cascadia Mono" pitchFamily="34" charset="-122"/>
                <a:cs typeface="Cascadia Mono" pitchFamily="34" charset="-120"/>
              </a:rPr>
              <a:t>nmap -Pn -sT 192.168.56.101</a:t>
            </a:r>
            <a:endParaRPr lang="en-US" sz="1200" dirty="0"/>
          </a:p>
        </p:txBody>
      </p:sp>
      <p:sp>
        <p:nvSpPr>
          <p:cNvPr id="22" name="Shape 19"/>
          <p:cNvSpPr/>
          <p:nvPr/>
        </p:nvSpPr>
        <p:spPr>
          <a:xfrm>
            <a:off x="6812280" y="1417320"/>
            <a:ext cx="4343400" cy="1143000"/>
          </a:xfrm>
          <a:prstGeom prst="roundRect">
            <a:avLst>
              <a:gd name="adj" fmla="val 9600"/>
            </a:avLst>
          </a:prstGeom>
          <a:solidFill>
            <a:srgbClr val="0D1B2A">
              <a:alpha val="96000"/>
            </a:srgbClr>
          </a:solidFill>
          <a:ln w="12700">
            <a:solidFill>
              <a:srgbClr val="233548">
                <a:alpha val="95000"/>
              </a:srgbClr>
            </a:solidFill>
            <a:prstDash val="solid"/>
          </a:ln>
          <a:effectLst>
            <a:outerShdw blurRad="38100" dist="12700" dir="2700000" algn="bl" rotWithShape="0">
              <a:srgbClr val="000000">
                <a:alpha val="22000"/>
              </a:srgbClr>
            </a:outerShdw>
          </a:effectLst>
        </p:spPr>
      </p:sp>
      <p:sp>
        <p:nvSpPr>
          <p:cNvPr id="23" name="Shape 20"/>
          <p:cNvSpPr/>
          <p:nvPr/>
        </p:nvSpPr>
        <p:spPr>
          <a:xfrm>
            <a:off x="6812280" y="1417320"/>
            <a:ext cx="73152" cy="1143000"/>
          </a:xfrm>
          <a:prstGeom prst="rect">
            <a:avLst/>
          </a:prstGeom>
          <a:solidFill>
            <a:srgbClr val="2FF3E0"/>
          </a:solidFill>
          <a:ln w="12700">
            <a:solidFill>
              <a:srgbClr val="2FF3E0"/>
            </a:solidFill>
            <a:prstDash val="solid"/>
          </a:ln>
        </p:spPr>
      </p:sp>
      <p:sp>
        <p:nvSpPr>
          <p:cNvPr id="24" name="Text 21"/>
          <p:cNvSpPr/>
          <p:nvPr/>
        </p:nvSpPr>
        <p:spPr>
          <a:xfrm>
            <a:off x="7040880" y="1581912"/>
            <a:ext cx="3995928" cy="228600"/>
          </a:xfrm>
          <a:prstGeom prst="rect">
            <a:avLst/>
          </a:prstGeom>
          <a:noFill/>
        </p:spPr>
        <p:txBody>
          <a:bodyPr wrap="square" lIns="0" tIns="0" rIns="0" bIns="0" rtlCol="0" anchor="ctr"/>
          <a:lstStyle/>
          <a:p>
            <a:pPr marL="0" indent="0">
              <a:buNone/>
            </a:pPr>
            <a:r>
              <a:rPr lang="en-US" sz="1200" b="1" dirty="0">
                <a:solidFill>
                  <a:srgbClr val="2FF3E0"/>
                </a:solidFill>
                <a:latin typeface="Aptos Display" pitchFamily="34" charset="0"/>
                <a:ea typeface="Aptos Display" pitchFamily="34" charset="-122"/>
                <a:cs typeface="Aptos Display" pitchFamily="34" charset="-120"/>
              </a:rPr>
              <a:t>Purpose</a:t>
            </a:r>
            <a:endParaRPr lang="en-US" sz="1200" dirty="0"/>
          </a:p>
        </p:txBody>
      </p:sp>
      <p:sp>
        <p:nvSpPr>
          <p:cNvPr id="25" name="Text 22"/>
          <p:cNvSpPr/>
          <p:nvPr/>
        </p:nvSpPr>
        <p:spPr>
          <a:xfrm>
            <a:off x="7040880" y="1892808"/>
            <a:ext cx="3995928" cy="576072"/>
          </a:xfrm>
          <a:prstGeom prst="rect">
            <a:avLst/>
          </a:prstGeom>
          <a:noFill/>
        </p:spPr>
        <p:txBody>
          <a:bodyPr wrap="square" lIns="254" tIns="254" rIns="254" bIns="254" rtlCol="0" anchor="t">
            <a:normAutofit/>
          </a:bodyPr>
          <a:lstStyle/>
          <a:p>
            <a:pPr marL="0" indent="0">
              <a:buNone/>
            </a:pPr>
            <a:r>
              <a:rPr lang="en-US" sz="1050" dirty="0">
                <a:solidFill>
                  <a:srgbClr val="F8FAFC"/>
                </a:solidFill>
                <a:latin typeface="Aptos" pitchFamily="34" charset="0"/>
                <a:ea typeface="Aptos" pitchFamily="34" charset="-122"/>
                <a:cs typeface="Aptos" pitchFamily="34" charset="-120"/>
              </a:rPr>
              <a:t>Nmap was used to simulate reconnaissance activity. Attackers commonly scan systems to discover reachable services and possible weaknesses.</a:t>
            </a:r>
            <a:endParaRPr lang="en-US" sz="1050" dirty="0"/>
          </a:p>
        </p:txBody>
      </p:sp>
      <p:sp>
        <p:nvSpPr>
          <p:cNvPr id="26" name="Shape 23"/>
          <p:cNvSpPr/>
          <p:nvPr/>
        </p:nvSpPr>
        <p:spPr>
          <a:xfrm>
            <a:off x="6812280" y="2852928"/>
            <a:ext cx="4343400" cy="1143000"/>
          </a:xfrm>
          <a:prstGeom prst="roundRect">
            <a:avLst>
              <a:gd name="adj" fmla="val 9600"/>
            </a:avLst>
          </a:prstGeom>
          <a:solidFill>
            <a:srgbClr val="0D1B2A">
              <a:alpha val="96000"/>
            </a:srgbClr>
          </a:solidFill>
          <a:ln w="12700">
            <a:solidFill>
              <a:srgbClr val="233548">
                <a:alpha val="95000"/>
              </a:srgbClr>
            </a:solidFill>
            <a:prstDash val="solid"/>
          </a:ln>
          <a:effectLst>
            <a:outerShdw blurRad="38100" dist="12700" dir="2700000" algn="bl" rotWithShape="0">
              <a:srgbClr val="000000">
                <a:alpha val="22000"/>
              </a:srgbClr>
            </a:outerShdw>
          </a:effectLst>
        </p:spPr>
      </p:sp>
      <p:sp>
        <p:nvSpPr>
          <p:cNvPr id="27" name="Shape 24"/>
          <p:cNvSpPr/>
          <p:nvPr/>
        </p:nvSpPr>
        <p:spPr>
          <a:xfrm>
            <a:off x="6812280" y="2852928"/>
            <a:ext cx="73152" cy="1143000"/>
          </a:xfrm>
          <a:prstGeom prst="rect">
            <a:avLst/>
          </a:prstGeom>
          <a:solidFill>
            <a:srgbClr val="4DFF8F"/>
          </a:solidFill>
          <a:ln w="12700">
            <a:solidFill>
              <a:srgbClr val="4DFF8F"/>
            </a:solidFill>
            <a:prstDash val="solid"/>
          </a:ln>
        </p:spPr>
      </p:sp>
      <p:sp>
        <p:nvSpPr>
          <p:cNvPr id="28" name="Text 25"/>
          <p:cNvSpPr/>
          <p:nvPr/>
        </p:nvSpPr>
        <p:spPr>
          <a:xfrm>
            <a:off x="7040880" y="3017520"/>
            <a:ext cx="3995928" cy="228600"/>
          </a:xfrm>
          <a:prstGeom prst="rect">
            <a:avLst/>
          </a:prstGeom>
          <a:noFill/>
        </p:spPr>
        <p:txBody>
          <a:bodyPr wrap="square" lIns="0" tIns="0" rIns="0" bIns="0" rtlCol="0" anchor="ctr"/>
          <a:lstStyle/>
          <a:p>
            <a:pPr marL="0" indent="0">
              <a:buNone/>
            </a:pPr>
            <a:r>
              <a:rPr lang="en-US" sz="1200" b="1" dirty="0">
                <a:solidFill>
                  <a:srgbClr val="4DFF8F"/>
                </a:solidFill>
                <a:latin typeface="Aptos Display" pitchFamily="34" charset="0"/>
                <a:ea typeface="Aptos Display" pitchFamily="34" charset="-122"/>
                <a:cs typeface="Aptos Display" pitchFamily="34" charset="-120"/>
              </a:rPr>
              <a:t>SOC interpretation</a:t>
            </a:r>
            <a:endParaRPr lang="en-US" sz="1200" dirty="0"/>
          </a:p>
        </p:txBody>
      </p:sp>
      <p:sp>
        <p:nvSpPr>
          <p:cNvPr id="29" name="Text 26"/>
          <p:cNvSpPr/>
          <p:nvPr/>
        </p:nvSpPr>
        <p:spPr>
          <a:xfrm>
            <a:off x="7040880" y="3328416"/>
            <a:ext cx="3995928" cy="576072"/>
          </a:xfrm>
          <a:prstGeom prst="rect">
            <a:avLst/>
          </a:prstGeom>
          <a:noFill/>
        </p:spPr>
        <p:txBody>
          <a:bodyPr wrap="square" lIns="254" tIns="254" rIns="254" bIns="254" rtlCol="0" anchor="t">
            <a:normAutofit/>
          </a:bodyPr>
          <a:lstStyle/>
          <a:p>
            <a:pPr marL="0" indent="0">
              <a:buNone/>
            </a:pPr>
            <a:r>
              <a:rPr lang="en-US" sz="1050" dirty="0">
                <a:solidFill>
                  <a:srgbClr val="F8FAFC"/>
                </a:solidFill>
                <a:latin typeface="Aptos" pitchFamily="34" charset="0"/>
                <a:ea typeface="Aptos" pitchFamily="34" charset="-122"/>
                <a:cs typeface="Aptos" pitchFamily="34" charset="-120"/>
              </a:rPr>
              <a:t>A scan is often an early-stage attack behavior. Detecting reconnaissance helps security teams respond before exploitation occurs.</a:t>
            </a:r>
            <a:endParaRPr lang="en-US" sz="1050" dirty="0"/>
          </a:p>
        </p:txBody>
      </p:sp>
      <p:sp>
        <p:nvSpPr>
          <p:cNvPr id="30" name="Shape 27"/>
          <p:cNvSpPr/>
          <p:nvPr/>
        </p:nvSpPr>
        <p:spPr>
          <a:xfrm>
            <a:off x="6812280" y="4315968"/>
            <a:ext cx="4343400" cy="1097280"/>
          </a:xfrm>
          <a:prstGeom prst="roundRect">
            <a:avLst>
              <a:gd name="adj" fmla="val 10000"/>
            </a:avLst>
          </a:prstGeom>
          <a:solidFill>
            <a:srgbClr val="0D1B2A">
              <a:alpha val="96000"/>
            </a:srgbClr>
          </a:solidFill>
          <a:ln w="12700">
            <a:solidFill>
              <a:srgbClr val="233548">
                <a:alpha val="95000"/>
              </a:srgbClr>
            </a:solidFill>
            <a:prstDash val="solid"/>
          </a:ln>
          <a:effectLst>
            <a:outerShdw blurRad="38100" dist="12700" dir="2700000" algn="bl" rotWithShape="0">
              <a:srgbClr val="000000">
                <a:alpha val="22000"/>
              </a:srgbClr>
            </a:outerShdw>
          </a:effectLst>
        </p:spPr>
      </p:sp>
      <p:sp>
        <p:nvSpPr>
          <p:cNvPr id="31" name="Shape 28"/>
          <p:cNvSpPr/>
          <p:nvPr/>
        </p:nvSpPr>
        <p:spPr>
          <a:xfrm>
            <a:off x="6812280" y="4315968"/>
            <a:ext cx="73152" cy="1097280"/>
          </a:xfrm>
          <a:prstGeom prst="rect">
            <a:avLst/>
          </a:prstGeom>
          <a:solidFill>
            <a:srgbClr val="F9D65C"/>
          </a:solidFill>
          <a:ln w="12700">
            <a:solidFill>
              <a:srgbClr val="F9D65C"/>
            </a:solidFill>
            <a:prstDash val="solid"/>
          </a:ln>
        </p:spPr>
      </p:sp>
      <p:sp>
        <p:nvSpPr>
          <p:cNvPr id="32" name="Text 29"/>
          <p:cNvSpPr/>
          <p:nvPr/>
        </p:nvSpPr>
        <p:spPr>
          <a:xfrm>
            <a:off x="7040880" y="4480560"/>
            <a:ext cx="3995928" cy="228600"/>
          </a:xfrm>
          <a:prstGeom prst="rect">
            <a:avLst/>
          </a:prstGeom>
          <a:noFill/>
        </p:spPr>
        <p:txBody>
          <a:bodyPr wrap="square" lIns="0" tIns="0" rIns="0" bIns="0" rtlCol="0" anchor="ctr"/>
          <a:lstStyle/>
          <a:p>
            <a:pPr marL="0" indent="0">
              <a:buNone/>
            </a:pPr>
            <a:r>
              <a:rPr lang="en-US" sz="1200" b="1" dirty="0">
                <a:solidFill>
                  <a:srgbClr val="F9D65C"/>
                </a:solidFill>
                <a:latin typeface="Aptos Display" pitchFamily="34" charset="0"/>
                <a:ea typeface="Aptos Display" pitchFamily="34" charset="-122"/>
                <a:cs typeface="Aptos Display" pitchFamily="34" charset="-120"/>
              </a:rPr>
              <a:t>Evidence to discuss</a:t>
            </a:r>
            <a:endParaRPr lang="en-US" sz="1200" dirty="0"/>
          </a:p>
        </p:txBody>
      </p:sp>
      <p:sp>
        <p:nvSpPr>
          <p:cNvPr id="33" name="Text 30"/>
          <p:cNvSpPr/>
          <p:nvPr/>
        </p:nvSpPr>
        <p:spPr>
          <a:xfrm>
            <a:off x="7040880" y="4791456"/>
            <a:ext cx="3995928" cy="530352"/>
          </a:xfrm>
          <a:prstGeom prst="rect">
            <a:avLst/>
          </a:prstGeom>
          <a:noFill/>
        </p:spPr>
        <p:txBody>
          <a:bodyPr wrap="square" lIns="254" tIns="254" rIns="254" bIns="254" rtlCol="0" anchor="t">
            <a:normAutofit/>
          </a:bodyPr>
          <a:lstStyle/>
          <a:p>
            <a:pPr marL="0" indent="0">
              <a:buNone/>
            </a:pPr>
            <a:r>
              <a:rPr lang="en-US" sz="1050" dirty="0">
                <a:solidFill>
                  <a:srgbClr val="F8FAFC"/>
                </a:solidFill>
                <a:latin typeface="Aptos" pitchFamily="34" charset="0"/>
                <a:ea typeface="Aptos" pitchFamily="34" charset="-122"/>
                <a:cs typeface="Aptos" pitchFamily="34" charset="-120"/>
              </a:rPr>
              <a:t>The command window proves the attack simulation step. The traffic analysis slides prove what was observed on the network.</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50B1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50B12"/>
          </a:solidFill>
          <a:ln w="12700">
            <a:solidFill>
              <a:srgbClr val="050B12"/>
            </a:solidFill>
            <a:prstDash val="solid"/>
          </a:ln>
        </p:spPr>
      </p:sp>
      <p:sp>
        <p:nvSpPr>
          <p:cNvPr id="3" name="Shape 1"/>
          <p:cNvSpPr/>
          <p:nvPr/>
        </p:nvSpPr>
        <p:spPr>
          <a:xfrm>
            <a:off x="0" y="0"/>
            <a:ext cx="12191695" cy="475488"/>
          </a:xfrm>
          <a:prstGeom prst="rect">
            <a:avLst/>
          </a:prstGeom>
          <a:solidFill>
            <a:srgbClr val="091523"/>
          </a:solidFill>
          <a:ln w="12700">
            <a:solidFill>
              <a:srgbClr val="091523"/>
            </a:solidFill>
            <a:prstDash val="solid"/>
          </a:ln>
        </p:spPr>
      </p:sp>
      <p:sp>
        <p:nvSpPr>
          <p:cNvPr id="4" name="Shape 2"/>
          <p:cNvSpPr/>
          <p:nvPr/>
        </p:nvSpPr>
        <p:spPr>
          <a:xfrm>
            <a:off x="0" y="475488"/>
            <a:ext cx="12191695" cy="22860"/>
          </a:xfrm>
          <a:prstGeom prst="rect">
            <a:avLst/>
          </a:prstGeom>
          <a:solidFill>
            <a:srgbClr val="2FF3E0">
              <a:alpha val="90000"/>
            </a:srgbClr>
          </a:solidFill>
          <a:ln w="12700">
            <a:solidFill>
              <a:srgbClr val="2FF3E0"/>
            </a:solidFill>
            <a:prstDash val="solid"/>
          </a:ln>
        </p:spPr>
      </p:sp>
      <p:sp>
        <p:nvSpPr>
          <p:cNvPr id="6" name="Text 4"/>
          <p:cNvSpPr/>
          <p:nvPr/>
        </p:nvSpPr>
        <p:spPr>
          <a:xfrm>
            <a:off x="11384280" y="100584"/>
            <a:ext cx="347472" cy="256032"/>
          </a:xfrm>
          <a:prstGeom prst="rect">
            <a:avLst/>
          </a:prstGeom>
          <a:noFill/>
        </p:spPr>
        <p:txBody>
          <a:bodyPr wrap="square" lIns="0" tIns="0" rIns="0" bIns="0" rtlCol="0" anchor="ctr"/>
          <a:lstStyle/>
          <a:p>
            <a:pPr marL="0" indent="0" algn="r">
              <a:buNone/>
            </a:pPr>
            <a:r>
              <a:rPr lang="en-US" sz="1000" b="1" dirty="0">
                <a:solidFill>
                  <a:srgbClr val="9FB2C8"/>
                </a:solidFill>
                <a:latin typeface="Aptos Display" pitchFamily="34" charset="0"/>
                <a:ea typeface="Aptos Display" pitchFamily="34" charset="-122"/>
                <a:cs typeface="Aptos Display" pitchFamily="34" charset="-120"/>
              </a:rPr>
              <a:t>12</a:t>
            </a:r>
            <a:endParaRPr lang="en-US" sz="1000" dirty="0"/>
          </a:p>
        </p:txBody>
      </p:sp>
      <p:sp>
        <p:nvSpPr>
          <p:cNvPr id="7" name="Text 5"/>
          <p:cNvSpPr/>
          <p:nvPr/>
        </p:nvSpPr>
        <p:spPr>
          <a:xfrm>
            <a:off x="502920" y="713232"/>
            <a:ext cx="10607040" cy="329184"/>
          </a:xfrm>
          <a:prstGeom prst="rect">
            <a:avLst/>
          </a:prstGeom>
          <a:noFill/>
        </p:spPr>
        <p:txBody>
          <a:bodyPr wrap="square" lIns="0" tIns="0" rIns="0" bIns="0" rtlCol="0" anchor="ctr"/>
          <a:lstStyle/>
          <a:p>
            <a:pPr marL="0" indent="0">
              <a:buNone/>
            </a:pPr>
            <a:r>
              <a:rPr lang="en-US" sz="2200" b="1" dirty="0">
                <a:solidFill>
                  <a:srgbClr val="F8FAFC"/>
                </a:solidFill>
                <a:latin typeface="Aptos Display" pitchFamily="34" charset="0"/>
                <a:ea typeface="Aptos Display" pitchFamily="34" charset="-122"/>
                <a:cs typeface="Aptos Display" pitchFamily="34" charset="-120"/>
              </a:rPr>
              <a:t>Step 5 — Live Traffic Capture</a:t>
            </a:r>
            <a:endParaRPr lang="en-US" sz="2200" dirty="0"/>
          </a:p>
        </p:txBody>
      </p:sp>
      <p:sp>
        <p:nvSpPr>
          <p:cNvPr id="8" name="Shape 6"/>
          <p:cNvSpPr/>
          <p:nvPr/>
        </p:nvSpPr>
        <p:spPr>
          <a:xfrm>
            <a:off x="274320" y="1965960"/>
            <a:ext cx="11658600" cy="0"/>
          </a:xfrm>
          <a:prstGeom prst="line">
            <a:avLst/>
          </a:prstGeom>
          <a:noFill/>
          <a:ln w="6350">
            <a:solidFill>
              <a:srgbClr val="233548">
                <a:alpha val="22000"/>
              </a:srgbClr>
            </a:solidFill>
            <a:prstDash val="solid"/>
          </a:ln>
        </p:spPr>
      </p:sp>
      <p:sp>
        <p:nvSpPr>
          <p:cNvPr id="9" name="Shape 7"/>
          <p:cNvSpPr/>
          <p:nvPr/>
        </p:nvSpPr>
        <p:spPr>
          <a:xfrm>
            <a:off x="274320" y="2697480"/>
            <a:ext cx="11658600" cy="0"/>
          </a:xfrm>
          <a:prstGeom prst="line">
            <a:avLst/>
          </a:prstGeom>
          <a:noFill/>
          <a:ln w="6350">
            <a:solidFill>
              <a:srgbClr val="233548">
                <a:alpha val="22000"/>
              </a:srgbClr>
            </a:solidFill>
            <a:prstDash val="solid"/>
          </a:ln>
        </p:spPr>
      </p:sp>
      <p:sp>
        <p:nvSpPr>
          <p:cNvPr id="10" name="Shape 8"/>
          <p:cNvSpPr/>
          <p:nvPr/>
        </p:nvSpPr>
        <p:spPr>
          <a:xfrm>
            <a:off x="274320" y="3429000"/>
            <a:ext cx="11658600" cy="0"/>
          </a:xfrm>
          <a:prstGeom prst="line">
            <a:avLst/>
          </a:prstGeom>
          <a:noFill/>
          <a:ln w="6350">
            <a:solidFill>
              <a:srgbClr val="233548">
                <a:alpha val="22000"/>
              </a:srgbClr>
            </a:solidFill>
            <a:prstDash val="solid"/>
          </a:ln>
        </p:spPr>
      </p:sp>
      <p:sp>
        <p:nvSpPr>
          <p:cNvPr id="11" name="Shape 9"/>
          <p:cNvSpPr/>
          <p:nvPr/>
        </p:nvSpPr>
        <p:spPr>
          <a:xfrm>
            <a:off x="274320" y="4160520"/>
            <a:ext cx="11658600" cy="0"/>
          </a:xfrm>
          <a:prstGeom prst="line">
            <a:avLst/>
          </a:prstGeom>
          <a:noFill/>
          <a:ln w="6350">
            <a:solidFill>
              <a:srgbClr val="233548">
                <a:alpha val="22000"/>
              </a:srgbClr>
            </a:solidFill>
            <a:prstDash val="solid"/>
          </a:ln>
        </p:spPr>
      </p:sp>
      <p:sp>
        <p:nvSpPr>
          <p:cNvPr id="12" name="Shape 10"/>
          <p:cNvSpPr/>
          <p:nvPr/>
        </p:nvSpPr>
        <p:spPr>
          <a:xfrm>
            <a:off x="274320" y="4892040"/>
            <a:ext cx="11658600" cy="0"/>
          </a:xfrm>
          <a:prstGeom prst="line">
            <a:avLst/>
          </a:prstGeom>
          <a:noFill/>
          <a:ln w="6350">
            <a:solidFill>
              <a:srgbClr val="233548">
                <a:alpha val="22000"/>
              </a:srgbClr>
            </a:solidFill>
            <a:prstDash val="solid"/>
          </a:ln>
        </p:spPr>
      </p:sp>
      <p:sp>
        <p:nvSpPr>
          <p:cNvPr id="13" name="Shape 11"/>
          <p:cNvSpPr/>
          <p:nvPr/>
        </p:nvSpPr>
        <p:spPr>
          <a:xfrm>
            <a:off x="274320" y="5623560"/>
            <a:ext cx="11658600" cy="0"/>
          </a:xfrm>
          <a:prstGeom prst="line">
            <a:avLst/>
          </a:prstGeom>
          <a:noFill/>
          <a:ln w="6350">
            <a:solidFill>
              <a:srgbClr val="233548">
                <a:alpha val="22000"/>
              </a:srgbClr>
            </a:solidFill>
            <a:prstDash val="solid"/>
          </a:ln>
        </p:spPr>
      </p:sp>
      <p:sp>
        <p:nvSpPr>
          <p:cNvPr id="14" name="Shape 12"/>
          <p:cNvSpPr/>
          <p:nvPr/>
        </p:nvSpPr>
        <p:spPr>
          <a:xfrm>
            <a:off x="0" y="6611112"/>
            <a:ext cx="12191695" cy="246888"/>
          </a:xfrm>
          <a:prstGeom prst="rect">
            <a:avLst/>
          </a:prstGeom>
          <a:solidFill>
            <a:srgbClr val="03070C"/>
          </a:solidFill>
          <a:ln w="12700">
            <a:solidFill>
              <a:srgbClr val="03070C"/>
            </a:solidFill>
            <a:prstDash val="solid"/>
          </a:ln>
        </p:spPr>
      </p:sp>
      <p:sp>
        <p:nvSpPr>
          <p:cNvPr id="17" name="Shape 15"/>
          <p:cNvSpPr/>
          <p:nvPr/>
        </p:nvSpPr>
        <p:spPr>
          <a:xfrm>
            <a:off x="649224" y="1280160"/>
            <a:ext cx="6537960" cy="4480560"/>
          </a:xfrm>
          <a:prstGeom prst="roundRect">
            <a:avLst>
              <a:gd name="adj" fmla="val 2449"/>
            </a:avLst>
          </a:prstGeom>
          <a:solidFill>
            <a:srgbClr val="06101B"/>
          </a:solidFill>
          <a:ln w="12700">
            <a:solidFill>
              <a:srgbClr val="2FF3E0">
                <a:alpha val="65000"/>
              </a:srgbClr>
            </a:solidFill>
            <a:prstDash val="solid"/>
          </a:ln>
        </p:spPr>
      </p:sp>
      <p:pic>
        <p:nvPicPr>
          <p:cNvPr id="18" name="Image 0" descr="/mnt/data/e423eb8d-607e-42eb-b301-bc71f73efb84.png"/>
          <p:cNvPicPr>
            <a:picLocks noChangeAspect="1"/>
          </p:cNvPicPr>
          <p:nvPr/>
        </p:nvPicPr>
        <p:blipFill>
          <a:blip r:embed="rId1"/>
          <a:srcRect t="11063" b="11063"/>
          <a:stretch>
            <a:fillRect/>
          </a:stretch>
        </p:blipFill>
        <p:spPr>
          <a:xfrm>
            <a:off x="694944" y="1325880"/>
            <a:ext cx="6446520" cy="4389120"/>
          </a:xfrm>
          <a:prstGeom prst="rect">
            <a:avLst/>
          </a:prstGeom>
        </p:spPr>
      </p:pic>
      <p:sp>
        <p:nvSpPr>
          <p:cNvPr id="19" name="Text 16"/>
          <p:cNvSpPr/>
          <p:nvPr/>
        </p:nvSpPr>
        <p:spPr>
          <a:xfrm>
            <a:off x="694944" y="5788152"/>
            <a:ext cx="6446520" cy="201168"/>
          </a:xfrm>
          <a:prstGeom prst="rect">
            <a:avLst/>
          </a:prstGeom>
          <a:noFill/>
        </p:spPr>
        <p:txBody>
          <a:bodyPr wrap="square" lIns="0" tIns="0" rIns="0" bIns="0" rtlCol="0" anchor="ctr"/>
          <a:lstStyle/>
          <a:p>
            <a:pPr marL="0" indent="0" algn="ctr">
              <a:buNone/>
            </a:pPr>
            <a:r>
              <a:rPr lang="en-US" sz="850" i="1" dirty="0">
                <a:solidFill>
                  <a:srgbClr val="9FB2C8"/>
                </a:solidFill>
              </a:rPr>
              <a:t>Wireshark capture showing lab traffic on the monitoring interface</a:t>
            </a:r>
            <a:endParaRPr lang="en-US" sz="850" dirty="0"/>
          </a:p>
        </p:txBody>
      </p:sp>
      <p:sp>
        <p:nvSpPr>
          <p:cNvPr id="20" name="Shape 17"/>
          <p:cNvSpPr/>
          <p:nvPr/>
        </p:nvSpPr>
        <p:spPr>
          <a:xfrm>
            <a:off x="7543800" y="1463040"/>
            <a:ext cx="3840480" cy="1188720"/>
          </a:xfrm>
          <a:prstGeom prst="roundRect">
            <a:avLst>
              <a:gd name="adj" fmla="val 9231"/>
            </a:avLst>
          </a:prstGeom>
          <a:solidFill>
            <a:srgbClr val="0D1B2A">
              <a:alpha val="96000"/>
            </a:srgbClr>
          </a:solidFill>
          <a:ln w="12700">
            <a:solidFill>
              <a:srgbClr val="233548">
                <a:alpha val="95000"/>
              </a:srgbClr>
            </a:solidFill>
            <a:prstDash val="solid"/>
          </a:ln>
          <a:effectLst>
            <a:outerShdw blurRad="38100" dist="12700" dir="2700000" algn="bl" rotWithShape="0">
              <a:srgbClr val="000000">
                <a:alpha val="22000"/>
              </a:srgbClr>
            </a:outerShdw>
          </a:effectLst>
        </p:spPr>
      </p:sp>
      <p:sp>
        <p:nvSpPr>
          <p:cNvPr id="21" name="Shape 18"/>
          <p:cNvSpPr/>
          <p:nvPr/>
        </p:nvSpPr>
        <p:spPr>
          <a:xfrm>
            <a:off x="7543800" y="1463040"/>
            <a:ext cx="73152" cy="1188720"/>
          </a:xfrm>
          <a:prstGeom prst="rect">
            <a:avLst/>
          </a:prstGeom>
          <a:solidFill>
            <a:srgbClr val="2FF3E0"/>
          </a:solidFill>
          <a:ln w="12700">
            <a:solidFill>
              <a:srgbClr val="2FF3E0"/>
            </a:solidFill>
            <a:prstDash val="solid"/>
          </a:ln>
        </p:spPr>
      </p:sp>
      <p:sp>
        <p:nvSpPr>
          <p:cNvPr id="22" name="Text 19"/>
          <p:cNvSpPr/>
          <p:nvPr/>
        </p:nvSpPr>
        <p:spPr>
          <a:xfrm>
            <a:off x="7772400" y="1627632"/>
            <a:ext cx="3493008" cy="228600"/>
          </a:xfrm>
          <a:prstGeom prst="rect">
            <a:avLst/>
          </a:prstGeom>
          <a:noFill/>
        </p:spPr>
        <p:txBody>
          <a:bodyPr wrap="square" lIns="0" tIns="0" rIns="0" bIns="0" rtlCol="0" anchor="ctr"/>
          <a:lstStyle/>
          <a:p>
            <a:pPr marL="0" indent="0">
              <a:buNone/>
            </a:pPr>
            <a:r>
              <a:rPr lang="en-US" sz="1200" b="1" dirty="0">
                <a:solidFill>
                  <a:srgbClr val="2FF3E0"/>
                </a:solidFill>
                <a:latin typeface="Aptos Display" pitchFamily="34" charset="0"/>
                <a:ea typeface="Aptos Display" pitchFamily="34" charset="-122"/>
                <a:cs typeface="Aptos Display" pitchFamily="34" charset="-120"/>
              </a:rPr>
              <a:t>Observed protocols</a:t>
            </a:r>
            <a:endParaRPr lang="en-US" sz="1200" dirty="0"/>
          </a:p>
        </p:txBody>
      </p:sp>
      <p:sp>
        <p:nvSpPr>
          <p:cNvPr id="23" name="Text 20"/>
          <p:cNvSpPr/>
          <p:nvPr/>
        </p:nvSpPr>
        <p:spPr>
          <a:xfrm>
            <a:off x="7772400" y="1938528"/>
            <a:ext cx="3493008" cy="621792"/>
          </a:xfrm>
          <a:prstGeom prst="rect">
            <a:avLst/>
          </a:prstGeom>
          <a:noFill/>
        </p:spPr>
        <p:txBody>
          <a:bodyPr wrap="square" lIns="254" tIns="254" rIns="254" bIns="254" rtlCol="0" anchor="t">
            <a:normAutofit/>
          </a:bodyPr>
          <a:lstStyle/>
          <a:p>
            <a:pPr marL="0" indent="0">
              <a:buNone/>
            </a:pPr>
            <a:r>
              <a:rPr lang="en-US" sz="1050" dirty="0">
                <a:solidFill>
                  <a:srgbClr val="F8FAFC"/>
                </a:solidFill>
                <a:latin typeface="Aptos" pitchFamily="34" charset="0"/>
                <a:ea typeface="Aptos" pitchFamily="34" charset="-122"/>
                <a:cs typeface="Aptos" pitchFamily="34" charset="-120"/>
              </a:rPr>
              <a:t>ARP, DHCP, ICMPv6 and TCP activity were observed during capture. This confirmed packet visibility in the lab environment.</a:t>
            </a:r>
            <a:endParaRPr lang="en-US" sz="1050" dirty="0"/>
          </a:p>
        </p:txBody>
      </p:sp>
      <p:sp>
        <p:nvSpPr>
          <p:cNvPr id="24" name="Shape 21"/>
          <p:cNvSpPr/>
          <p:nvPr/>
        </p:nvSpPr>
        <p:spPr>
          <a:xfrm>
            <a:off x="7543800" y="2999232"/>
            <a:ext cx="3840480" cy="1188720"/>
          </a:xfrm>
          <a:prstGeom prst="roundRect">
            <a:avLst>
              <a:gd name="adj" fmla="val 9231"/>
            </a:avLst>
          </a:prstGeom>
          <a:solidFill>
            <a:srgbClr val="0D1B2A">
              <a:alpha val="96000"/>
            </a:srgbClr>
          </a:solidFill>
          <a:ln w="12700">
            <a:solidFill>
              <a:srgbClr val="233548">
                <a:alpha val="95000"/>
              </a:srgbClr>
            </a:solidFill>
            <a:prstDash val="solid"/>
          </a:ln>
          <a:effectLst>
            <a:outerShdw blurRad="38100" dist="12700" dir="2700000" algn="bl" rotWithShape="0">
              <a:srgbClr val="000000">
                <a:alpha val="22000"/>
              </a:srgbClr>
            </a:outerShdw>
          </a:effectLst>
        </p:spPr>
      </p:sp>
      <p:sp>
        <p:nvSpPr>
          <p:cNvPr id="25" name="Shape 22"/>
          <p:cNvSpPr/>
          <p:nvPr/>
        </p:nvSpPr>
        <p:spPr>
          <a:xfrm>
            <a:off x="7543800" y="2999232"/>
            <a:ext cx="73152" cy="1188720"/>
          </a:xfrm>
          <a:prstGeom prst="rect">
            <a:avLst/>
          </a:prstGeom>
          <a:solidFill>
            <a:srgbClr val="4DFF8F"/>
          </a:solidFill>
          <a:ln w="12700">
            <a:solidFill>
              <a:srgbClr val="4DFF8F"/>
            </a:solidFill>
            <a:prstDash val="solid"/>
          </a:ln>
        </p:spPr>
      </p:sp>
      <p:sp>
        <p:nvSpPr>
          <p:cNvPr id="26" name="Text 23"/>
          <p:cNvSpPr/>
          <p:nvPr/>
        </p:nvSpPr>
        <p:spPr>
          <a:xfrm>
            <a:off x="7772400" y="3163824"/>
            <a:ext cx="3493008" cy="228600"/>
          </a:xfrm>
          <a:prstGeom prst="rect">
            <a:avLst/>
          </a:prstGeom>
          <a:noFill/>
        </p:spPr>
        <p:txBody>
          <a:bodyPr wrap="square" lIns="0" tIns="0" rIns="0" bIns="0" rtlCol="0" anchor="ctr"/>
          <a:lstStyle/>
          <a:p>
            <a:pPr marL="0" indent="0">
              <a:buNone/>
            </a:pPr>
            <a:r>
              <a:rPr lang="en-US" sz="1200" b="1" dirty="0">
                <a:solidFill>
                  <a:srgbClr val="4DFF8F"/>
                </a:solidFill>
                <a:latin typeface="Aptos Display" pitchFamily="34" charset="0"/>
                <a:ea typeface="Aptos Display" pitchFamily="34" charset="-122"/>
                <a:cs typeface="Aptos Display" pitchFamily="34" charset="-120"/>
              </a:rPr>
              <a:t>Why it matters</a:t>
            </a:r>
            <a:endParaRPr lang="en-US" sz="1200" dirty="0"/>
          </a:p>
        </p:txBody>
      </p:sp>
      <p:sp>
        <p:nvSpPr>
          <p:cNvPr id="27" name="Text 24"/>
          <p:cNvSpPr/>
          <p:nvPr/>
        </p:nvSpPr>
        <p:spPr>
          <a:xfrm>
            <a:off x="7772400" y="3474720"/>
            <a:ext cx="3493008" cy="621792"/>
          </a:xfrm>
          <a:prstGeom prst="rect">
            <a:avLst/>
          </a:prstGeom>
          <a:noFill/>
        </p:spPr>
        <p:txBody>
          <a:bodyPr wrap="square" lIns="254" tIns="254" rIns="254" bIns="254" rtlCol="0" anchor="t">
            <a:normAutofit/>
          </a:bodyPr>
          <a:lstStyle/>
          <a:p>
            <a:pPr marL="0" indent="0">
              <a:buNone/>
            </a:pPr>
            <a:r>
              <a:rPr lang="en-US" sz="1050" dirty="0">
                <a:solidFill>
                  <a:srgbClr val="F8FAFC"/>
                </a:solidFill>
                <a:latin typeface="Aptos" pitchFamily="34" charset="0"/>
                <a:ea typeface="Aptos" pitchFamily="34" charset="-122"/>
                <a:cs typeface="Aptos" pitchFamily="34" charset="-120"/>
              </a:rPr>
              <a:t>Packet capture provides raw evidence. It allows the analyst to inspect source, destination, protocol, flags and behavior.</a:t>
            </a:r>
            <a:endParaRPr lang="en-US" sz="1050" dirty="0"/>
          </a:p>
        </p:txBody>
      </p:sp>
      <p:sp>
        <p:nvSpPr>
          <p:cNvPr id="28" name="Shape 25"/>
          <p:cNvSpPr/>
          <p:nvPr/>
        </p:nvSpPr>
        <p:spPr>
          <a:xfrm>
            <a:off x="7543800" y="4572000"/>
            <a:ext cx="3840480" cy="731520"/>
          </a:xfrm>
          <a:prstGeom prst="roundRect">
            <a:avLst>
              <a:gd name="adj" fmla="val 15000"/>
            </a:avLst>
          </a:prstGeom>
          <a:solidFill>
            <a:srgbClr val="0D1B2A">
              <a:alpha val="96000"/>
            </a:srgbClr>
          </a:solidFill>
          <a:ln w="12700">
            <a:solidFill>
              <a:srgbClr val="233548">
                <a:alpha val="95000"/>
              </a:srgbClr>
            </a:solidFill>
            <a:prstDash val="solid"/>
          </a:ln>
          <a:effectLst>
            <a:outerShdw blurRad="38100" dist="12700" dir="2700000" algn="bl" rotWithShape="0">
              <a:srgbClr val="000000">
                <a:alpha val="22000"/>
              </a:srgbClr>
            </a:outerShdw>
          </a:effectLst>
        </p:spPr>
      </p:sp>
      <p:sp>
        <p:nvSpPr>
          <p:cNvPr id="29" name="Shape 26"/>
          <p:cNvSpPr/>
          <p:nvPr/>
        </p:nvSpPr>
        <p:spPr>
          <a:xfrm>
            <a:off x="7543800" y="4572000"/>
            <a:ext cx="73152" cy="731520"/>
          </a:xfrm>
          <a:prstGeom prst="rect">
            <a:avLst/>
          </a:prstGeom>
          <a:solidFill>
            <a:srgbClr val="F9D65C"/>
          </a:solidFill>
          <a:ln w="12700">
            <a:solidFill>
              <a:srgbClr val="F9D65C"/>
            </a:solidFill>
            <a:prstDash val="solid"/>
          </a:ln>
        </p:spPr>
      </p:sp>
      <p:sp>
        <p:nvSpPr>
          <p:cNvPr id="30" name="Text 27"/>
          <p:cNvSpPr/>
          <p:nvPr/>
        </p:nvSpPr>
        <p:spPr>
          <a:xfrm>
            <a:off x="7772400" y="4736592"/>
            <a:ext cx="3493008" cy="228600"/>
          </a:xfrm>
          <a:prstGeom prst="rect">
            <a:avLst/>
          </a:prstGeom>
          <a:noFill/>
        </p:spPr>
        <p:txBody>
          <a:bodyPr wrap="square" lIns="0" tIns="0" rIns="0" bIns="0" rtlCol="0" anchor="ctr"/>
          <a:lstStyle/>
          <a:p>
            <a:pPr marL="0" indent="0">
              <a:buNone/>
            </a:pPr>
            <a:r>
              <a:rPr lang="en-US" sz="1200" b="1" dirty="0">
                <a:solidFill>
                  <a:srgbClr val="F9D65C"/>
                </a:solidFill>
                <a:latin typeface="Aptos Display" pitchFamily="34" charset="0"/>
                <a:ea typeface="Aptos Display" pitchFamily="34" charset="-122"/>
                <a:cs typeface="Aptos Display" pitchFamily="34" charset="-120"/>
              </a:rPr>
              <a:t>Slide takeaway</a:t>
            </a:r>
            <a:endParaRPr lang="en-US" sz="1200" dirty="0"/>
          </a:p>
        </p:txBody>
      </p:sp>
      <p:sp>
        <p:nvSpPr>
          <p:cNvPr id="31" name="Text 28"/>
          <p:cNvSpPr/>
          <p:nvPr/>
        </p:nvSpPr>
        <p:spPr>
          <a:xfrm>
            <a:off x="7772400" y="5047488"/>
            <a:ext cx="3493008" cy="164592"/>
          </a:xfrm>
          <a:prstGeom prst="rect">
            <a:avLst/>
          </a:prstGeom>
          <a:noFill/>
        </p:spPr>
        <p:txBody>
          <a:bodyPr wrap="square" lIns="254" tIns="254" rIns="254" bIns="254" rtlCol="0" anchor="t">
            <a:normAutofit/>
          </a:bodyPr>
          <a:lstStyle/>
          <a:p>
            <a:pPr marL="0" indent="0">
              <a:buNone/>
            </a:pPr>
            <a:r>
              <a:rPr lang="en-US" sz="1050" dirty="0">
                <a:solidFill>
                  <a:srgbClr val="F8FAFC"/>
                </a:solidFill>
                <a:latin typeface="Aptos" pitchFamily="34" charset="0"/>
                <a:ea typeface="Aptos" pitchFamily="34" charset="-122"/>
                <a:cs typeface="Aptos" pitchFamily="34" charset="-120"/>
              </a:rPr>
              <a:t>The monitoring machine successfully captured live traffic for analysis.</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50B1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50B12"/>
          </a:solidFill>
          <a:ln w="12700">
            <a:solidFill>
              <a:srgbClr val="050B12"/>
            </a:solidFill>
            <a:prstDash val="solid"/>
          </a:ln>
        </p:spPr>
      </p:sp>
      <p:sp>
        <p:nvSpPr>
          <p:cNvPr id="3" name="Shape 1"/>
          <p:cNvSpPr/>
          <p:nvPr/>
        </p:nvSpPr>
        <p:spPr>
          <a:xfrm>
            <a:off x="0" y="0"/>
            <a:ext cx="12191695" cy="475488"/>
          </a:xfrm>
          <a:prstGeom prst="rect">
            <a:avLst/>
          </a:prstGeom>
          <a:solidFill>
            <a:srgbClr val="091523"/>
          </a:solidFill>
          <a:ln w="12700">
            <a:solidFill>
              <a:srgbClr val="091523"/>
            </a:solidFill>
            <a:prstDash val="solid"/>
          </a:ln>
        </p:spPr>
      </p:sp>
      <p:sp>
        <p:nvSpPr>
          <p:cNvPr id="4" name="Shape 2"/>
          <p:cNvSpPr/>
          <p:nvPr/>
        </p:nvSpPr>
        <p:spPr>
          <a:xfrm>
            <a:off x="0" y="475488"/>
            <a:ext cx="12191695" cy="22860"/>
          </a:xfrm>
          <a:prstGeom prst="rect">
            <a:avLst/>
          </a:prstGeom>
          <a:solidFill>
            <a:srgbClr val="2FF3E0">
              <a:alpha val="90000"/>
            </a:srgbClr>
          </a:solidFill>
          <a:ln w="12700">
            <a:solidFill>
              <a:srgbClr val="2FF3E0"/>
            </a:solidFill>
            <a:prstDash val="solid"/>
          </a:ln>
        </p:spPr>
      </p:sp>
      <p:sp>
        <p:nvSpPr>
          <p:cNvPr id="6" name="Text 4"/>
          <p:cNvSpPr/>
          <p:nvPr/>
        </p:nvSpPr>
        <p:spPr>
          <a:xfrm>
            <a:off x="11384280" y="100584"/>
            <a:ext cx="347472" cy="256032"/>
          </a:xfrm>
          <a:prstGeom prst="rect">
            <a:avLst/>
          </a:prstGeom>
          <a:noFill/>
        </p:spPr>
        <p:txBody>
          <a:bodyPr wrap="square" lIns="0" tIns="0" rIns="0" bIns="0" rtlCol="0" anchor="ctr"/>
          <a:lstStyle/>
          <a:p>
            <a:pPr marL="0" indent="0" algn="r">
              <a:buNone/>
            </a:pPr>
            <a:r>
              <a:rPr lang="en-US" sz="1000" b="1" dirty="0">
                <a:solidFill>
                  <a:srgbClr val="9FB2C8"/>
                </a:solidFill>
                <a:latin typeface="Aptos Display" pitchFamily="34" charset="0"/>
                <a:ea typeface="Aptos Display" pitchFamily="34" charset="-122"/>
                <a:cs typeface="Aptos Display" pitchFamily="34" charset="-120"/>
              </a:rPr>
              <a:t>13</a:t>
            </a:r>
            <a:endParaRPr lang="en-US" sz="1000" dirty="0"/>
          </a:p>
        </p:txBody>
      </p:sp>
      <p:sp>
        <p:nvSpPr>
          <p:cNvPr id="7" name="Text 5"/>
          <p:cNvSpPr/>
          <p:nvPr/>
        </p:nvSpPr>
        <p:spPr>
          <a:xfrm>
            <a:off x="502920" y="713232"/>
            <a:ext cx="10607040" cy="329184"/>
          </a:xfrm>
          <a:prstGeom prst="rect">
            <a:avLst/>
          </a:prstGeom>
          <a:noFill/>
        </p:spPr>
        <p:txBody>
          <a:bodyPr wrap="square" lIns="0" tIns="0" rIns="0" bIns="0" rtlCol="0" anchor="ctr"/>
          <a:lstStyle/>
          <a:p>
            <a:pPr marL="0" indent="0">
              <a:buNone/>
            </a:pPr>
            <a:r>
              <a:rPr lang="en-US" sz="2200" b="1" dirty="0">
                <a:solidFill>
                  <a:srgbClr val="F8FAFC"/>
                </a:solidFill>
                <a:latin typeface="Aptos Display" pitchFamily="34" charset="0"/>
                <a:ea typeface="Aptos Display" pitchFamily="34" charset="-122"/>
                <a:cs typeface="Aptos Display" pitchFamily="34" charset="-120"/>
              </a:rPr>
              <a:t>Step 6 — Detection Evidence: TCP Pattern</a:t>
            </a:r>
            <a:endParaRPr lang="en-US" sz="2200" dirty="0"/>
          </a:p>
        </p:txBody>
      </p:sp>
      <p:sp>
        <p:nvSpPr>
          <p:cNvPr id="8" name="Shape 6"/>
          <p:cNvSpPr/>
          <p:nvPr/>
        </p:nvSpPr>
        <p:spPr>
          <a:xfrm>
            <a:off x="274320" y="1965960"/>
            <a:ext cx="11658600" cy="0"/>
          </a:xfrm>
          <a:prstGeom prst="line">
            <a:avLst/>
          </a:prstGeom>
          <a:noFill/>
          <a:ln w="6350">
            <a:solidFill>
              <a:srgbClr val="233548">
                <a:alpha val="22000"/>
              </a:srgbClr>
            </a:solidFill>
            <a:prstDash val="solid"/>
          </a:ln>
        </p:spPr>
      </p:sp>
      <p:sp>
        <p:nvSpPr>
          <p:cNvPr id="9" name="Shape 7"/>
          <p:cNvSpPr/>
          <p:nvPr/>
        </p:nvSpPr>
        <p:spPr>
          <a:xfrm>
            <a:off x="274320" y="2697480"/>
            <a:ext cx="11658600" cy="0"/>
          </a:xfrm>
          <a:prstGeom prst="line">
            <a:avLst/>
          </a:prstGeom>
          <a:noFill/>
          <a:ln w="6350">
            <a:solidFill>
              <a:srgbClr val="233548">
                <a:alpha val="22000"/>
              </a:srgbClr>
            </a:solidFill>
            <a:prstDash val="solid"/>
          </a:ln>
        </p:spPr>
      </p:sp>
      <p:sp>
        <p:nvSpPr>
          <p:cNvPr id="10" name="Shape 8"/>
          <p:cNvSpPr/>
          <p:nvPr/>
        </p:nvSpPr>
        <p:spPr>
          <a:xfrm>
            <a:off x="274320" y="3429000"/>
            <a:ext cx="11658600" cy="0"/>
          </a:xfrm>
          <a:prstGeom prst="line">
            <a:avLst/>
          </a:prstGeom>
          <a:noFill/>
          <a:ln w="6350">
            <a:solidFill>
              <a:srgbClr val="233548">
                <a:alpha val="22000"/>
              </a:srgbClr>
            </a:solidFill>
            <a:prstDash val="solid"/>
          </a:ln>
        </p:spPr>
      </p:sp>
      <p:sp>
        <p:nvSpPr>
          <p:cNvPr id="11" name="Shape 9"/>
          <p:cNvSpPr/>
          <p:nvPr/>
        </p:nvSpPr>
        <p:spPr>
          <a:xfrm>
            <a:off x="274320" y="4160520"/>
            <a:ext cx="11658600" cy="0"/>
          </a:xfrm>
          <a:prstGeom prst="line">
            <a:avLst/>
          </a:prstGeom>
          <a:noFill/>
          <a:ln w="6350">
            <a:solidFill>
              <a:srgbClr val="233548">
                <a:alpha val="22000"/>
              </a:srgbClr>
            </a:solidFill>
            <a:prstDash val="solid"/>
          </a:ln>
        </p:spPr>
      </p:sp>
      <p:sp>
        <p:nvSpPr>
          <p:cNvPr id="12" name="Shape 10"/>
          <p:cNvSpPr/>
          <p:nvPr/>
        </p:nvSpPr>
        <p:spPr>
          <a:xfrm>
            <a:off x="274320" y="4892040"/>
            <a:ext cx="11658600" cy="0"/>
          </a:xfrm>
          <a:prstGeom prst="line">
            <a:avLst/>
          </a:prstGeom>
          <a:noFill/>
          <a:ln w="6350">
            <a:solidFill>
              <a:srgbClr val="233548">
                <a:alpha val="22000"/>
              </a:srgbClr>
            </a:solidFill>
            <a:prstDash val="solid"/>
          </a:ln>
        </p:spPr>
      </p:sp>
      <p:sp>
        <p:nvSpPr>
          <p:cNvPr id="13" name="Shape 11"/>
          <p:cNvSpPr/>
          <p:nvPr/>
        </p:nvSpPr>
        <p:spPr>
          <a:xfrm>
            <a:off x="274320" y="5623560"/>
            <a:ext cx="11658600" cy="0"/>
          </a:xfrm>
          <a:prstGeom prst="line">
            <a:avLst/>
          </a:prstGeom>
          <a:noFill/>
          <a:ln w="6350">
            <a:solidFill>
              <a:srgbClr val="233548">
                <a:alpha val="22000"/>
              </a:srgbClr>
            </a:solidFill>
            <a:prstDash val="solid"/>
          </a:ln>
        </p:spPr>
      </p:sp>
      <p:sp>
        <p:nvSpPr>
          <p:cNvPr id="14" name="Shape 12"/>
          <p:cNvSpPr/>
          <p:nvPr/>
        </p:nvSpPr>
        <p:spPr>
          <a:xfrm>
            <a:off x="0" y="6611112"/>
            <a:ext cx="12191695" cy="246888"/>
          </a:xfrm>
          <a:prstGeom prst="rect">
            <a:avLst/>
          </a:prstGeom>
          <a:solidFill>
            <a:srgbClr val="03070C"/>
          </a:solidFill>
          <a:ln w="12700">
            <a:solidFill>
              <a:srgbClr val="03070C"/>
            </a:solidFill>
            <a:prstDash val="solid"/>
          </a:ln>
        </p:spPr>
      </p:sp>
      <p:sp>
        <p:nvSpPr>
          <p:cNvPr id="17" name="Shape 15"/>
          <p:cNvSpPr/>
          <p:nvPr/>
        </p:nvSpPr>
        <p:spPr>
          <a:xfrm>
            <a:off x="548640" y="1188720"/>
            <a:ext cx="7406640" cy="4709160"/>
          </a:xfrm>
          <a:prstGeom prst="roundRect">
            <a:avLst>
              <a:gd name="adj" fmla="val 2330"/>
            </a:avLst>
          </a:prstGeom>
          <a:solidFill>
            <a:srgbClr val="06101B"/>
          </a:solidFill>
          <a:ln w="12700">
            <a:solidFill>
              <a:srgbClr val="2FF3E0">
                <a:alpha val="65000"/>
              </a:srgbClr>
            </a:solidFill>
            <a:prstDash val="solid"/>
          </a:ln>
        </p:spPr>
      </p:sp>
      <p:pic>
        <p:nvPicPr>
          <p:cNvPr id="18" name="Image 0" descr="/mnt/data/1e178f59-e72f-4317-b0a3-e1d2ecf077d6.png"/>
          <p:cNvPicPr>
            <a:picLocks noChangeAspect="1"/>
          </p:cNvPicPr>
          <p:nvPr/>
        </p:nvPicPr>
        <p:blipFill>
          <a:blip r:embed="rId1"/>
          <a:srcRect l="13614" r="13614"/>
          <a:stretch>
            <a:fillRect/>
          </a:stretch>
        </p:blipFill>
        <p:spPr>
          <a:xfrm>
            <a:off x="594360" y="1234440"/>
            <a:ext cx="7315200" cy="4617720"/>
          </a:xfrm>
          <a:prstGeom prst="rect">
            <a:avLst/>
          </a:prstGeom>
        </p:spPr>
      </p:pic>
      <p:sp>
        <p:nvSpPr>
          <p:cNvPr id="19" name="Text 16"/>
          <p:cNvSpPr/>
          <p:nvPr/>
        </p:nvSpPr>
        <p:spPr>
          <a:xfrm>
            <a:off x="594360" y="5925312"/>
            <a:ext cx="7315200" cy="201168"/>
          </a:xfrm>
          <a:prstGeom prst="rect">
            <a:avLst/>
          </a:prstGeom>
          <a:noFill/>
        </p:spPr>
        <p:txBody>
          <a:bodyPr wrap="square" lIns="0" tIns="0" rIns="0" bIns="0" rtlCol="0" anchor="ctr"/>
          <a:lstStyle/>
          <a:p>
            <a:pPr marL="0" indent="0" algn="ctr">
              <a:buNone/>
            </a:pPr>
            <a:r>
              <a:rPr lang="en-US" sz="850" i="1" dirty="0">
                <a:solidFill>
                  <a:srgbClr val="9FB2C8"/>
                </a:solidFill>
              </a:rPr>
              <a:t>Captured TCP SYN and RST/ACK behavior on active interface enp0s8</a:t>
            </a:r>
            <a:endParaRPr lang="en-US" sz="850" dirty="0"/>
          </a:p>
        </p:txBody>
      </p:sp>
      <p:sp>
        <p:nvSpPr>
          <p:cNvPr id="20" name="Shape 17"/>
          <p:cNvSpPr/>
          <p:nvPr/>
        </p:nvSpPr>
        <p:spPr>
          <a:xfrm>
            <a:off x="8275320" y="1417320"/>
            <a:ext cx="3337560" cy="1097280"/>
          </a:xfrm>
          <a:prstGeom prst="roundRect">
            <a:avLst>
              <a:gd name="adj" fmla="val 10000"/>
            </a:avLst>
          </a:prstGeom>
          <a:solidFill>
            <a:srgbClr val="0D1B2A">
              <a:alpha val="96000"/>
            </a:srgbClr>
          </a:solidFill>
          <a:ln w="12700">
            <a:solidFill>
              <a:srgbClr val="233548">
                <a:alpha val="95000"/>
              </a:srgbClr>
            </a:solidFill>
            <a:prstDash val="solid"/>
          </a:ln>
          <a:effectLst>
            <a:outerShdw blurRad="38100" dist="12700" dir="2700000" algn="bl" rotWithShape="0">
              <a:srgbClr val="000000">
                <a:alpha val="22000"/>
              </a:srgbClr>
            </a:outerShdw>
          </a:effectLst>
        </p:spPr>
      </p:sp>
      <p:sp>
        <p:nvSpPr>
          <p:cNvPr id="21" name="Shape 18"/>
          <p:cNvSpPr/>
          <p:nvPr/>
        </p:nvSpPr>
        <p:spPr>
          <a:xfrm>
            <a:off x="8275320" y="1417320"/>
            <a:ext cx="73152" cy="1097280"/>
          </a:xfrm>
          <a:prstGeom prst="rect">
            <a:avLst/>
          </a:prstGeom>
          <a:solidFill>
            <a:srgbClr val="FF4D6D"/>
          </a:solidFill>
          <a:ln w="12700">
            <a:solidFill>
              <a:srgbClr val="FF4D6D"/>
            </a:solidFill>
            <a:prstDash val="solid"/>
          </a:ln>
        </p:spPr>
      </p:sp>
      <p:sp>
        <p:nvSpPr>
          <p:cNvPr id="22" name="Text 19"/>
          <p:cNvSpPr/>
          <p:nvPr/>
        </p:nvSpPr>
        <p:spPr>
          <a:xfrm>
            <a:off x="8503920" y="1581912"/>
            <a:ext cx="2990088" cy="228600"/>
          </a:xfrm>
          <a:prstGeom prst="rect">
            <a:avLst/>
          </a:prstGeom>
          <a:noFill/>
        </p:spPr>
        <p:txBody>
          <a:bodyPr wrap="square" lIns="0" tIns="0" rIns="0" bIns="0" rtlCol="0" anchor="ctr"/>
          <a:lstStyle/>
          <a:p>
            <a:pPr marL="0" indent="0">
              <a:buNone/>
            </a:pPr>
            <a:r>
              <a:rPr lang="en-US" sz="1200" b="1" dirty="0">
                <a:solidFill>
                  <a:srgbClr val="FF4D6D"/>
                </a:solidFill>
                <a:latin typeface="Aptos Display" pitchFamily="34" charset="0"/>
                <a:ea typeface="Aptos Display" pitchFamily="34" charset="-122"/>
                <a:cs typeface="Aptos Display" pitchFamily="34" charset="-120"/>
              </a:rPr>
              <a:t>Key observation</a:t>
            </a:r>
            <a:endParaRPr lang="en-US" sz="1200" dirty="0"/>
          </a:p>
        </p:txBody>
      </p:sp>
      <p:sp>
        <p:nvSpPr>
          <p:cNvPr id="23" name="Text 20"/>
          <p:cNvSpPr/>
          <p:nvPr/>
        </p:nvSpPr>
        <p:spPr>
          <a:xfrm>
            <a:off x="8503920" y="1892808"/>
            <a:ext cx="2990088" cy="530352"/>
          </a:xfrm>
          <a:prstGeom prst="rect">
            <a:avLst/>
          </a:prstGeom>
          <a:noFill/>
        </p:spPr>
        <p:txBody>
          <a:bodyPr wrap="square" lIns="254" tIns="254" rIns="254" bIns="254" rtlCol="0" anchor="t">
            <a:normAutofit/>
          </a:bodyPr>
          <a:lstStyle/>
          <a:p>
            <a:pPr marL="0" indent="0">
              <a:buNone/>
            </a:pPr>
            <a:r>
              <a:rPr lang="en-US" sz="1050" dirty="0">
                <a:solidFill>
                  <a:srgbClr val="F8FAFC"/>
                </a:solidFill>
                <a:latin typeface="Aptos" pitchFamily="34" charset="0"/>
                <a:ea typeface="Aptos" pitchFamily="34" charset="-122"/>
                <a:cs typeface="Aptos" pitchFamily="34" charset="-120"/>
              </a:rPr>
              <a:t>The capture shows repeated TCP [SYN] packets followed by [RST, ACK] responses.</a:t>
            </a:r>
            <a:endParaRPr lang="en-US" sz="1050" dirty="0"/>
          </a:p>
        </p:txBody>
      </p:sp>
      <p:sp>
        <p:nvSpPr>
          <p:cNvPr id="24" name="Shape 21"/>
          <p:cNvSpPr/>
          <p:nvPr/>
        </p:nvSpPr>
        <p:spPr>
          <a:xfrm>
            <a:off x="8275320" y="2816352"/>
            <a:ext cx="3337560" cy="1188720"/>
          </a:xfrm>
          <a:prstGeom prst="roundRect">
            <a:avLst>
              <a:gd name="adj" fmla="val 9231"/>
            </a:avLst>
          </a:prstGeom>
          <a:solidFill>
            <a:srgbClr val="0D1B2A">
              <a:alpha val="96000"/>
            </a:srgbClr>
          </a:solidFill>
          <a:ln w="12700">
            <a:solidFill>
              <a:srgbClr val="233548">
                <a:alpha val="95000"/>
              </a:srgbClr>
            </a:solidFill>
            <a:prstDash val="solid"/>
          </a:ln>
          <a:effectLst>
            <a:outerShdw blurRad="38100" dist="12700" dir="2700000" algn="bl" rotWithShape="0">
              <a:srgbClr val="000000">
                <a:alpha val="22000"/>
              </a:srgbClr>
            </a:outerShdw>
          </a:effectLst>
        </p:spPr>
      </p:sp>
      <p:sp>
        <p:nvSpPr>
          <p:cNvPr id="25" name="Shape 22"/>
          <p:cNvSpPr/>
          <p:nvPr/>
        </p:nvSpPr>
        <p:spPr>
          <a:xfrm>
            <a:off x="8275320" y="2816352"/>
            <a:ext cx="73152" cy="1188720"/>
          </a:xfrm>
          <a:prstGeom prst="rect">
            <a:avLst/>
          </a:prstGeom>
          <a:solidFill>
            <a:srgbClr val="2FF3E0"/>
          </a:solidFill>
          <a:ln w="12700">
            <a:solidFill>
              <a:srgbClr val="2FF3E0"/>
            </a:solidFill>
            <a:prstDash val="solid"/>
          </a:ln>
        </p:spPr>
      </p:sp>
      <p:sp>
        <p:nvSpPr>
          <p:cNvPr id="26" name="Text 23"/>
          <p:cNvSpPr/>
          <p:nvPr/>
        </p:nvSpPr>
        <p:spPr>
          <a:xfrm>
            <a:off x="8503920" y="2980944"/>
            <a:ext cx="2990088" cy="228600"/>
          </a:xfrm>
          <a:prstGeom prst="rect">
            <a:avLst/>
          </a:prstGeom>
          <a:noFill/>
        </p:spPr>
        <p:txBody>
          <a:bodyPr wrap="square" lIns="0" tIns="0" rIns="0" bIns="0" rtlCol="0" anchor="ctr"/>
          <a:lstStyle/>
          <a:p>
            <a:pPr marL="0" indent="0">
              <a:buNone/>
            </a:pPr>
            <a:r>
              <a:rPr lang="en-US" sz="1200" b="1" dirty="0">
                <a:solidFill>
                  <a:srgbClr val="2FF3E0"/>
                </a:solidFill>
                <a:latin typeface="Aptos Display" pitchFamily="34" charset="0"/>
                <a:ea typeface="Aptos Display" pitchFamily="34" charset="-122"/>
                <a:cs typeface="Aptos Display" pitchFamily="34" charset="-120"/>
              </a:rPr>
              <a:t>Meaning</a:t>
            </a:r>
            <a:endParaRPr lang="en-US" sz="1200" dirty="0"/>
          </a:p>
        </p:txBody>
      </p:sp>
      <p:sp>
        <p:nvSpPr>
          <p:cNvPr id="27" name="Text 24"/>
          <p:cNvSpPr/>
          <p:nvPr/>
        </p:nvSpPr>
        <p:spPr>
          <a:xfrm>
            <a:off x="8503920" y="3291840"/>
            <a:ext cx="2990088" cy="621792"/>
          </a:xfrm>
          <a:prstGeom prst="rect">
            <a:avLst/>
          </a:prstGeom>
          <a:noFill/>
        </p:spPr>
        <p:txBody>
          <a:bodyPr wrap="square" lIns="254" tIns="254" rIns="254" bIns="254" rtlCol="0" anchor="t">
            <a:normAutofit/>
          </a:bodyPr>
          <a:lstStyle/>
          <a:p>
            <a:pPr marL="0" indent="0">
              <a:buNone/>
            </a:pPr>
            <a:r>
              <a:rPr lang="en-US" sz="1050" dirty="0">
                <a:solidFill>
                  <a:srgbClr val="F8FAFC"/>
                </a:solidFill>
                <a:latin typeface="Aptos" pitchFamily="34" charset="0"/>
                <a:ea typeface="Aptos" pitchFamily="34" charset="-122"/>
                <a:cs typeface="Aptos" pitchFamily="34" charset="-120"/>
              </a:rPr>
              <a:t>SYN packets are connection attempts. Repeated attempts across ports are consistent with scanning behavior.</a:t>
            </a:r>
            <a:endParaRPr lang="en-US" sz="1050" dirty="0"/>
          </a:p>
        </p:txBody>
      </p:sp>
      <p:sp>
        <p:nvSpPr>
          <p:cNvPr id="28" name="Shape 25"/>
          <p:cNvSpPr/>
          <p:nvPr/>
        </p:nvSpPr>
        <p:spPr>
          <a:xfrm>
            <a:off x="8275320" y="4407408"/>
            <a:ext cx="3337560" cy="1005840"/>
          </a:xfrm>
          <a:prstGeom prst="roundRect">
            <a:avLst>
              <a:gd name="adj" fmla="val 10909"/>
            </a:avLst>
          </a:prstGeom>
          <a:solidFill>
            <a:srgbClr val="0D1B2A">
              <a:alpha val="96000"/>
            </a:srgbClr>
          </a:solidFill>
          <a:ln w="12700">
            <a:solidFill>
              <a:srgbClr val="233548">
                <a:alpha val="95000"/>
              </a:srgbClr>
            </a:solidFill>
            <a:prstDash val="solid"/>
          </a:ln>
          <a:effectLst>
            <a:outerShdw blurRad="38100" dist="12700" dir="2700000" algn="bl" rotWithShape="0">
              <a:srgbClr val="000000">
                <a:alpha val="22000"/>
              </a:srgbClr>
            </a:outerShdw>
          </a:effectLst>
        </p:spPr>
        <p:txBody>
          <a:bodyPr/>
          <a:p>
            <a:pPr marL="0" indent="0">
              <a:buNone/>
            </a:pPr>
            <a:r>
              <a:rPr lang="en-US" sz="1400" b="1" dirty="0">
                <a:solidFill>
                  <a:srgbClr val="4DFF8F"/>
                </a:solidFill>
                <a:latin typeface="Aptos Display" pitchFamily="34" charset="0"/>
                <a:ea typeface="Aptos Display" pitchFamily="34" charset="-122"/>
                <a:cs typeface="Aptos Display" pitchFamily="34" charset="-120"/>
                <a:sym typeface="+mn-ea"/>
              </a:rPr>
              <a:t>SOC Reporting</a:t>
            </a:r>
            <a:endParaRPr lang="en-US" sz="1400"/>
          </a:p>
        </p:txBody>
      </p:sp>
      <p:sp>
        <p:nvSpPr>
          <p:cNvPr id="29" name="Shape 26"/>
          <p:cNvSpPr/>
          <p:nvPr/>
        </p:nvSpPr>
        <p:spPr>
          <a:xfrm>
            <a:off x="8275320" y="4407408"/>
            <a:ext cx="73152" cy="1005840"/>
          </a:xfrm>
          <a:prstGeom prst="rect">
            <a:avLst/>
          </a:prstGeom>
          <a:solidFill>
            <a:srgbClr val="4DFF8F"/>
          </a:solidFill>
          <a:ln w="12700">
            <a:solidFill>
              <a:srgbClr val="4DFF8F"/>
            </a:solidFill>
            <a:prstDash val="solid"/>
          </a:ln>
        </p:spPr>
      </p:sp>
      <p:sp>
        <p:nvSpPr>
          <p:cNvPr id="30" name="Text 27"/>
          <p:cNvSpPr/>
          <p:nvPr/>
        </p:nvSpPr>
        <p:spPr>
          <a:xfrm>
            <a:off x="8503920" y="4540250"/>
            <a:ext cx="2990088" cy="228600"/>
          </a:xfrm>
          <a:prstGeom prst="rect">
            <a:avLst/>
          </a:prstGeom>
          <a:noFill/>
        </p:spPr>
        <p:txBody>
          <a:bodyPr wrap="square" lIns="0" tIns="0" rIns="0" bIns="0" rtlCol="0" anchor="ctr"/>
          <a:lstStyle/>
          <a:p>
            <a:pPr marL="0" indent="0">
              <a:buNone/>
            </a:pPr>
            <a:endParaRPr lang="en-US" sz="1200" dirty="0"/>
          </a:p>
        </p:txBody>
      </p:sp>
      <p:sp>
        <p:nvSpPr>
          <p:cNvPr id="31" name="Text 28"/>
          <p:cNvSpPr/>
          <p:nvPr/>
        </p:nvSpPr>
        <p:spPr>
          <a:xfrm>
            <a:off x="8394065" y="4745990"/>
            <a:ext cx="3100070" cy="575945"/>
          </a:xfrm>
          <a:prstGeom prst="rect">
            <a:avLst/>
          </a:prstGeom>
          <a:noFill/>
        </p:spPr>
        <p:txBody>
          <a:bodyPr wrap="square" lIns="254" tIns="254" rIns="254" bIns="254" rtlCol="0" anchor="t">
            <a:normAutofit/>
          </a:bodyPr>
          <a:lstStyle/>
          <a:p>
            <a:pPr marL="0" indent="0">
              <a:buNone/>
            </a:pPr>
            <a:r>
              <a:rPr lang="en-US" sz="1050" dirty="0">
                <a:solidFill>
                  <a:srgbClr val="F8FAFC"/>
                </a:solidFill>
                <a:latin typeface="Aptos" pitchFamily="34" charset="0"/>
                <a:ea typeface="Aptos" pitchFamily="34" charset="-122"/>
                <a:cs typeface="Aptos" pitchFamily="34" charset="-120"/>
              </a:rPr>
              <a:t>This traffic pattern indicates reconnaissance activity, where an attacker attempts to identify available services.</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50B1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50B12"/>
          </a:solidFill>
          <a:ln w="12700">
            <a:solidFill>
              <a:srgbClr val="050B12"/>
            </a:solidFill>
            <a:prstDash val="solid"/>
          </a:ln>
        </p:spPr>
      </p:sp>
      <p:sp>
        <p:nvSpPr>
          <p:cNvPr id="3" name="Shape 1"/>
          <p:cNvSpPr/>
          <p:nvPr/>
        </p:nvSpPr>
        <p:spPr>
          <a:xfrm>
            <a:off x="0" y="0"/>
            <a:ext cx="12191695" cy="475488"/>
          </a:xfrm>
          <a:prstGeom prst="rect">
            <a:avLst/>
          </a:prstGeom>
          <a:solidFill>
            <a:srgbClr val="091523"/>
          </a:solidFill>
          <a:ln w="12700">
            <a:solidFill>
              <a:srgbClr val="091523"/>
            </a:solidFill>
            <a:prstDash val="solid"/>
          </a:ln>
        </p:spPr>
      </p:sp>
      <p:sp>
        <p:nvSpPr>
          <p:cNvPr id="4" name="Shape 2"/>
          <p:cNvSpPr/>
          <p:nvPr/>
        </p:nvSpPr>
        <p:spPr>
          <a:xfrm>
            <a:off x="0" y="475488"/>
            <a:ext cx="12191695" cy="22860"/>
          </a:xfrm>
          <a:prstGeom prst="rect">
            <a:avLst/>
          </a:prstGeom>
          <a:solidFill>
            <a:srgbClr val="2FF3E0">
              <a:alpha val="90000"/>
            </a:srgbClr>
          </a:solidFill>
          <a:ln w="12700">
            <a:solidFill>
              <a:srgbClr val="2FF3E0"/>
            </a:solidFill>
            <a:prstDash val="solid"/>
          </a:ln>
        </p:spPr>
      </p:sp>
      <p:sp>
        <p:nvSpPr>
          <p:cNvPr id="6" name="Text 4"/>
          <p:cNvSpPr/>
          <p:nvPr/>
        </p:nvSpPr>
        <p:spPr>
          <a:xfrm>
            <a:off x="11384280" y="100584"/>
            <a:ext cx="347472" cy="256032"/>
          </a:xfrm>
          <a:prstGeom prst="rect">
            <a:avLst/>
          </a:prstGeom>
          <a:noFill/>
        </p:spPr>
        <p:txBody>
          <a:bodyPr wrap="square" lIns="0" tIns="0" rIns="0" bIns="0" rtlCol="0" anchor="ctr"/>
          <a:lstStyle/>
          <a:p>
            <a:pPr marL="0" indent="0" algn="r">
              <a:buNone/>
            </a:pPr>
            <a:r>
              <a:rPr lang="en-US" sz="1000" b="1" dirty="0">
                <a:solidFill>
                  <a:srgbClr val="9FB2C8"/>
                </a:solidFill>
                <a:latin typeface="Aptos Display" pitchFamily="34" charset="0"/>
                <a:ea typeface="Aptos Display" pitchFamily="34" charset="-122"/>
                <a:cs typeface="Aptos Display" pitchFamily="34" charset="-120"/>
              </a:rPr>
              <a:t>14</a:t>
            </a:r>
            <a:endParaRPr lang="en-US" sz="1000" dirty="0"/>
          </a:p>
        </p:txBody>
      </p:sp>
      <p:sp>
        <p:nvSpPr>
          <p:cNvPr id="7" name="Text 5"/>
          <p:cNvSpPr/>
          <p:nvPr/>
        </p:nvSpPr>
        <p:spPr>
          <a:xfrm>
            <a:off x="502920" y="713232"/>
            <a:ext cx="10607040" cy="329184"/>
          </a:xfrm>
          <a:prstGeom prst="rect">
            <a:avLst/>
          </a:prstGeom>
          <a:noFill/>
        </p:spPr>
        <p:txBody>
          <a:bodyPr wrap="square" lIns="0" tIns="0" rIns="0" bIns="0" rtlCol="0" anchor="ctr"/>
          <a:lstStyle/>
          <a:p>
            <a:pPr marL="0" indent="0">
              <a:buNone/>
            </a:pPr>
            <a:r>
              <a:rPr lang="en-US" sz="2200" b="1" dirty="0">
                <a:solidFill>
                  <a:srgbClr val="F8FAFC"/>
                </a:solidFill>
                <a:latin typeface="Aptos Display" pitchFamily="34" charset="0"/>
                <a:ea typeface="Aptos Display" pitchFamily="34" charset="-122"/>
                <a:cs typeface="Aptos Display" pitchFamily="34" charset="-120"/>
              </a:rPr>
              <a:t>Traffic Analysis: How the Pattern Indicates Scanning</a:t>
            </a:r>
            <a:endParaRPr lang="en-US" sz="2200" dirty="0"/>
          </a:p>
        </p:txBody>
      </p:sp>
      <p:sp>
        <p:nvSpPr>
          <p:cNvPr id="8" name="Shape 6"/>
          <p:cNvSpPr/>
          <p:nvPr/>
        </p:nvSpPr>
        <p:spPr>
          <a:xfrm>
            <a:off x="274320" y="1965960"/>
            <a:ext cx="11658600" cy="0"/>
          </a:xfrm>
          <a:prstGeom prst="line">
            <a:avLst/>
          </a:prstGeom>
          <a:noFill/>
          <a:ln w="6350">
            <a:solidFill>
              <a:srgbClr val="233548">
                <a:alpha val="22000"/>
              </a:srgbClr>
            </a:solidFill>
            <a:prstDash val="solid"/>
          </a:ln>
        </p:spPr>
      </p:sp>
      <p:sp>
        <p:nvSpPr>
          <p:cNvPr id="9" name="Shape 7"/>
          <p:cNvSpPr/>
          <p:nvPr/>
        </p:nvSpPr>
        <p:spPr>
          <a:xfrm>
            <a:off x="274320" y="2697480"/>
            <a:ext cx="11658600" cy="0"/>
          </a:xfrm>
          <a:prstGeom prst="line">
            <a:avLst/>
          </a:prstGeom>
          <a:noFill/>
          <a:ln w="6350">
            <a:solidFill>
              <a:srgbClr val="233548">
                <a:alpha val="22000"/>
              </a:srgbClr>
            </a:solidFill>
            <a:prstDash val="solid"/>
          </a:ln>
        </p:spPr>
      </p:sp>
      <p:sp>
        <p:nvSpPr>
          <p:cNvPr id="10" name="Shape 8"/>
          <p:cNvSpPr/>
          <p:nvPr/>
        </p:nvSpPr>
        <p:spPr>
          <a:xfrm>
            <a:off x="274320" y="3429000"/>
            <a:ext cx="11658600" cy="0"/>
          </a:xfrm>
          <a:prstGeom prst="line">
            <a:avLst/>
          </a:prstGeom>
          <a:noFill/>
          <a:ln w="6350">
            <a:solidFill>
              <a:srgbClr val="233548">
                <a:alpha val="22000"/>
              </a:srgbClr>
            </a:solidFill>
            <a:prstDash val="solid"/>
          </a:ln>
        </p:spPr>
      </p:sp>
      <p:sp>
        <p:nvSpPr>
          <p:cNvPr id="11" name="Shape 9"/>
          <p:cNvSpPr/>
          <p:nvPr/>
        </p:nvSpPr>
        <p:spPr>
          <a:xfrm>
            <a:off x="274320" y="4160520"/>
            <a:ext cx="11658600" cy="0"/>
          </a:xfrm>
          <a:prstGeom prst="line">
            <a:avLst/>
          </a:prstGeom>
          <a:noFill/>
          <a:ln w="6350">
            <a:solidFill>
              <a:srgbClr val="233548">
                <a:alpha val="22000"/>
              </a:srgbClr>
            </a:solidFill>
            <a:prstDash val="solid"/>
          </a:ln>
        </p:spPr>
      </p:sp>
      <p:sp>
        <p:nvSpPr>
          <p:cNvPr id="12" name="Shape 10"/>
          <p:cNvSpPr/>
          <p:nvPr/>
        </p:nvSpPr>
        <p:spPr>
          <a:xfrm>
            <a:off x="274320" y="4892040"/>
            <a:ext cx="11658600" cy="0"/>
          </a:xfrm>
          <a:prstGeom prst="line">
            <a:avLst/>
          </a:prstGeom>
          <a:noFill/>
          <a:ln w="6350">
            <a:solidFill>
              <a:srgbClr val="233548">
                <a:alpha val="22000"/>
              </a:srgbClr>
            </a:solidFill>
            <a:prstDash val="solid"/>
          </a:ln>
        </p:spPr>
      </p:sp>
      <p:sp>
        <p:nvSpPr>
          <p:cNvPr id="13" name="Shape 11"/>
          <p:cNvSpPr/>
          <p:nvPr/>
        </p:nvSpPr>
        <p:spPr>
          <a:xfrm>
            <a:off x="274320" y="5623560"/>
            <a:ext cx="11658600" cy="0"/>
          </a:xfrm>
          <a:prstGeom prst="line">
            <a:avLst/>
          </a:prstGeom>
          <a:noFill/>
          <a:ln w="6350">
            <a:solidFill>
              <a:srgbClr val="233548">
                <a:alpha val="22000"/>
              </a:srgbClr>
            </a:solidFill>
            <a:prstDash val="solid"/>
          </a:ln>
        </p:spPr>
      </p:sp>
      <p:sp>
        <p:nvSpPr>
          <p:cNvPr id="14" name="Shape 12"/>
          <p:cNvSpPr/>
          <p:nvPr/>
        </p:nvSpPr>
        <p:spPr>
          <a:xfrm>
            <a:off x="0" y="6611112"/>
            <a:ext cx="12191695" cy="246888"/>
          </a:xfrm>
          <a:prstGeom prst="rect">
            <a:avLst/>
          </a:prstGeom>
          <a:solidFill>
            <a:srgbClr val="03070C"/>
          </a:solidFill>
          <a:ln w="12700">
            <a:solidFill>
              <a:srgbClr val="03070C"/>
            </a:solidFill>
            <a:prstDash val="solid"/>
          </a:ln>
        </p:spPr>
      </p:sp>
      <p:sp>
        <p:nvSpPr>
          <p:cNvPr id="17" name="Text 15"/>
          <p:cNvSpPr/>
          <p:nvPr/>
        </p:nvSpPr>
        <p:spPr>
          <a:xfrm>
            <a:off x="731520" y="1234440"/>
            <a:ext cx="4389120" cy="228600"/>
          </a:xfrm>
          <a:prstGeom prst="rect">
            <a:avLst/>
          </a:prstGeom>
          <a:noFill/>
        </p:spPr>
        <p:txBody>
          <a:bodyPr wrap="square" lIns="0" tIns="0" rIns="0" bIns="0" rtlCol="0" anchor="ctr"/>
          <a:lstStyle/>
          <a:p>
            <a:pPr marL="0" indent="0">
              <a:buNone/>
            </a:pPr>
            <a:r>
              <a:rPr lang="en-US" sz="1800" b="1" dirty="0">
                <a:solidFill>
                  <a:srgbClr val="2FF3E0"/>
                </a:solidFill>
              </a:rPr>
              <a:t>TCP flag interpretation</a:t>
            </a:r>
            <a:endParaRPr lang="en-US" sz="1800" dirty="0"/>
          </a:p>
        </p:txBody>
      </p:sp>
      <p:sp>
        <p:nvSpPr>
          <p:cNvPr id="18" name="Shape 16"/>
          <p:cNvSpPr/>
          <p:nvPr/>
        </p:nvSpPr>
        <p:spPr>
          <a:xfrm>
            <a:off x="685800" y="1828800"/>
            <a:ext cx="3502152" cy="1828800"/>
          </a:xfrm>
          <a:prstGeom prst="roundRect">
            <a:avLst>
              <a:gd name="adj" fmla="val 6500"/>
            </a:avLst>
          </a:prstGeom>
          <a:solidFill>
            <a:srgbClr val="0D1B2A">
              <a:alpha val="97000"/>
            </a:srgbClr>
          </a:solidFill>
          <a:ln w="12700">
            <a:solidFill>
              <a:srgbClr val="233548">
                <a:alpha val="92000"/>
              </a:srgbClr>
            </a:solidFill>
            <a:prstDash val="solid"/>
          </a:ln>
        </p:spPr>
      </p:sp>
      <p:sp>
        <p:nvSpPr>
          <p:cNvPr id="19" name="Text 17"/>
          <p:cNvSpPr/>
          <p:nvPr/>
        </p:nvSpPr>
        <p:spPr>
          <a:xfrm>
            <a:off x="850392" y="1993392"/>
            <a:ext cx="502920" cy="228600"/>
          </a:xfrm>
          <a:prstGeom prst="rect">
            <a:avLst/>
          </a:prstGeom>
          <a:noFill/>
        </p:spPr>
        <p:txBody>
          <a:bodyPr wrap="square" lIns="0" tIns="0" rIns="0" bIns="0" rtlCol="0" anchor="ctr"/>
          <a:lstStyle/>
          <a:p>
            <a:pPr marL="0" indent="0">
              <a:buNone/>
            </a:pPr>
            <a:r>
              <a:rPr lang="en-US" sz="1500" b="1" dirty="0">
                <a:solidFill>
                  <a:srgbClr val="2FF3E0"/>
                </a:solidFill>
              </a:rPr>
              <a:t>01</a:t>
            </a:r>
            <a:endParaRPr lang="en-US" sz="1500" dirty="0"/>
          </a:p>
        </p:txBody>
      </p:sp>
      <p:sp>
        <p:nvSpPr>
          <p:cNvPr id="20" name="Text 18"/>
          <p:cNvSpPr/>
          <p:nvPr/>
        </p:nvSpPr>
        <p:spPr>
          <a:xfrm>
            <a:off x="850392" y="2359152"/>
            <a:ext cx="3172968" cy="320040"/>
          </a:xfrm>
          <a:prstGeom prst="rect">
            <a:avLst/>
          </a:prstGeom>
          <a:noFill/>
        </p:spPr>
        <p:txBody>
          <a:bodyPr wrap="square" lIns="0" tIns="0" rIns="0" bIns="0" rtlCol="0" anchor="ctr"/>
          <a:lstStyle/>
          <a:p>
            <a:pPr marL="0" indent="0">
              <a:buNone/>
            </a:pPr>
            <a:r>
              <a:rPr lang="en-US" sz="1250" b="1" dirty="0">
                <a:solidFill>
                  <a:srgbClr val="F8FAFC"/>
                </a:solidFill>
              </a:rPr>
              <a:t>SYN</a:t>
            </a:r>
            <a:endParaRPr lang="en-US" sz="1250" dirty="0"/>
          </a:p>
        </p:txBody>
      </p:sp>
      <p:sp>
        <p:nvSpPr>
          <p:cNvPr id="21" name="Text 19"/>
          <p:cNvSpPr/>
          <p:nvPr/>
        </p:nvSpPr>
        <p:spPr>
          <a:xfrm>
            <a:off x="850392" y="2761488"/>
            <a:ext cx="3172968" cy="777240"/>
          </a:xfrm>
          <a:prstGeom prst="rect">
            <a:avLst/>
          </a:prstGeom>
          <a:noFill/>
        </p:spPr>
        <p:txBody>
          <a:bodyPr wrap="square" lIns="127" tIns="127" rIns="127" bIns="127" rtlCol="0" anchor="ctr">
            <a:normAutofit/>
          </a:bodyPr>
          <a:lstStyle/>
          <a:p>
            <a:pPr marL="0" indent="0">
              <a:buNone/>
            </a:pPr>
            <a:r>
              <a:rPr lang="en-US" sz="950" dirty="0">
                <a:solidFill>
                  <a:srgbClr val="9FB2C8"/>
                </a:solidFill>
              </a:rPr>
              <a:t>A host sends a SYN packet to begin a TCP connection attempt.</a:t>
            </a:r>
            <a:endParaRPr lang="en-US" sz="950" dirty="0"/>
          </a:p>
        </p:txBody>
      </p:sp>
      <p:sp>
        <p:nvSpPr>
          <p:cNvPr id="22" name="Shape 20"/>
          <p:cNvSpPr/>
          <p:nvPr/>
        </p:nvSpPr>
        <p:spPr>
          <a:xfrm>
            <a:off x="4352544" y="1828800"/>
            <a:ext cx="3502152" cy="1828800"/>
          </a:xfrm>
          <a:prstGeom prst="roundRect">
            <a:avLst>
              <a:gd name="adj" fmla="val 6500"/>
            </a:avLst>
          </a:prstGeom>
          <a:solidFill>
            <a:srgbClr val="0D1B2A">
              <a:alpha val="97000"/>
            </a:srgbClr>
          </a:solidFill>
          <a:ln w="12700">
            <a:solidFill>
              <a:srgbClr val="233548">
                <a:alpha val="92000"/>
              </a:srgbClr>
            </a:solidFill>
            <a:prstDash val="solid"/>
          </a:ln>
        </p:spPr>
      </p:sp>
      <p:sp>
        <p:nvSpPr>
          <p:cNvPr id="23" name="Text 21"/>
          <p:cNvSpPr/>
          <p:nvPr/>
        </p:nvSpPr>
        <p:spPr>
          <a:xfrm>
            <a:off x="4517136" y="1993392"/>
            <a:ext cx="502920" cy="228600"/>
          </a:xfrm>
          <a:prstGeom prst="rect">
            <a:avLst/>
          </a:prstGeom>
          <a:noFill/>
        </p:spPr>
        <p:txBody>
          <a:bodyPr wrap="square" lIns="0" tIns="0" rIns="0" bIns="0" rtlCol="0" anchor="ctr"/>
          <a:lstStyle/>
          <a:p>
            <a:pPr marL="0" indent="0">
              <a:buNone/>
            </a:pPr>
            <a:r>
              <a:rPr lang="en-US" sz="1500" b="1" dirty="0">
                <a:solidFill>
                  <a:srgbClr val="2FF3E0"/>
                </a:solidFill>
              </a:rPr>
              <a:t>02</a:t>
            </a:r>
            <a:endParaRPr lang="en-US" sz="1500" dirty="0"/>
          </a:p>
        </p:txBody>
      </p:sp>
      <p:sp>
        <p:nvSpPr>
          <p:cNvPr id="24" name="Text 22"/>
          <p:cNvSpPr/>
          <p:nvPr/>
        </p:nvSpPr>
        <p:spPr>
          <a:xfrm>
            <a:off x="4517136" y="2359152"/>
            <a:ext cx="3172968" cy="320040"/>
          </a:xfrm>
          <a:prstGeom prst="rect">
            <a:avLst/>
          </a:prstGeom>
          <a:noFill/>
        </p:spPr>
        <p:txBody>
          <a:bodyPr wrap="square" lIns="0" tIns="0" rIns="0" bIns="0" rtlCol="0" anchor="ctr"/>
          <a:lstStyle/>
          <a:p>
            <a:pPr marL="0" indent="0">
              <a:buNone/>
            </a:pPr>
            <a:r>
              <a:rPr lang="en-US" sz="1250" b="1" dirty="0">
                <a:solidFill>
                  <a:srgbClr val="F8FAFC"/>
                </a:solidFill>
              </a:rPr>
              <a:t>RST/ACK</a:t>
            </a:r>
            <a:endParaRPr lang="en-US" sz="1250" dirty="0"/>
          </a:p>
        </p:txBody>
      </p:sp>
      <p:sp>
        <p:nvSpPr>
          <p:cNvPr id="25" name="Text 23"/>
          <p:cNvSpPr/>
          <p:nvPr/>
        </p:nvSpPr>
        <p:spPr>
          <a:xfrm>
            <a:off x="4517136" y="2761488"/>
            <a:ext cx="3172968" cy="777240"/>
          </a:xfrm>
          <a:prstGeom prst="rect">
            <a:avLst/>
          </a:prstGeom>
          <a:noFill/>
        </p:spPr>
        <p:txBody>
          <a:bodyPr wrap="square" lIns="127" tIns="127" rIns="127" bIns="127" rtlCol="0" anchor="ctr">
            <a:normAutofit/>
          </a:bodyPr>
          <a:lstStyle/>
          <a:p>
            <a:pPr marL="0" indent="0">
              <a:buNone/>
            </a:pPr>
            <a:r>
              <a:rPr lang="en-US" sz="950" dirty="0">
                <a:solidFill>
                  <a:srgbClr val="9FB2C8"/>
                </a:solidFill>
              </a:rPr>
              <a:t>A reset response usually indicates the connection is refused or the port is closed.</a:t>
            </a:r>
            <a:endParaRPr lang="en-US" sz="950" dirty="0"/>
          </a:p>
        </p:txBody>
      </p:sp>
      <p:sp>
        <p:nvSpPr>
          <p:cNvPr id="26" name="Shape 24"/>
          <p:cNvSpPr/>
          <p:nvPr/>
        </p:nvSpPr>
        <p:spPr>
          <a:xfrm>
            <a:off x="8019288" y="1828800"/>
            <a:ext cx="3502152" cy="1828800"/>
          </a:xfrm>
          <a:prstGeom prst="roundRect">
            <a:avLst>
              <a:gd name="adj" fmla="val 6500"/>
            </a:avLst>
          </a:prstGeom>
          <a:solidFill>
            <a:srgbClr val="0D1B2A">
              <a:alpha val="97000"/>
            </a:srgbClr>
          </a:solidFill>
          <a:ln w="12700">
            <a:solidFill>
              <a:srgbClr val="233548">
                <a:alpha val="92000"/>
              </a:srgbClr>
            </a:solidFill>
            <a:prstDash val="solid"/>
          </a:ln>
        </p:spPr>
      </p:sp>
      <p:sp>
        <p:nvSpPr>
          <p:cNvPr id="27" name="Text 25"/>
          <p:cNvSpPr/>
          <p:nvPr/>
        </p:nvSpPr>
        <p:spPr>
          <a:xfrm>
            <a:off x="8183880" y="1993392"/>
            <a:ext cx="502920" cy="228600"/>
          </a:xfrm>
          <a:prstGeom prst="rect">
            <a:avLst/>
          </a:prstGeom>
          <a:noFill/>
        </p:spPr>
        <p:txBody>
          <a:bodyPr wrap="square" lIns="0" tIns="0" rIns="0" bIns="0" rtlCol="0" anchor="ctr"/>
          <a:lstStyle/>
          <a:p>
            <a:pPr marL="0" indent="0">
              <a:buNone/>
            </a:pPr>
            <a:r>
              <a:rPr lang="en-US" sz="1500" b="1" dirty="0">
                <a:solidFill>
                  <a:srgbClr val="2FF3E0"/>
                </a:solidFill>
              </a:rPr>
              <a:t>03</a:t>
            </a:r>
            <a:endParaRPr lang="en-US" sz="1500" dirty="0"/>
          </a:p>
        </p:txBody>
      </p:sp>
      <p:sp>
        <p:nvSpPr>
          <p:cNvPr id="28" name="Text 26"/>
          <p:cNvSpPr/>
          <p:nvPr/>
        </p:nvSpPr>
        <p:spPr>
          <a:xfrm>
            <a:off x="8183880" y="2359152"/>
            <a:ext cx="3172968" cy="320040"/>
          </a:xfrm>
          <a:prstGeom prst="rect">
            <a:avLst/>
          </a:prstGeom>
          <a:noFill/>
        </p:spPr>
        <p:txBody>
          <a:bodyPr wrap="square" lIns="0" tIns="0" rIns="0" bIns="0" rtlCol="0" anchor="ctr"/>
          <a:lstStyle/>
          <a:p>
            <a:pPr marL="0" indent="0">
              <a:buNone/>
            </a:pPr>
            <a:r>
              <a:rPr lang="en-US" sz="1250" b="1" dirty="0">
                <a:solidFill>
                  <a:srgbClr val="F8FAFC"/>
                </a:solidFill>
              </a:rPr>
              <a:t>Repetition</a:t>
            </a:r>
            <a:endParaRPr lang="en-US" sz="1250" dirty="0"/>
          </a:p>
        </p:txBody>
      </p:sp>
      <p:sp>
        <p:nvSpPr>
          <p:cNvPr id="29" name="Text 27"/>
          <p:cNvSpPr/>
          <p:nvPr/>
        </p:nvSpPr>
        <p:spPr>
          <a:xfrm>
            <a:off x="8183880" y="2761488"/>
            <a:ext cx="3172968" cy="777240"/>
          </a:xfrm>
          <a:prstGeom prst="rect">
            <a:avLst/>
          </a:prstGeom>
          <a:noFill/>
        </p:spPr>
        <p:txBody>
          <a:bodyPr wrap="square" lIns="127" tIns="127" rIns="127" bIns="127" rtlCol="0" anchor="ctr">
            <a:normAutofit/>
          </a:bodyPr>
          <a:lstStyle/>
          <a:p>
            <a:pPr marL="0" indent="0">
              <a:buNone/>
            </a:pPr>
            <a:r>
              <a:rPr lang="en-US" sz="950" dirty="0">
                <a:solidFill>
                  <a:srgbClr val="9FB2C8"/>
                </a:solidFill>
              </a:rPr>
              <a:t>Many connection attempts in a short period suggest reconnaissance or port scanning.</a:t>
            </a:r>
            <a:endParaRPr lang="en-US" sz="950" dirty="0"/>
          </a:p>
        </p:txBody>
      </p:sp>
      <p:sp>
        <p:nvSpPr>
          <p:cNvPr id="30" name="Shape 28"/>
          <p:cNvSpPr/>
          <p:nvPr/>
        </p:nvSpPr>
        <p:spPr>
          <a:xfrm>
            <a:off x="685800" y="4251960"/>
            <a:ext cx="5120640" cy="1143000"/>
          </a:xfrm>
          <a:prstGeom prst="roundRect">
            <a:avLst>
              <a:gd name="adj" fmla="val 9600"/>
            </a:avLst>
          </a:prstGeom>
          <a:solidFill>
            <a:srgbClr val="0D1B2A">
              <a:alpha val="96000"/>
            </a:srgbClr>
          </a:solidFill>
          <a:ln w="12700">
            <a:solidFill>
              <a:srgbClr val="233548">
                <a:alpha val="95000"/>
              </a:srgbClr>
            </a:solidFill>
            <a:prstDash val="solid"/>
          </a:ln>
          <a:effectLst>
            <a:outerShdw blurRad="38100" dist="12700" dir="2700000" algn="bl" rotWithShape="0">
              <a:srgbClr val="000000">
                <a:alpha val="22000"/>
              </a:srgbClr>
            </a:outerShdw>
          </a:effectLst>
        </p:spPr>
      </p:sp>
      <p:sp>
        <p:nvSpPr>
          <p:cNvPr id="31" name="Shape 29"/>
          <p:cNvSpPr/>
          <p:nvPr/>
        </p:nvSpPr>
        <p:spPr>
          <a:xfrm>
            <a:off x="685800" y="4251960"/>
            <a:ext cx="73152" cy="1143000"/>
          </a:xfrm>
          <a:prstGeom prst="rect">
            <a:avLst/>
          </a:prstGeom>
          <a:solidFill>
            <a:srgbClr val="4DFF8F"/>
          </a:solidFill>
          <a:ln w="12700">
            <a:solidFill>
              <a:srgbClr val="4DFF8F"/>
            </a:solidFill>
            <a:prstDash val="solid"/>
          </a:ln>
        </p:spPr>
      </p:sp>
      <p:sp>
        <p:nvSpPr>
          <p:cNvPr id="32" name="Text 30"/>
          <p:cNvSpPr/>
          <p:nvPr/>
        </p:nvSpPr>
        <p:spPr>
          <a:xfrm>
            <a:off x="914400" y="4416552"/>
            <a:ext cx="4773168" cy="228600"/>
          </a:xfrm>
          <a:prstGeom prst="rect">
            <a:avLst/>
          </a:prstGeom>
          <a:noFill/>
        </p:spPr>
        <p:txBody>
          <a:bodyPr wrap="square" lIns="0" tIns="0" rIns="0" bIns="0" rtlCol="0" anchor="ctr"/>
          <a:lstStyle/>
          <a:p>
            <a:pPr marL="0" indent="0">
              <a:buNone/>
            </a:pPr>
            <a:r>
              <a:rPr lang="en-US" sz="1200" b="1" dirty="0">
                <a:solidFill>
                  <a:srgbClr val="4DFF8F"/>
                </a:solidFill>
                <a:latin typeface="Aptos Display" pitchFamily="34" charset="0"/>
                <a:ea typeface="Aptos Display" pitchFamily="34" charset="-122"/>
                <a:cs typeface="Aptos Display" pitchFamily="34" charset="-120"/>
              </a:rPr>
              <a:t>Professional interpretation</a:t>
            </a:r>
            <a:endParaRPr lang="en-US" sz="1200" dirty="0"/>
          </a:p>
        </p:txBody>
      </p:sp>
      <p:sp>
        <p:nvSpPr>
          <p:cNvPr id="33" name="Text 31"/>
          <p:cNvSpPr/>
          <p:nvPr/>
        </p:nvSpPr>
        <p:spPr>
          <a:xfrm>
            <a:off x="914400" y="4727448"/>
            <a:ext cx="4773168" cy="576072"/>
          </a:xfrm>
          <a:prstGeom prst="rect">
            <a:avLst/>
          </a:prstGeom>
          <a:noFill/>
        </p:spPr>
        <p:txBody>
          <a:bodyPr wrap="square" lIns="254" tIns="254" rIns="254" bIns="254" rtlCol="0" anchor="t">
            <a:normAutofit/>
          </a:bodyPr>
          <a:lstStyle/>
          <a:p>
            <a:pPr marL="0" indent="0">
              <a:buNone/>
            </a:pPr>
            <a:r>
              <a:rPr lang="en-US" sz="1050" dirty="0">
                <a:solidFill>
                  <a:srgbClr val="F8FAFC"/>
                </a:solidFill>
                <a:latin typeface="Aptos" pitchFamily="34" charset="0"/>
                <a:ea typeface="Aptos" pitchFamily="34" charset="-122"/>
                <a:cs typeface="Aptos" pitchFamily="34" charset="-120"/>
              </a:rPr>
              <a:t>A SOC analyst does not only rely on tool alerts. The analyst also interprets packet behavior and explains why traffic is suspicious.</a:t>
            </a:r>
            <a:endParaRPr lang="en-US" sz="1050" dirty="0"/>
          </a:p>
        </p:txBody>
      </p:sp>
      <p:sp>
        <p:nvSpPr>
          <p:cNvPr id="34" name="Shape 32"/>
          <p:cNvSpPr/>
          <p:nvPr/>
        </p:nvSpPr>
        <p:spPr>
          <a:xfrm>
            <a:off x="6355080" y="4251960"/>
            <a:ext cx="5166360" cy="1143000"/>
          </a:xfrm>
          <a:prstGeom prst="roundRect">
            <a:avLst>
              <a:gd name="adj" fmla="val 9600"/>
            </a:avLst>
          </a:prstGeom>
          <a:solidFill>
            <a:srgbClr val="0D1B2A">
              <a:alpha val="96000"/>
            </a:srgbClr>
          </a:solidFill>
          <a:ln w="12700">
            <a:solidFill>
              <a:srgbClr val="233548">
                <a:alpha val="95000"/>
              </a:srgbClr>
            </a:solidFill>
            <a:prstDash val="solid"/>
          </a:ln>
          <a:effectLst>
            <a:outerShdw blurRad="38100" dist="12700" dir="2700000" algn="bl" rotWithShape="0">
              <a:srgbClr val="000000">
                <a:alpha val="22000"/>
              </a:srgbClr>
            </a:outerShdw>
          </a:effectLst>
        </p:spPr>
      </p:sp>
      <p:sp>
        <p:nvSpPr>
          <p:cNvPr id="35" name="Shape 33"/>
          <p:cNvSpPr/>
          <p:nvPr/>
        </p:nvSpPr>
        <p:spPr>
          <a:xfrm>
            <a:off x="6355080" y="4251960"/>
            <a:ext cx="73152" cy="1143000"/>
          </a:xfrm>
          <a:prstGeom prst="rect">
            <a:avLst/>
          </a:prstGeom>
          <a:solidFill>
            <a:srgbClr val="2FF3E0"/>
          </a:solidFill>
          <a:ln w="12700">
            <a:solidFill>
              <a:srgbClr val="2FF3E0"/>
            </a:solidFill>
            <a:prstDash val="solid"/>
          </a:ln>
        </p:spPr>
      </p:sp>
      <p:sp>
        <p:nvSpPr>
          <p:cNvPr id="36" name="Text 34"/>
          <p:cNvSpPr/>
          <p:nvPr/>
        </p:nvSpPr>
        <p:spPr>
          <a:xfrm>
            <a:off x="6583680" y="4416552"/>
            <a:ext cx="4818888" cy="228600"/>
          </a:xfrm>
          <a:prstGeom prst="rect">
            <a:avLst/>
          </a:prstGeom>
          <a:noFill/>
        </p:spPr>
        <p:txBody>
          <a:bodyPr wrap="square" lIns="0" tIns="0" rIns="0" bIns="0" rtlCol="0" anchor="ctr"/>
          <a:lstStyle/>
          <a:p>
            <a:pPr marL="0" indent="0">
              <a:buNone/>
            </a:pPr>
            <a:r>
              <a:rPr lang="en-US" sz="1200" b="1" dirty="0">
                <a:solidFill>
                  <a:srgbClr val="2FF3E0"/>
                </a:solidFill>
                <a:latin typeface="Aptos Display" pitchFamily="34" charset="0"/>
                <a:ea typeface="Aptos Display" pitchFamily="34" charset="-122"/>
                <a:cs typeface="Aptos Display" pitchFamily="34" charset="-120"/>
              </a:rPr>
              <a:t>Evidence summary</a:t>
            </a:r>
            <a:endParaRPr lang="en-US" sz="1200" dirty="0"/>
          </a:p>
        </p:txBody>
      </p:sp>
      <p:sp>
        <p:nvSpPr>
          <p:cNvPr id="37" name="Text 35"/>
          <p:cNvSpPr/>
          <p:nvPr/>
        </p:nvSpPr>
        <p:spPr>
          <a:xfrm>
            <a:off x="6583680" y="4727448"/>
            <a:ext cx="4818888" cy="576072"/>
          </a:xfrm>
          <a:prstGeom prst="rect">
            <a:avLst/>
          </a:prstGeom>
          <a:noFill/>
        </p:spPr>
        <p:txBody>
          <a:bodyPr wrap="square" lIns="254" tIns="254" rIns="254" bIns="254" rtlCol="0" anchor="t">
            <a:normAutofit/>
          </a:bodyPr>
          <a:lstStyle/>
          <a:p>
            <a:pPr marL="0" indent="0">
              <a:buNone/>
            </a:pPr>
            <a:r>
              <a:rPr lang="en-US" sz="1050" dirty="0">
                <a:solidFill>
                  <a:srgbClr val="F8FAFC"/>
                </a:solidFill>
                <a:latin typeface="Aptos" pitchFamily="34" charset="0"/>
                <a:ea typeface="Aptos" pitchFamily="34" charset="-122"/>
                <a:cs typeface="Aptos" pitchFamily="34" charset="-120"/>
              </a:rPr>
              <a:t>The captured packets show connection attempts and reset responses, which support the conclusion that scanning-like behavior occurred.</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50B1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50B12"/>
          </a:solidFill>
          <a:ln w="12700">
            <a:solidFill>
              <a:srgbClr val="050B12"/>
            </a:solidFill>
            <a:prstDash val="solid"/>
          </a:ln>
        </p:spPr>
      </p:sp>
      <p:sp>
        <p:nvSpPr>
          <p:cNvPr id="3" name="Shape 1"/>
          <p:cNvSpPr/>
          <p:nvPr/>
        </p:nvSpPr>
        <p:spPr>
          <a:xfrm>
            <a:off x="0" y="0"/>
            <a:ext cx="12191695" cy="475488"/>
          </a:xfrm>
          <a:prstGeom prst="rect">
            <a:avLst/>
          </a:prstGeom>
          <a:solidFill>
            <a:srgbClr val="091523"/>
          </a:solidFill>
          <a:ln w="12700">
            <a:solidFill>
              <a:srgbClr val="091523"/>
            </a:solidFill>
            <a:prstDash val="solid"/>
          </a:ln>
        </p:spPr>
      </p:sp>
      <p:sp>
        <p:nvSpPr>
          <p:cNvPr id="4" name="Shape 2"/>
          <p:cNvSpPr/>
          <p:nvPr/>
        </p:nvSpPr>
        <p:spPr>
          <a:xfrm>
            <a:off x="0" y="475488"/>
            <a:ext cx="12191695" cy="22860"/>
          </a:xfrm>
          <a:prstGeom prst="rect">
            <a:avLst/>
          </a:prstGeom>
          <a:solidFill>
            <a:srgbClr val="2FF3E0">
              <a:alpha val="90000"/>
            </a:srgbClr>
          </a:solidFill>
          <a:ln w="12700">
            <a:solidFill>
              <a:srgbClr val="2FF3E0"/>
            </a:solidFill>
            <a:prstDash val="solid"/>
          </a:ln>
        </p:spPr>
      </p:sp>
      <p:sp>
        <p:nvSpPr>
          <p:cNvPr id="6" name="Text 4"/>
          <p:cNvSpPr/>
          <p:nvPr/>
        </p:nvSpPr>
        <p:spPr>
          <a:xfrm>
            <a:off x="11384280" y="100584"/>
            <a:ext cx="347472" cy="256032"/>
          </a:xfrm>
          <a:prstGeom prst="rect">
            <a:avLst/>
          </a:prstGeom>
          <a:noFill/>
        </p:spPr>
        <p:txBody>
          <a:bodyPr wrap="square" lIns="0" tIns="0" rIns="0" bIns="0" rtlCol="0" anchor="ctr"/>
          <a:lstStyle/>
          <a:p>
            <a:pPr marL="0" indent="0" algn="r">
              <a:buNone/>
            </a:pPr>
            <a:r>
              <a:rPr lang="en-US" sz="1000" b="1" dirty="0">
                <a:solidFill>
                  <a:srgbClr val="9FB2C8"/>
                </a:solidFill>
                <a:latin typeface="Aptos Display" pitchFamily="34" charset="0"/>
                <a:ea typeface="Aptos Display" pitchFamily="34" charset="-122"/>
                <a:cs typeface="Aptos Display" pitchFamily="34" charset="-120"/>
              </a:rPr>
              <a:t>15</a:t>
            </a:r>
            <a:endParaRPr lang="en-US" sz="1000" dirty="0"/>
          </a:p>
        </p:txBody>
      </p:sp>
      <p:sp>
        <p:nvSpPr>
          <p:cNvPr id="7" name="Text 5"/>
          <p:cNvSpPr/>
          <p:nvPr/>
        </p:nvSpPr>
        <p:spPr>
          <a:xfrm>
            <a:off x="502920" y="713232"/>
            <a:ext cx="10607040" cy="329184"/>
          </a:xfrm>
          <a:prstGeom prst="rect">
            <a:avLst/>
          </a:prstGeom>
          <a:noFill/>
        </p:spPr>
        <p:txBody>
          <a:bodyPr wrap="square" lIns="0" tIns="0" rIns="0" bIns="0" rtlCol="0" anchor="ctr"/>
          <a:lstStyle/>
          <a:p>
            <a:pPr marL="0" indent="0">
              <a:buNone/>
            </a:pPr>
            <a:r>
              <a:rPr lang="en-US" sz="2200" b="1" dirty="0">
                <a:solidFill>
                  <a:srgbClr val="F8FAFC"/>
                </a:solidFill>
                <a:latin typeface="Aptos Display" pitchFamily="34" charset="0"/>
                <a:ea typeface="Aptos Display" pitchFamily="34" charset="-122"/>
                <a:cs typeface="Aptos Display" pitchFamily="34" charset="-120"/>
              </a:rPr>
              <a:t>Role of the NIDS in Monitoring and Prevention</a:t>
            </a:r>
            <a:endParaRPr lang="en-US" sz="2200" dirty="0"/>
          </a:p>
        </p:txBody>
      </p:sp>
      <p:sp>
        <p:nvSpPr>
          <p:cNvPr id="8" name="Shape 6"/>
          <p:cNvSpPr/>
          <p:nvPr/>
        </p:nvSpPr>
        <p:spPr>
          <a:xfrm>
            <a:off x="274320" y="1965960"/>
            <a:ext cx="11658600" cy="0"/>
          </a:xfrm>
          <a:prstGeom prst="line">
            <a:avLst/>
          </a:prstGeom>
          <a:noFill/>
          <a:ln w="6350">
            <a:solidFill>
              <a:srgbClr val="233548">
                <a:alpha val="22000"/>
              </a:srgbClr>
            </a:solidFill>
            <a:prstDash val="solid"/>
          </a:ln>
        </p:spPr>
      </p:sp>
      <p:sp>
        <p:nvSpPr>
          <p:cNvPr id="9" name="Shape 7"/>
          <p:cNvSpPr/>
          <p:nvPr/>
        </p:nvSpPr>
        <p:spPr>
          <a:xfrm>
            <a:off x="274320" y="2697480"/>
            <a:ext cx="11658600" cy="0"/>
          </a:xfrm>
          <a:prstGeom prst="line">
            <a:avLst/>
          </a:prstGeom>
          <a:noFill/>
          <a:ln w="6350">
            <a:solidFill>
              <a:srgbClr val="233548">
                <a:alpha val="22000"/>
              </a:srgbClr>
            </a:solidFill>
            <a:prstDash val="solid"/>
          </a:ln>
        </p:spPr>
      </p:sp>
      <p:sp>
        <p:nvSpPr>
          <p:cNvPr id="10" name="Shape 8"/>
          <p:cNvSpPr/>
          <p:nvPr/>
        </p:nvSpPr>
        <p:spPr>
          <a:xfrm>
            <a:off x="274320" y="3429000"/>
            <a:ext cx="11658600" cy="0"/>
          </a:xfrm>
          <a:prstGeom prst="line">
            <a:avLst/>
          </a:prstGeom>
          <a:noFill/>
          <a:ln w="6350">
            <a:solidFill>
              <a:srgbClr val="233548">
                <a:alpha val="22000"/>
              </a:srgbClr>
            </a:solidFill>
            <a:prstDash val="solid"/>
          </a:ln>
        </p:spPr>
      </p:sp>
      <p:sp>
        <p:nvSpPr>
          <p:cNvPr id="11" name="Shape 9"/>
          <p:cNvSpPr/>
          <p:nvPr/>
        </p:nvSpPr>
        <p:spPr>
          <a:xfrm>
            <a:off x="274320" y="4160520"/>
            <a:ext cx="11658600" cy="0"/>
          </a:xfrm>
          <a:prstGeom prst="line">
            <a:avLst/>
          </a:prstGeom>
          <a:noFill/>
          <a:ln w="6350">
            <a:solidFill>
              <a:srgbClr val="233548">
                <a:alpha val="22000"/>
              </a:srgbClr>
            </a:solidFill>
            <a:prstDash val="solid"/>
          </a:ln>
        </p:spPr>
      </p:sp>
      <p:sp>
        <p:nvSpPr>
          <p:cNvPr id="12" name="Shape 10"/>
          <p:cNvSpPr/>
          <p:nvPr/>
        </p:nvSpPr>
        <p:spPr>
          <a:xfrm>
            <a:off x="274320" y="4892040"/>
            <a:ext cx="11658600" cy="0"/>
          </a:xfrm>
          <a:prstGeom prst="line">
            <a:avLst/>
          </a:prstGeom>
          <a:noFill/>
          <a:ln w="6350">
            <a:solidFill>
              <a:srgbClr val="233548">
                <a:alpha val="22000"/>
              </a:srgbClr>
            </a:solidFill>
            <a:prstDash val="solid"/>
          </a:ln>
        </p:spPr>
      </p:sp>
      <p:sp>
        <p:nvSpPr>
          <p:cNvPr id="13" name="Shape 11"/>
          <p:cNvSpPr/>
          <p:nvPr/>
        </p:nvSpPr>
        <p:spPr>
          <a:xfrm>
            <a:off x="274320" y="5623560"/>
            <a:ext cx="11658600" cy="0"/>
          </a:xfrm>
          <a:prstGeom prst="line">
            <a:avLst/>
          </a:prstGeom>
          <a:noFill/>
          <a:ln w="6350">
            <a:solidFill>
              <a:srgbClr val="233548">
                <a:alpha val="22000"/>
              </a:srgbClr>
            </a:solidFill>
            <a:prstDash val="solid"/>
          </a:ln>
        </p:spPr>
      </p:sp>
      <p:sp>
        <p:nvSpPr>
          <p:cNvPr id="14" name="Shape 12"/>
          <p:cNvSpPr/>
          <p:nvPr/>
        </p:nvSpPr>
        <p:spPr>
          <a:xfrm>
            <a:off x="0" y="6611112"/>
            <a:ext cx="12191695" cy="246888"/>
          </a:xfrm>
          <a:prstGeom prst="rect">
            <a:avLst/>
          </a:prstGeom>
          <a:solidFill>
            <a:srgbClr val="03070C"/>
          </a:solidFill>
          <a:ln w="12700">
            <a:solidFill>
              <a:srgbClr val="03070C"/>
            </a:solidFill>
            <a:prstDash val="solid"/>
          </a:ln>
        </p:spPr>
      </p:sp>
      <p:sp>
        <p:nvSpPr>
          <p:cNvPr id="17" name="Text 15"/>
          <p:cNvSpPr/>
          <p:nvPr/>
        </p:nvSpPr>
        <p:spPr>
          <a:xfrm>
            <a:off x="694944" y="1225296"/>
            <a:ext cx="10607040" cy="292608"/>
          </a:xfrm>
          <a:prstGeom prst="rect">
            <a:avLst/>
          </a:prstGeom>
          <a:noFill/>
        </p:spPr>
        <p:txBody>
          <a:bodyPr wrap="square" lIns="0" tIns="0" rIns="0" bIns="0" rtlCol="0" anchor="ctr"/>
          <a:lstStyle/>
          <a:p>
            <a:pPr marL="0" indent="0">
              <a:buNone/>
            </a:pPr>
            <a:r>
              <a:rPr lang="en-US" sz="1500" dirty="0">
                <a:solidFill>
                  <a:srgbClr val="9FB2C8"/>
                </a:solidFill>
              </a:rPr>
              <a:t>A NIDS supports the security workflow by moving from visibility to response.</a:t>
            </a:r>
            <a:endParaRPr lang="en-US" sz="1500" dirty="0"/>
          </a:p>
        </p:txBody>
      </p:sp>
      <p:sp>
        <p:nvSpPr>
          <p:cNvPr id="18" name="Shape 16"/>
          <p:cNvSpPr/>
          <p:nvPr/>
        </p:nvSpPr>
        <p:spPr>
          <a:xfrm>
            <a:off x="2697480" y="3090672"/>
            <a:ext cx="685800" cy="0"/>
          </a:xfrm>
          <a:prstGeom prst="line">
            <a:avLst/>
          </a:prstGeom>
          <a:noFill/>
          <a:ln w="25400">
            <a:solidFill>
              <a:srgbClr val="2FF3E0"/>
            </a:solidFill>
            <a:prstDash val="solid"/>
            <a:tailEnd type="triangle"/>
          </a:ln>
        </p:spPr>
      </p:sp>
      <p:sp>
        <p:nvSpPr>
          <p:cNvPr id="19" name="Shape 17"/>
          <p:cNvSpPr/>
          <p:nvPr/>
        </p:nvSpPr>
        <p:spPr>
          <a:xfrm>
            <a:off x="777240" y="2240280"/>
            <a:ext cx="1965960" cy="1965960"/>
          </a:xfrm>
          <a:prstGeom prst="ellipse">
            <a:avLst/>
          </a:prstGeom>
          <a:solidFill>
            <a:srgbClr val="0D1B2A"/>
          </a:solidFill>
          <a:ln w="16510">
            <a:solidFill>
              <a:srgbClr val="2FF3E0"/>
            </a:solidFill>
            <a:prstDash val="solid"/>
          </a:ln>
        </p:spPr>
      </p:sp>
      <p:sp>
        <p:nvSpPr>
          <p:cNvPr id="20" name="Text 18"/>
          <p:cNvSpPr/>
          <p:nvPr/>
        </p:nvSpPr>
        <p:spPr>
          <a:xfrm>
            <a:off x="1005840" y="2788920"/>
            <a:ext cx="1508760" cy="256032"/>
          </a:xfrm>
          <a:prstGeom prst="rect">
            <a:avLst/>
          </a:prstGeom>
          <a:noFill/>
        </p:spPr>
        <p:txBody>
          <a:bodyPr wrap="square" lIns="0" tIns="0" rIns="0" bIns="0" rtlCol="0" anchor="ctr"/>
          <a:lstStyle/>
          <a:p>
            <a:pPr marL="0" indent="0" algn="ctr">
              <a:buNone/>
            </a:pPr>
            <a:r>
              <a:rPr lang="en-US" sz="1500" b="1" dirty="0">
                <a:solidFill>
                  <a:srgbClr val="F8FAFC"/>
                </a:solidFill>
              </a:rPr>
              <a:t>Monitor</a:t>
            </a:r>
            <a:endParaRPr lang="en-US" sz="1500" dirty="0"/>
          </a:p>
        </p:txBody>
      </p:sp>
      <p:sp>
        <p:nvSpPr>
          <p:cNvPr id="21" name="Text 19"/>
          <p:cNvSpPr/>
          <p:nvPr/>
        </p:nvSpPr>
        <p:spPr>
          <a:xfrm>
            <a:off x="914400" y="4498848"/>
            <a:ext cx="1737360" cy="594360"/>
          </a:xfrm>
          <a:prstGeom prst="rect">
            <a:avLst/>
          </a:prstGeom>
          <a:noFill/>
        </p:spPr>
        <p:txBody>
          <a:bodyPr wrap="square" lIns="0" tIns="0" rIns="0" bIns="0" rtlCol="0" anchor="ctr">
            <a:normAutofit/>
          </a:bodyPr>
          <a:lstStyle/>
          <a:p>
            <a:pPr marL="0" indent="0" algn="ctr">
              <a:buNone/>
            </a:pPr>
            <a:r>
              <a:rPr lang="en-US" sz="950" dirty="0">
                <a:solidFill>
                  <a:srgbClr val="9FB2C8"/>
                </a:solidFill>
              </a:rPr>
              <a:t>Capture packets from the active interface</a:t>
            </a:r>
            <a:endParaRPr lang="en-US" sz="950" dirty="0"/>
          </a:p>
        </p:txBody>
      </p:sp>
      <p:sp>
        <p:nvSpPr>
          <p:cNvPr id="22" name="Shape 20"/>
          <p:cNvSpPr/>
          <p:nvPr/>
        </p:nvSpPr>
        <p:spPr>
          <a:xfrm>
            <a:off x="5394960" y="3090672"/>
            <a:ext cx="685800" cy="0"/>
          </a:xfrm>
          <a:prstGeom prst="line">
            <a:avLst/>
          </a:prstGeom>
          <a:noFill/>
          <a:ln w="25400">
            <a:solidFill>
              <a:srgbClr val="2FF3E0"/>
            </a:solidFill>
            <a:prstDash val="solid"/>
            <a:tailEnd type="triangle"/>
          </a:ln>
        </p:spPr>
      </p:sp>
      <p:sp>
        <p:nvSpPr>
          <p:cNvPr id="23" name="Shape 21"/>
          <p:cNvSpPr/>
          <p:nvPr/>
        </p:nvSpPr>
        <p:spPr>
          <a:xfrm>
            <a:off x="3474720" y="2240280"/>
            <a:ext cx="1965960" cy="1965960"/>
          </a:xfrm>
          <a:prstGeom prst="ellipse">
            <a:avLst/>
          </a:prstGeom>
          <a:solidFill>
            <a:srgbClr val="0D1B2A"/>
          </a:solidFill>
          <a:ln w="16510">
            <a:solidFill>
              <a:srgbClr val="2FF3E0"/>
            </a:solidFill>
            <a:prstDash val="solid"/>
          </a:ln>
        </p:spPr>
      </p:sp>
      <p:sp>
        <p:nvSpPr>
          <p:cNvPr id="24" name="Text 22"/>
          <p:cNvSpPr/>
          <p:nvPr/>
        </p:nvSpPr>
        <p:spPr>
          <a:xfrm>
            <a:off x="3703320" y="2788920"/>
            <a:ext cx="1508760" cy="256032"/>
          </a:xfrm>
          <a:prstGeom prst="rect">
            <a:avLst/>
          </a:prstGeom>
          <a:noFill/>
        </p:spPr>
        <p:txBody>
          <a:bodyPr wrap="square" lIns="0" tIns="0" rIns="0" bIns="0" rtlCol="0" anchor="ctr"/>
          <a:lstStyle/>
          <a:p>
            <a:pPr marL="0" indent="0" algn="ctr">
              <a:buNone/>
            </a:pPr>
            <a:r>
              <a:rPr lang="en-US" sz="1500" b="1" dirty="0">
                <a:solidFill>
                  <a:srgbClr val="F8FAFC"/>
                </a:solidFill>
              </a:rPr>
              <a:t>Detect</a:t>
            </a:r>
            <a:endParaRPr lang="en-US" sz="1500" dirty="0"/>
          </a:p>
        </p:txBody>
      </p:sp>
      <p:sp>
        <p:nvSpPr>
          <p:cNvPr id="25" name="Text 23"/>
          <p:cNvSpPr/>
          <p:nvPr/>
        </p:nvSpPr>
        <p:spPr>
          <a:xfrm>
            <a:off x="3611880" y="4498848"/>
            <a:ext cx="1737360" cy="594360"/>
          </a:xfrm>
          <a:prstGeom prst="rect">
            <a:avLst/>
          </a:prstGeom>
          <a:noFill/>
        </p:spPr>
        <p:txBody>
          <a:bodyPr wrap="square" lIns="0" tIns="0" rIns="0" bIns="0" rtlCol="0" anchor="ctr">
            <a:normAutofit/>
          </a:bodyPr>
          <a:lstStyle/>
          <a:p>
            <a:pPr marL="0" indent="0" algn="ctr">
              <a:buNone/>
            </a:pPr>
            <a:r>
              <a:rPr lang="en-US" sz="950" dirty="0">
                <a:solidFill>
                  <a:srgbClr val="9FB2C8"/>
                </a:solidFill>
              </a:rPr>
              <a:t>Identify suspicious flags, scans and unusual patterns</a:t>
            </a:r>
            <a:endParaRPr lang="en-US" sz="950" dirty="0"/>
          </a:p>
        </p:txBody>
      </p:sp>
      <p:sp>
        <p:nvSpPr>
          <p:cNvPr id="26" name="Shape 24"/>
          <p:cNvSpPr/>
          <p:nvPr/>
        </p:nvSpPr>
        <p:spPr>
          <a:xfrm>
            <a:off x="8092440" y="3090672"/>
            <a:ext cx="685800" cy="0"/>
          </a:xfrm>
          <a:prstGeom prst="line">
            <a:avLst/>
          </a:prstGeom>
          <a:noFill/>
          <a:ln w="25400">
            <a:solidFill>
              <a:srgbClr val="2FF3E0"/>
            </a:solidFill>
            <a:prstDash val="solid"/>
            <a:tailEnd type="triangle"/>
          </a:ln>
        </p:spPr>
      </p:sp>
      <p:sp>
        <p:nvSpPr>
          <p:cNvPr id="27" name="Shape 25"/>
          <p:cNvSpPr/>
          <p:nvPr/>
        </p:nvSpPr>
        <p:spPr>
          <a:xfrm>
            <a:off x="6172200" y="2240280"/>
            <a:ext cx="1965960" cy="1965960"/>
          </a:xfrm>
          <a:prstGeom prst="ellipse">
            <a:avLst/>
          </a:prstGeom>
          <a:solidFill>
            <a:srgbClr val="0D1B2A"/>
          </a:solidFill>
          <a:ln w="16510">
            <a:solidFill>
              <a:srgbClr val="2FF3E0"/>
            </a:solidFill>
            <a:prstDash val="solid"/>
          </a:ln>
        </p:spPr>
      </p:sp>
      <p:sp>
        <p:nvSpPr>
          <p:cNvPr id="28" name="Text 26"/>
          <p:cNvSpPr/>
          <p:nvPr/>
        </p:nvSpPr>
        <p:spPr>
          <a:xfrm>
            <a:off x="6400800" y="2788920"/>
            <a:ext cx="1508760" cy="256032"/>
          </a:xfrm>
          <a:prstGeom prst="rect">
            <a:avLst/>
          </a:prstGeom>
          <a:noFill/>
        </p:spPr>
        <p:txBody>
          <a:bodyPr wrap="square" lIns="0" tIns="0" rIns="0" bIns="0" rtlCol="0" anchor="ctr"/>
          <a:lstStyle/>
          <a:p>
            <a:pPr marL="0" indent="0" algn="ctr">
              <a:buNone/>
            </a:pPr>
            <a:r>
              <a:rPr lang="en-US" sz="1500" b="1" dirty="0">
                <a:solidFill>
                  <a:srgbClr val="F8FAFC"/>
                </a:solidFill>
              </a:rPr>
              <a:t>Investigate</a:t>
            </a:r>
            <a:endParaRPr lang="en-US" sz="1500" dirty="0"/>
          </a:p>
        </p:txBody>
      </p:sp>
      <p:sp>
        <p:nvSpPr>
          <p:cNvPr id="29" name="Text 27"/>
          <p:cNvSpPr/>
          <p:nvPr/>
        </p:nvSpPr>
        <p:spPr>
          <a:xfrm>
            <a:off x="6309360" y="4498848"/>
            <a:ext cx="1737360" cy="594360"/>
          </a:xfrm>
          <a:prstGeom prst="rect">
            <a:avLst/>
          </a:prstGeom>
          <a:noFill/>
        </p:spPr>
        <p:txBody>
          <a:bodyPr wrap="square" lIns="0" tIns="0" rIns="0" bIns="0" rtlCol="0" anchor="ctr">
            <a:normAutofit/>
          </a:bodyPr>
          <a:lstStyle/>
          <a:p>
            <a:pPr marL="0" indent="0" algn="ctr">
              <a:buNone/>
            </a:pPr>
            <a:r>
              <a:rPr lang="en-US" sz="950" dirty="0">
                <a:solidFill>
                  <a:srgbClr val="9FB2C8"/>
                </a:solidFill>
              </a:rPr>
              <a:t>Use logs and packet details to explain what happened</a:t>
            </a:r>
            <a:endParaRPr lang="en-US" sz="950" dirty="0"/>
          </a:p>
        </p:txBody>
      </p:sp>
      <p:sp>
        <p:nvSpPr>
          <p:cNvPr id="30" name="Shape 28"/>
          <p:cNvSpPr/>
          <p:nvPr/>
        </p:nvSpPr>
        <p:spPr>
          <a:xfrm>
            <a:off x="8869680" y="2240280"/>
            <a:ext cx="1965960" cy="1965960"/>
          </a:xfrm>
          <a:prstGeom prst="ellipse">
            <a:avLst/>
          </a:prstGeom>
          <a:solidFill>
            <a:srgbClr val="0D1B2A"/>
          </a:solidFill>
          <a:ln w="16510">
            <a:solidFill>
              <a:srgbClr val="4DFF8F"/>
            </a:solidFill>
            <a:prstDash val="solid"/>
          </a:ln>
        </p:spPr>
      </p:sp>
      <p:sp>
        <p:nvSpPr>
          <p:cNvPr id="31" name="Text 29"/>
          <p:cNvSpPr/>
          <p:nvPr/>
        </p:nvSpPr>
        <p:spPr>
          <a:xfrm>
            <a:off x="9098280" y="2788920"/>
            <a:ext cx="1508760" cy="256032"/>
          </a:xfrm>
          <a:prstGeom prst="rect">
            <a:avLst/>
          </a:prstGeom>
          <a:noFill/>
        </p:spPr>
        <p:txBody>
          <a:bodyPr wrap="square" lIns="0" tIns="0" rIns="0" bIns="0" rtlCol="0" anchor="ctr"/>
          <a:lstStyle/>
          <a:p>
            <a:pPr marL="0" indent="0" algn="ctr">
              <a:buNone/>
            </a:pPr>
            <a:r>
              <a:rPr lang="en-US" sz="1500" b="1" dirty="0">
                <a:solidFill>
                  <a:srgbClr val="F8FAFC"/>
                </a:solidFill>
              </a:rPr>
              <a:t>Respond</a:t>
            </a:r>
            <a:endParaRPr lang="en-US" sz="1500" dirty="0"/>
          </a:p>
        </p:txBody>
      </p:sp>
      <p:sp>
        <p:nvSpPr>
          <p:cNvPr id="32" name="Text 30"/>
          <p:cNvSpPr/>
          <p:nvPr/>
        </p:nvSpPr>
        <p:spPr>
          <a:xfrm>
            <a:off x="9006840" y="4498848"/>
            <a:ext cx="1737360" cy="594360"/>
          </a:xfrm>
          <a:prstGeom prst="rect">
            <a:avLst/>
          </a:prstGeom>
          <a:noFill/>
        </p:spPr>
        <p:txBody>
          <a:bodyPr wrap="square" lIns="0" tIns="0" rIns="0" bIns="0" rtlCol="0" anchor="ctr">
            <a:normAutofit/>
          </a:bodyPr>
          <a:lstStyle/>
          <a:p>
            <a:pPr marL="0" indent="0" algn="ctr">
              <a:buNone/>
            </a:pPr>
            <a:r>
              <a:rPr lang="en-US" sz="950" dirty="0">
                <a:solidFill>
                  <a:srgbClr val="9FB2C8"/>
                </a:solidFill>
              </a:rPr>
              <a:t>Block attacker IPs, harden services and improve monitoring</a:t>
            </a:r>
            <a:endParaRPr lang="en-US" sz="950" dirty="0"/>
          </a:p>
        </p:txBody>
      </p:sp>
      <p:sp>
        <p:nvSpPr>
          <p:cNvPr id="33" name="Shape 31"/>
          <p:cNvSpPr/>
          <p:nvPr/>
        </p:nvSpPr>
        <p:spPr>
          <a:xfrm>
            <a:off x="777240" y="5532120"/>
            <a:ext cx="4480560" cy="685800"/>
          </a:xfrm>
          <a:prstGeom prst="roundRect">
            <a:avLst>
              <a:gd name="adj" fmla="val 10667"/>
            </a:avLst>
          </a:prstGeom>
          <a:solidFill>
            <a:srgbClr val="020817"/>
          </a:solidFill>
          <a:ln w="12700">
            <a:solidFill>
              <a:srgbClr val="233548"/>
            </a:solidFill>
            <a:prstDash val="solid"/>
          </a:ln>
        </p:spPr>
      </p:sp>
      <p:sp>
        <p:nvSpPr>
          <p:cNvPr id="34" name="Text 32"/>
          <p:cNvSpPr/>
          <p:nvPr/>
        </p:nvSpPr>
        <p:spPr>
          <a:xfrm>
            <a:off x="941832" y="5678424"/>
            <a:ext cx="4151376" cy="393192"/>
          </a:xfrm>
          <a:prstGeom prst="rect">
            <a:avLst/>
          </a:prstGeom>
          <a:noFill/>
        </p:spPr>
        <p:txBody>
          <a:bodyPr wrap="square" lIns="127" tIns="127" rIns="127" bIns="127" rtlCol="0" anchor="ctr">
            <a:normAutofit/>
          </a:bodyPr>
          <a:lstStyle/>
          <a:p>
            <a:pPr marL="0" indent="0">
              <a:buNone/>
            </a:pPr>
            <a:r>
              <a:rPr lang="en-US" sz="1200" dirty="0">
                <a:solidFill>
                  <a:srgbClr val="4DFF8F"/>
                </a:solidFill>
                <a:latin typeface="Cascadia Mono" pitchFamily="34" charset="0"/>
                <a:ea typeface="Cascadia Mono" pitchFamily="34" charset="-122"/>
                <a:cs typeface="Cascadia Mono" pitchFamily="34" charset="-120"/>
              </a:rPr>
              <a:t>Example prevention action:</a:t>
            </a:r>
            <a:endParaRPr lang="en-US" sz="1200" dirty="0"/>
          </a:p>
          <a:p>
            <a:pPr marL="0" indent="0">
              <a:buNone/>
            </a:pPr>
            <a:r>
              <a:rPr lang="en-US" sz="1200" dirty="0">
                <a:solidFill>
                  <a:srgbClr val="4DFF8F"/>
                </a:solidFill>
                <a:latin typeface="Cascadia Mono" pitchFamily="34" charset="0"/>
                <a:ea typeface="Cascadia Mono" pitchFamily="34" charset="-122"/>
                <a:cs typeface="Cascadia Mono" pitchFamily="34" charset="-120"/>
              </a:rPr>
              <a:t>sudo ufw deny from &lt;attacker-ip&gt;</a:t>
            </a:r>
            <a:endParaRPr lang="en-US" sz="1200" dirty="0"/>
          </a:p>
        </p:txBody>
      </p:sp>
      <p:sp>
        <p:nvSpPr>
          <p:cNvPr id="35" name="Shape 33"/>
          <p:cNvSpPr/>
          <p:nvPr/>
        </p:nvSpPr>
        <p:spPr>
          <a:xfrm>
            <a:off x="5715000" y="5440680"/>
            <a:ext cx="5623560" cy="868680"/>
          </a:xfrm>
          <a:prstGeom prst="roundRect">
            <a:avLst>
              <a:gd name="adj" fmla="val 12632"/>
            </a:avLst>
          </a:prstGeom>
          <a:solidFill>
            <a:srgbClr val="0D1B2A">
              <a:alpha val="96000"/>
            </a:srgbClr>
          </a:solidFill>
          <a:ln w="12700">
            <a:solidFill>
              <a:srgbClr val="233548">
                <a:alpha val="95000"/>
              </a:srgbClr>
            </a:solidFill>
            <a:prstDash val="solid"/>
          </a:ln>
          <a:effectLst>
            <a:outerShdw blurRad="38100" dist="12700" dir="2700000" algn="bl" rotWithShape="0">
              <a:srgbClr val="000000">
                <a:alpha val="22000"/>
              </a:srgbClr>
            </a:outerShdw>
          </a:effectLst>
        </p:spPr>
      </p:sp>
      <p:sp>
        <p:nvSpPr>
          <p:cNvPr id="36" name="Shape 34"/>
          <p:cNvSpPr/>
          <p:nvPr/>
        </p:nvSpPr>
        <p:spPr>
          <a:xfrm>
            <a:off x="5715000" y="5440680"/>
            <a:ext cx="73152" cy="868680"/>
          </a:xfrm>
          <a:prstGeom prst="rect">
            <a:avLst/>
          </a:prstGeom>
          <a:solidFill>
            <a:srgbClr val="4DFF8F"/>
          </a:solidFill>
          <a:ln w="12700">
            <a:solidFill>
              <a:srgbClr val="4DFF8F"/>
            </a:solidFill>
            <a:prstDash val="solid"/>
          </a:ln>
        </p:spPr>
      </p:sp>
      <p:sp>
        <p:nvSpPr>
          <p:cNvPr id="37" name="Text 35"/>
          <p:cNvSpPr/>
          <p:nvPr/>
        </p:nvSpPr>
        <p:spPr>
          <a:xfrm>
            <a:off x="5943600" y="5605272"/>
            <a:ext cx="5276088" cy="228600"/>
          </a:xfrm>
          <a:prstGeom prst="rect">
            <a:avLst/>
          </a:prstGeom>
          <a:noFill/>
        </p:spPr>
        <p:txBody>
          <a:bodyPr wrap="square" lIns="0" tIns="0" rIns="0" bIns="0" rtlCol="0" anchor="ctr"/>
          <a:lstStyle/>
          <a:p>
            <a:pPr marL="0" indent="0">
              <a:buNone/>
            </a:pPr>
            <a:r>
              <a:rPr lang="en-US" sz="1200" b="1" dirty="0">
                <a:solidFill>
                  <a:srgbClr val="4DFF8F"/>
                </a:solidFill>
                <a:latin typeface="Aptos Display" pitchFamily="34" charset="0"/>
                <a:ea typeface="Aptos Display" pitchFamily="34" charset="-122"/>
                <a:cs typeface="Aptos Display" pitchFamily="34" charset="-120"/>
              </a:rPr>
              <a:t>Project interpretation</a:t>
            </a:r>
            <a:endParaRPr lang="en-US" sz="1200" dirty="0"/>
          </a:p>
        </p:txBody>
      </p:sp>
      <p:sp>
        <p:nvSpPr>
          <p:cNvPr id="38" name="Text 36"/>
          <p:cNvSpPr/>
          <p:nvPr/>
        </p:nvSpPr>
        <p:spPr>
          <a:xfrm>
            <a:off x="5943600" y="5916168"/>
            <a:ext cx="5276088" cy="301752"/>
          </a:xfrm>
          <a:prstGeom prst="rect">
            <a:avLst/>
          </a:prstGeom>
          <a:noFill/>
        </p:spPr>
        <p:txBody>
          <a:bodyPr wrap="square" lIns="254" tIns="254" rIns="254" bIns="254" rtlCol="0" anchor="t">
            <a:normAutofit/>
          </a:bodyPr>
          <a:lstStyle/>
          <a:p>
            <a:pPr marL="0" indent="0">
              <a:buNone/>
            </a:pPr>
            <a:r>
              <a:rPr lang="en-US" sz="1050" dirty="0">
                <a:solidFill>
                  <a:srgbClr val="F8FAFC"/>
                </a:solidFill>
                <a:latin typeface="Aptos" pitchFamily="34" charset="0"/>
                <a:ea typeface="Aptos" pitchFamily="34" charset="-122"/>
                <a:cs typeface="Aptos" pitchFamily="34" charset="-120"/>
              </a:rPr>
              <a:t>The project demonstrates detection and analysis. Prevention can be implemented using firewall rules after identifying suspicious traffic.</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50B1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50B12"/>
          </a:solidFill>
          <a:ln w="12700">
            <a:solidFill>
              <a:srgbClr val="050B12"/>
            </a:solidFill>
            <a:prstDash val="solid"/>
          </a:ln>
        </p:spPr>
      </p:sp>
      <p:sp>
        <p:nvSpPr>
          <p:cNvPr id="3" name="Shape 1"/>
          <p:cNvSpPr/>
          <p:nvPr/>
        </p:nvSpPr>
        <p:spPr>
          <a:xfrm>
            <a:off x="0" y="0"/>
            <a:ext cx="12191695" cy="475488"/>
          </a:xfrm>
          <a:prstGeom prst="rect">
            <a:avLst/>
          </a:prstGeom>
          <a:solidFill>
            <a:srgbClr val="091523"/>
          </a:solidFill>
          <a:ln w="12700">
            <a:solidFill>
              <a:srgbClr val="091523"/>
            </a:solidFill>
            <a:prstDash val="solid"/>
          </a:ln>
        </p:spPr>
      </p:sp>
      <p:sp>
        <p:nvSpPr>
          <p:cNvPr id="4" name="Shape 2"/>
          <p:cNvSpPr/>
          <p:nvPr/>
        </p:nvSpPr>
        <p:spPr>
          <a:xfrm>
            <a:off x="0" y="475488"/>
            <a:ext cx="12191695" cy="22860"/>
          </a:xfrm>
          <a:prstGeom prst="rect">
            <a:avLst/>
          </a:prstGeom>
          <a:solidFill>
            <a:srgbClr val="2FF3E0">
              <a:alpha val="90000"/>
            </a:srgbClr>
          </a:solidFill>
          <a:ln w="12700">
            <a:solidFill>
              <a:srgbClr val="2FF3E0"/>
            </a:solidFill>
            <a:prstDash val="solid"/>
          </a:ln>
        </p:spPr>
      </p:sp>
      <p:sp>
        <p:nvSpPr>
          <p:cNvPr id="6" name="Text 4"/>
          <p:cNvSpPr/>
          <p:nvPr/>
        </p:nvSpPr>
        <p:spPr>
          <a:xfrm>
            <a:off x="11384280" y="100584"/>
            <a:ext cx="347472" cy="256032"/>
          </a:xfrm>
          <a:prstGeom prst="rect">
            <a:avLst/>
          </a:prstGeom>
          <a:noFill/>
        </p:spPr>
        <p:txBody>
          <a:bodyPr wrap="square" lIns="0" tIns="0" rIns="0" bIns="0" rtlCol="0" anchor="ctr"/>
          <a:lstStyle/>
          <a:p>
            <a:pPr marL="0" indent="0" algn="r">
              <a:buNone/>
            </a:pPr>
            <a:r>
              <a:rPr lang="en-US" sz="1000" b="1" dirty="0">
                <a:solidFill>
                  <a:srgbClr val="9FB2C8"/>
                </a:solidFill>
                <a:latin typeface="Aptos Display" pitchFamily="34" charset="0"/>
                <a:ea typeface="Aptos Display" pitchFamily="34" charset="-122"/>
                <a:cs typeface="Aptos Display" pitchFamily="34" charset="-120"/>
              </a:rPr>
              <a:t>16</a:t>
            </a:r>
            <a:endParaRPr lang="en-US" sz="1000" dirty="0"/>
          </a:p>
        </p:txBody>
      </p:sp>
      <p:sp>
        <p:nvSpPr>
          <p:cNvPr id="7" name="Text 5"/>
          <p:cNvSpPr/>
          <p:nvPr/>
        </p:nvSpPr>
        <p:spPr>
          <a:xfrm>
            <a:off x="502920" y="713232"/>
            <a:ext cx="10607040" cy="329184"/>
          </a:xfrm>
          <a:prstGeom prst="rect">
            <a:avLst/>
          </a:prstGeom>
          <a:noFill/>
        </p:spPr>
        <p:txBody>
          <a:bodyPr wrap="square" lIns="0" tIns="0" rIns="0" bIns="0" rtlCol="0" anchor="ctr"/>
          <a:lstStyle/>
          <a:p>
            <a:pPr marL="0" indent="0">
              <a:buNone/>
            </a:pPr>
            <a:r>
              <a:rPr lang="en-US" sz="2200" b="1" dirty="0">
                <a:solidFill>
                  <a:srgbClr val="F8FAFC"/>
                </a:solidFill>
                <a:latin typeface="Aptos Display" pitchFamily="34" charset="0"/>
                <a:ea typeface="Aptos Display" pitchFamily="34" charset="-122"/>
                <a:cs typeface="Aptos Display" pitchFamily="34" charset="-120"/>
              </a:rPr>
              <a:t>Challenges Encountered and How They Were Resolved</a:t>
            </a:r>
            <a:endParaRPr lang="en-US" sz="2200" dirty="0"/>
          </a:p>
        </p:txBody>
      </p:sp>
      <p:sp>
        <p:nvSpPr>
          <p:cNvPr id="8" name="Shape 6"/>
          <p:cNvSpPr/>
          <p:nvPr/>
        </p:nvSpPr>
        <p:spPr>
          <a:xfrm>
            <a:off x="274320" y="1965960"/>
            <a:ext cx="11658600" cy="0"/>
          </a:xfrm>
          <a:prstGeom prst="line">
            <a:avLst/>
          </a:prstGeom>
          <a:noFill/>
          <a:ln w="6350">
            <a:solidFill>
              <a:srgbClr val="233548">
                <a:alpha val="22000"/>
              </a:srgbClr>
            </a:solidFill>
            <a:prstDash val="solid"/>
          </a:ln>
        </p:spPr>
      </p:sp>
      <p:sp>
        <p:nvSpPr>
          <p:cNvPr id="9" name="Shape 7"/>
          <p:cNvSpPr/>
          <p:nvPr/>
        </p:nvSpPr>
        <p:spPr>
          <a:xfrm>
            <a:off x="274320" y="2697480"/>
            <a:ext cx="11658600" cy="0"/>
          </a:xfrm>
          <a:prstGeom prst="line">
            <a:avLst/>
          </a:prstGeom>
          <a:noFill/>
          <a:ln w="6350">
            <a:solidFill>
              <a:srgbClr val="233548">
                <a:alpha val="22000"/>
              </a:srgbClr>
            </a:solidFill>
            <a:prstDash val="solid"/>
          </a:ln>
        </p:spPr>
      </p:sp>
      <p:sp>
        <p:nvSpPr>
          <p:cNvPr id="10" name="Shape 8"/>
          <p:cNvSpPr/>
          <p:nvPr/>
        </p:nvSpPr>
        <p:spPr>
          <a:xfrm>
            <a:off x="274320" y="3429000"/>
            <a:ext cx="11658600" cy="0"/>
          </a:xfrm>
          <a:prstGeom prst="line">
            <a:avLst/>
          </a:prstGeom>
          <a:noFill/>
          <a:ln w="6350">
            <a:solidFill>
              <a:srgbClr val="233548">
                <a:alpha val="22000"/>
              </a:srgbClr>
            </a:solidFill>
            <a:prstDash val="solid"/>
          </a:ln>
        </p:spPr>
      </p:sp>
      <p:sp>
        <p:nvSpPr>
          <p:cNvPr id="11" name="Shape 9"/>
          <p:cNvSpPr/>
          <p:nvPr/>
        </p:nvSpPr>
        <p:spPr>
          <a:xfrm>
            <a:off x="274320" y="4160520"/>
            <a:ext cx="11658600" cy="0"/>
          </a:xfrm>
          <a:prstGeom prst="line">
            <a:avLst/>
          </a:prstGeom>
          <a:noFill/>
          <a:ln w="6350">
            <a:solidFill>
              <a:srgbClr val="233548">
                <a:alpha val="22000"/>
              </a:srgbClr>
            </a:solidFill>
            <a:prstDash val="solid"/>
          </a:ln>
        </p:spPr>
      </p:sp>
      <p:sp>
        <p:nvSpPr>
          <p:cNvPr id="12" name="Shape 10"/>
          <p:cNvSpPr/>
          <p:nvPr/>
        </p:nvSpPr>
        <p:spPr>
          <a:xfrm>
            <a:off x="274320" y="4892040"/>
            <a:ext cx="11658600" cy="0"/>
          </a:xfrm>
          <a:prstGeom prst="line">
            <a:avLst/>
          </a:prstGeom>
          <a:noFill/>
          <a:ln w="6350">
            <a:solidFill>
              <a:srgbClr val="233548">
                <a:alpha val="22000"/>
              </a:srgbClr>
            </a:solidFill>
            <a:prstDash val="solid"/>
          </a:ln>
        </p:spPr>
      </p:sp>
      <p:sp>
        <p:nvSpPr>
          <p:cNvPr id="13" name="Shape 11"/>
          <p:cNvSpPr/>
          <p:nvPr/>
        </p:nvSpPr>
        <p:spPr>
          <a:xfrm>
            <a:off x="274320" y="5623560"/>
            <a:ext cx="11658600" cy="0"/>
          </a:xfrm>
          <a:prstGeom prst="line">
            <a:avLst/>
          </a:prstGeom>
          <a:noFill/>
          <a:ln w="6350">
            <a:solidFill>
              <a:srgbClr val="233548">
                <a:alpha val="22000"/>
              </a:srgbClr>
            </a:solidFill>
            <a:prstDash val="solid"/>
          </a:ln>
        </p:spPr>
      </p:sp>
      <p:sp>
        <p:nvSpPr>
          <p:cNvPr id="14" name="Shape 12"/>
          <p:cNvSpPr/>
          <p:nvPr/>
        </p:nvSpPr>
        <p:spPr>
          <a:xfrm>
            <a:off x="0" y="6611112"/>
            <a:ext cx="12191695" cy="246888"/>
          </a:xfrm>
          <a:prstGeom prst="rect">
            <a:avLst/>
          </a:prstGeom>
          <a:solidFill>
            <a:srgbClr val="03070C"/>
          </a:solidFill>
          <a:ln w="12700">
            <a:solidFill>
              <a:srgbClr val="03070C"/>
            </a:solidFill>
            <a:prstDash val="solid"/>
          </a:ln>
        </p:spPr>
      </p:sp>
      <p:sp>
        <p:nvSpPr>
          <p:cNvPr id="17" name="Shape 15"/>
          <p:cNvSpPr/>
          <p:nvPr/>
        </p:nvSpPr>
        <p:spPr>
          <a:xfrm>
            <a:off x="749808" y="1417320"/>
            <a:ext cx="10789920" cy="530352"/>
          </a:xfrm>
          <a:prstGeom prst="roundRect">
            <a:avLst>
              <a:gd name="adj" fmla="val 10345"/>
            </a:avLst>
          </a:prstGeom>
          <a:solidFill>
            <a:srgbClr val="10263A"/>
          </a:solidFill>
          <a:ln w="12700">
            <a:solidFill>
              <a:srgbClr val="233548">
                <a:alpha val="80000"/>
              </a:srgbClr>
            </a:solidFill>
            <a:prstDash val="solid"/>
          </a:ln>
        </p:spPr>
      </p:sp>
      <p:sp>
        <p:nvSpPr>
          <p:cNvPr id="18" name="Text 16"/>
          <p:cNvSpPr/>
          <p:nvPr/>
        </p:nvSpPr>
        <p:spPr>
          <a:xfrm>
            <a:off x="950976" y="1554480"/>
            <a:ext cx="4480560" cy="164592"/>
          </a:xfrm>
          <a:prstGeom prst="rect">
            <a:avLst/>
          </a:prstGeom>
          <a:noFill/>
        </p:spPr>
        <p:txBody>
          <a:bodyPr wrap="square" lIns="0" tIns="0" rIns="0" bIns="0" rtlCol="0" anchor="ctr"/>
          <a:lstStyle/>
          <a:p>
            <a:pPr marL="0" indent="0">
              <a:buNone/>
            </a:pPr>
            <a:r>
              <a:rPr lang="en-US" sz="1150" b="1" dirty="0">
                <a:solidFill>
                  <a:srgbClr val="2FF3E0"/>
                </a:solidFill>
              </a:rPr>
              <a:t>Challenge</a:t>
            </a:r>
            <a:endParaRPr lang="en-US" sz="1150" dirty="0"/>
          </a:p>
        </p:txBody>
      </p:sp>
      <p:sp>
        <p:nvSpPr>
          <p:cNvPr id="19" name="Text 17"/>
          <p:cNvSpPr/>
          <p:nvPr/>
        </p:nvSpPr>
        <p:spPr>
          <a:xfrm>
            <a:off x="5705856" y="1554480"/>
            <a:ext cx="5760720" cy="164592"/>
          </a:xfrm>
          <a:prstGeom prst="rect">
            <a:avLst/>
          </a:prstGeom>
          <a:noFill/>
        </p:spPr>
        <p:txBody>
          <a:bodyPr wrap="square" lIns="0" tIns="0" rIns="0" bIns="0" rtlCol="0" anchor="ctr"/>
          <a:lstStyle/>
          <a:p>
            <a:pPr marL="0" indent="0">
              <a:buNone/>
            </a:pPr>
            <a:r>
              <a:rPr lang="en-US" sz="1150" b="1" dirty="0">
                <a:solidFill>
                  <a:srgbClr val="4DFF8F"/>
                </a:solidFill>
              </a:rPr>
              <a:t>Resolution</a:t>
            </a:r>
            <a:endParaRPr lang="en-US" sz="1150" dirty="0"/>
          </a:p>
        </p:txBody>
      </p:sp>
      <p:sp>
        <p:nvSpPr>
          <p:cNvPr id="20" name="Shape 18"/>
          <p:cNvSpPr/>
          <p:nvPr/>
        </p:nvSpPr>
        <p:spPr>
          <a:xfrm>
            <a:off x="749808" y="2130552"/>
            <a:ext cx="10789920" cy="530352"/>
          </a:xfrm>
          <a:prstGeom prst="roundRect">
            <a:avLst>
              <a:gd name="adj" fmla="val 10345"/>
            </a:avLst>
          </a:prstGeom>
          <a:solidFill>
            <a:srgbClr val="0D1B2A"/>
          </a:solidFill>
          <a:ln w="12700">
            <a:solidFill>
              <a:srgbClr val="233548">
                <a:alpha val="80000"/>
              </a:srgbClr>
            </a:solidFill>
            <a:prstDash val="solid"/>
          </a:ln>
        </p:spPr>
      </p:sp>
      <p:sp>
        <p:nvSpPr>
          <p:cNvPr id="21" name="Text 19"/>
          <p:cNvSpPr/>
          <p:nvPr/>
        </p:nvSpPr>
        <p:spPr>
          <a:xfrm>
            <a:off x="950976" y="2267712"/>
            <a:ext cx="4480560" cy="164592"/>
          </a:xfrm>
          <a:prstGeom prst="rect">
            <a:avLst/>
          </a:prstGeom>
          <a:noFill/>
        </p:spPr>
        <p:txBody>
          <a:bodyPr wrap="square" lIns="0" tIns="0" rIns="0" bIns="0" rtlCol="0" anchor="ctr"/>
          <a:lstStyle/>
          <a:p>
            <a:pPr marL="0" indent="0">
              <a:buNone/>
            </a:pPr>
            <a:r>
              <a:rPr lang="en-US" sz="1050" dirty="0">
                <a:solidFill>
                  <a:srgbClr val="F8FAFC"/>
                </a:solidFill>
              </a:rPr>
              <a:t>Traffic not visible on expected interface</a:t>
            </a:r>
            <a:endParaRPr lang="en-US" sz="1050" dirty="0"/>
          </a:p>
        </p:txBody>
      </p:sp>
      <p:sp>
        <p:nvSpPr>
          <p:cNvPr id="22" name="Text 20"/>
          <p:cNvSpPr/>
          <p:nvPr/>
        </p:nvSpPr>
        <p:spPr>
          <a:xfrm>
            <a:off x="5705856" y="2267712"/>
            <a:ext cx="5760720" cy="164592"/>
          </a:xfrm>
          <a:prstGeom prst="rect">
            <a:avLst/>
          </a:prstGeom>
          <a:noFill/>
        </p:spPr>
        <p:txBody>
          <a:bodyPr wrap="square" lIns="0" tIns="0" rIns="0" bIns="0" rtlCol="0" anchor="ctr"/>
          <a:lstStyle/>
          <a:p>
            <a:pPr marL="0" indent="0">
              <a:buNone/>
            </a:pPr>
            <a:r>
              <a:rPr lang="en-US" sz="1050" dirty="0">
                <a:solidFill>
                  <a:srgbClr val="9FB2C8"/>
                </a:solidFill>
              </a:rPr>
              <a:t>Compared interfaces and selected the one showing live TCP packets</a:t>
            </a:r>
            <a:endParaRPr lang="en-US" sz="1050" dirty="0"/>
          </a:p>
        </p:txBody>
      </p:sp>
      <p:sp>
        <p:nvSpPr>
          <p:cNvPr id="23" name="Shape 21"/>
          <p:cNvSpPr/>
          <p:nvPr/>
        </p:nvSpPr>
        <p:spPr>
          <a:xfrm>
            <a:off x="749808" y="2843784"/>
            <a:ext cx="10789920" cy="530352"/>
          </a:xfrm>
          <a:prstGeom prst="roundRect">
            <a:avLst>
              <a:gd name="adj" fmla="val 10345"/>
            </a:avLst>
          </a:prstGeom>
          <a:solidFill>
            <a:srgbClr val="0D1B2A"/>
          </a:solidFill>
          <a:ln w="12700">
            <a:solidFill>
              <a:srgbClr val="233548">
                <a:alpha val="80000"/>
              </a:srgbClr>
            </a:solidFill>
            <a:prstDash val="solid"/>
          </a:ln>
        </p:spPr>
      </p:sp>
      <p:sp>
        <p:nvSpPr>
          <p:cNvPr id="24" name="Text 22"/>
          <p:cNvSpPr/>
          <p:nvPr/>
        </p:nvSpPr>
        <p:spPr>
          <a:xfrm>
            <a:off x="950976" y="2980944"/>
            <a:ext cx="4480560" cy="164592"/>
          </a:xfrm>
          <a:prstGeom prst="rect">
            <a:avLst/>
          </a:prstGeom>
          <a:noFill/>
        </p:spPr>
        <p:txBody>
          <a:bodyPr wrap="square" lIns="0" tIns="0" rIns="0" bIns="0" rtlCol="0" anchor="ctr"/>
          <a:lstStyle/>
          <a:p>
            <a:pPr marL="0" indent="0">
              <a:buNone/>
            </a:pPr>
            <a:r>
              <a:rPr lang="en-US" sz="1050" dirty="0">
                <a:solidFill>
                  <a:srgbClr val="F8FAFC"/>
                </a:solidFill>
              </a:rPr>
              <a:t>Suricata alerts were inconsistent</a:t>
            </a:r>
            <a:endParaRPr lang="en-US" sz="1050" dirty="0"/>
          </a:p>
        </p:txBody>
      </p:sp>
      <p:sp>
        <p:nvSpPr>
          <p:cNvPr id="25" name="Text 23"/>
          <p:cNvSpPr/>
          <p:nvPr/>
        </p:nvSpPr>
        <p:spPr>
          <a:xfrm>
            <a:off x="5705856" y="2980944"/>
            <a:ext cx="5760720" cy="164592"/>
          </a:xfrm>
          <a:prstGeom prst="rect">
            <a:avLst/>
          </a:prstGeom>
          <a:noFill/>
        </p:spPr>
        <p:txBody>
          <a:bodyPr wrap="square" lIns="0" tIns="0" rIns="0" bIns="0" rtlCol="0" anchor="ctr"/>
          <a:lstStyle/>
          <a:p>
            <a:pPr marL="0" indent="0">
              <a:buNone/>
            </a:pPr>
            <a:r>
              <a:rPr lang="en-US" sz="1050" dirty="0">
                <a:solidFill>
                  <a:srgbClr val="9FB2C8"/>
                </a:solidFill>
              </a:rPr>
              <a:t>Used Wireshark packet evidence for direct analysis</a:t>
            </a:r>
            <a:endParaRPr lang="en-US" sz="1050" dirty="0"/>
          </a:p>
        </p:txBody>
      </p:sp>
      <p:sp>
        <p:nvSpPr>
          <p:cNvPr id="26" name="Shape 24"/>
          <p:cNvSpPr/>
          <p:nvPr/>
        </p:nvSpPr>
        <p:spPr>
          <a:xfrm>
            <a:off x="749808" y="3557016"/>
            <a:ext cx="10789920" cy="530352"/>
          </a:xfrm>
          <a:prstGeom prst="roundRect">
            <a:avLst>
              <a:gd name="adj" fmla="val 10345"/>
            </a:avLst>
          </a:prstGeom>
          <a:solidFill>
            <a:srgbClr val="0D1B2A"/>
          </a:solidFill>
          <a:ln w="12700">
            <a:solidFill>
              <a:srgbClr val="233548">
                <a:alpha val="80000"/>
              </a:srgbClr>
            </a:solidFill>
            <a:prstDash val="solid"/>
          </a:ln>
        </p:spPr>
      </p:sp>
      <p:sp>
        <p:nvSpPr>
          <p:cNvPr id="27" name="Text 25"/>
          <p:cNvSpPr/>
          <p:nvPr/>
        </p:nvSpPr>
        <p:spPr>
          <a:xfrm>
            <a:off x="950976" y="3694176"/>
            <a:ext cx="4480560" cy="164592"/>
          </a:xfrm>
          <a:prstGeom prst="rect">
            <a:avLst/>
          </a:prstGeom>
          <a:noFill/>
        </p:spPr>
        <p:txBody>
          <a:bodyPr wrap="square" lIns="0" tIns="0" rIns="0" bIns="0" rtlCol="0" anchor="ctr"/>
          <a:lstStyle/>
          <a:p>
            <a:pPr marL="0" indent="0">
              <a:buNone/>
            </a:pPr>
            <a:r>
              <a:rPr lang="en-US" sz="1050" dirty="0">
                <a:solidFill>
                  <a:srgbClr val="F8FAFC"/>
                </a:solidFill>
              </a:rPr>
              <a:t>VirtualBox routing behavior</a:t>
            </a:r>
            <a:endParaRPr lang="en-US" sz="1050" dirty="0"/>
          </a:p>
        </p:txBody>
      </p:sp>
      <p:sp>
        <p:nvSpPr>
          <p:cNvPr id="28" name="Text 26"/>
          <p:cNvSpPr/>
          <p:nvPr/>
        </p:nvSpPr>
        <p:spPr>
          <a:xfrm>
            <a:off x="5705856" y="3694176"/>
            <a:ext cx="5760720" cy="164592"/>
          </a:xfrm>
          <a:prstGeom prst="rect">
            <a:avLst/>
          </a:prstGeom>
          <a:noFill/>
        </p:spPr>
        <p:txBody>
          <a:bodyPr wrap="square" lIns="0" tIns="0" rIns="0" bIns="0" rtlCol="0" anchor="ctr"/>
          <a:lstStyle/>
          <a:p>
            <a:pPr marL="0" indent="0">
              <a:buNone/>
            </a:pPr>
            <a:r>
              <a:rPr lang="en-US" sz="1050" dirty="0">
                <a:solidFill>
                  <a:srgbClr val="9FB2C8"/>
                </a:solidFill>
              </a:rPr>
              <a:t>Documented NAT/active-interface behavior as part of troubleshooting</a:t>
            </a:r>
            <a:endParaRPr lang="en-US" sz="1050" dirty="0"/>
          </a:p>
        </p:txBody>
      </p:sp>
      <p:sp>
        <p:nvSpPr>
          <p:cNvPr id="29" name="Shape 27"/>
          <p:cNvSpPr/>
          <p:nvPr/>
        </p:nvSpPr>
        <p:spPr>
          <a:xfrm>
            <a:off x="749808" y="4270248"/>
            <a:ext cx="10789920" cy="530352"/>
          </a:xfrm>
          <a:prstGeom prst="roundRect">
            <a:avLst>
              <a:gd name="adj" fmla="val 10345"/>
            </a:avLst>
          </a:prstGeom>
          <a:solidFill>
            <a:srgbClr val="0D1B2A"/>
          </a:solidFill>
          <a:ln w="12700">
            <a:solidFill>
              <a:srgbClr val="233548">
                <a:alpha val="80000"/>
              </a:srgbClr>
            </a:solidFill>
            <a:prstDash val="solid"/>
          </a:ln>
        </p:spPr>
      </p:sp>
      <p:sp>
        <p:nvSpPr>
          <p:cNvPr id="30" name="Text 28"/>
          <p:cNvSpPr/>
          <p:nvPr/>
        </p:nvSpPr>
        <p:spPr>
          <a:xfrm>
            <a:off x="950976" y="4407408"/>
            <a:ext cx="4480560" cy="164592"/>
          </a:xfrm>
          <a:prstGeom prst="rect">
            <a:avLst/>
          </a:prstGeom>
          <a:noFill/>
        </p:spPr>
        <p:txBody>
          <a:bodyPr wrap="square" lIns="0" tIns="0" rIns="0" bIns="0" rtlCol="0" anchor="ctr"/>
          <a:lstStyle/>
          <a:p>
            <a:pPr marL="0" indent="0">
              <a:buNone/>
            </a:pPr>
            <a:r>
              <a:rPr lang="en-US" sz="1050" dirty="0">
                <a:solidFill>
                  <a:srgbClr val="F8FAFC"/>
                </a:solidFill>
              </a:rPr>
              <a:t>Need for defence evidence</a:t>
            </a:r>
            <a:endParaRPr lang="en-US" sz="1050" dirty="0"/>
          </a:p>
        </p:txBody>
      </p:sp>
      <p:sp>
        <p:nvSpPr>
          <p:cNvPr id="31" name="Text 29"/>
          <p:cNvSpPr/>
          <p:nvPr/>
        </p:nvSpPr>
        <p:spPr>
          <a:xfrm>
            <a:off x="5705856" y="4407408"/>
            <a:ext cx="5760720" cy="164592"/>
          </a:xfrm>
          <a:prstGeom prst="rect">
            <a:avLst/>
          </a:prstGeom>
          <a:noFill/>
        </p:spPr>
        <p:txBody>
          <a:bodyPr wrap="square" lIns="0" tIns="0" rIns="0" bIns="0" rtlCol="0" anchor="ctr"/>
          <a:lstStyle/>
          <a:p>
            <a:pPr marL="0" indent="0">
              <a:buNone/>
            </a:pPr>
            <a:r>
              <a:rPr lang="en-US" sz="1050" dirty="0">
                <a:solidFill>
                  <a:srgbClr val="9FB2C8"/>
                </a:solidFill>
              </a:rPr>
              <a:t>Captured screenshots at every major implementation stage</a:t>
            </a:r>
            <a:endParaRPr lang="en-US" sz="1050" dirty="0"/>
          </a:p>
        </p:txBody>
      </p:sp>
      <p:sp>
        <p:nvSpPr>
          <p:cNvPr id="32" name="Shape 30"/>
          <p:cNvSpPr/>
          <p:nvPr/>
        </p:nvSpPr>
        <p:spPr>
          <a:xfrm>
            <a:off x="749808" y="5349240"/>
            <a:ext cx="10789920" cy="713232"/>
          </a:xfrm>
          <a:prstGeom prst="roundRect">
            <a:avLst>
              <a:gd name="adj" fmla="val 15385"/>
            </a:avLst>
          </a:prstGeom>
          <a:solidFill>
            <a:srgbClr val="0D1B2A">
              <a:alpha val="96000"/>
            </a:srgbClr>
          </a:solidFill>
          <a:ln w="12700">
            <a:solidFill>
              <a:srgbClr val="233548">
                <a:alpha val="95000"/>
              </a:srgbClr>
            </a:solidFill>
            <a:prstDash val="solid"/>
          </a:ln>
          <a:effectLst>
            <a:outerShdw blurRad="38100" dist="12700" dir="2700000" algn="bl" rotWithShape="0">
              <a:srgbClr val="000000">
                <a:alpha val="22000"/>
              </a:srgbClr>
            </a:outerShdw>
          </a:effectLst>
        </p:spPr>
      </p:sp>
      <p:sp>
        <p:nvSpPr>
          <p:cNvPr id="33" name="Shape 31"/>
          <p:cNvSpPr/>
          <p:nvPr/>
        </p:nvSpPr>
        <p:spPr>
          <a:xfrm>
            <a:off x="749808" y="5349240"/>
            <a:ext cx="73152" cy="713232"/>
          </a:xfrm>
          <a:prstGeom prst="rect">
            <a:avLst/>
          </a:prstGeom>
          <a:solidFill>
            <a:srgbClr val="4DFF8F"/>
          </a:solidFill>
          <a:ln w="12700">
            <a:solidFill>
              <a:srgbClr val="4DFF8F"/>
            </a:solidFill>
            <a:prstDash val="solid"/>
          </a:ln>
        </p:spPr>
      </p:sp>
      <p:sp>
        <p:nvSpPr>
          <p:cNvPr id="34" name="Text 32"/>
          <p:cNvSpPr/>
          <p:nvPr/>
        </p:nvSpPr>
        <p:spPr>
          <a:xfrm>
            <a:off x="978408" y="5513832"/>
            <a:ext cx="10442448" cy="228600"/>
          </a:xfrm>
          <a:prstGeom prst="rect">
            <a:avLst/>
          </a:prstGeom>
          <a:noFill/>
        </p:spPr>
        <p:txBody>
          <a:bodyPr wrap="square" lIns="0" tIns="0" rIns="0" bIns="0" rtlCol="0" anchor="ctr"/>
          <a:lstStyle/>
          <a:p>
            <a:pPr marL="0" indent="0">
              <a:buNone/>
            </a:pPr>
            <a:r>
              <a:rPr lang="en-US" sz="1200" b="1" dirty="0">
                <a:solidFill>
                  <a:srgbClr val="4DFF8F"/>
                </a:solidFill>
                <a:latin typeface="Aptos Display" pitchFamily="34" charset="0"/>
                <a:ea typeface="Aptos Display" pitchFamily="34" charset="-122"/>
                <a:cs typeface="Aptos Display" pitchFamily="34" charset="-120"/>
              </a:rPr>
              <a:t>What this demonstrates</a:t>
            </a:r>
            <a:endParaRPr lang="en-US" sz="1200" dirty="0"/>
          </a:p>
        </p:txBody>
      </p:sp>
      <p:sp>
        <p:nvSpPr>
          <p:cNvPr id="35" name="Text 33"/>
          <p:cNvSpPr/>
          <p:nvPr/>
        </p:nvSpPr>
        <p:spPr>
          <a:xfrm>
            <a:off x="978408" y="5824728"/>
            <a:ext cx="10442448" cy="146304"/>
          </a:xfrm>
          <a:prstGeom prst="rect">
            <a:avLst/>
          </a:prstGeom>
          <a:noFill/>
        </p:spPr>
        <p:txBody>
          <a:bodyPr wrap="square" lIns="254" tIns="254" rIns="254" bIns="254" rtlCol="0" anchor="t">
            <a:normAutofit/>
          </a:bodyPr>
          <a:lstStyle/>
          <a:p>
            <a:pPr marL="0" indent="0">
              <a:buNone/>
            </a:pPr>
            <a:r>
              <a:rPr lang="en-US" sz="1050" dirty="0">
                <a:solidFill>
                  <a:srgbClr val="F8FAFC"/>
                </a:solidFill>
                <a:latin typeface="Aptos" pitchFamily="34" charset="0"/>
                <a:ea typeface="Aptos" pitchFamily="34" charset="-122"/>
                <a:cs typeface="Aptos" pitchFamily="34" charset="-120"/>
              </a:rPr>
              <a:t>The implementation did not only show tool usage. It also showed troubleshooting, network understanding and analyst thinking.</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50B1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50B12"/>
          </a:solidFill>
          <a:ln w="12700">
            <a:solidFill>
              <a:srgbClr val="050B12"/>
            </a:solidFill>
            <a:prstDash val="solid"/>
          </a:ln>
        </p:spPr>
      </p:sp>
      <p:sp>
        <p:nvSpPr>
          <p:cNvPr id="3" name="Shape 1"/>
          <p:cNvSpPr/>
          <p:nvPr/>
        </p:nvSpPr>
        <p:spPr>
          <a:xfrm>
            <a:off x="0" y="0"/>
            <a:ext cx="12191695" cy="475488"/>
          </a:xfrm>
          <a:prstGeom prst="rect">
            <a:avLst/>
          </a:prstGeom>
          <a:solidFill>
            <a:srgbClr val="091523"/>
          </a:solidFill>
          <a:ln w="12700">
            <a:solidFill>
              <a:srgbClr val="091523"/>
            </a:solidFill>
            <a:prstDash val="solid"/>
          </a:ln>
        </p:spPr>
      </p:sp>
      <p:sp>
        <p:nvSpPr>
          <p:cNvPr id="4" name="Shape 2"/>
          <p:cNvSpPr/>
          <p:nvPr/>
        </p:nvSpPr>
        <p:spPr>
          <a:xfrm>
            <a:off x="0" y="475488"/>
            <a:ext cx="12191695" cy="22860"/>
          </a:xfrm>
          <a:prstGeom prst="rect">
            <a:avLst/>
          </a:prstGeom>
          <a:solidFill>
            <a:srgbClr val="2FF3E0">
              <a:alpha val="90000"/>
            </a:srgbClr>
          </a:solidFill>
          <a:ln w="12700">
            <a:solidFill>
              <a:srgbClr val="2FF3E0"/>
            </a:solidFill>
            <a:prstDash val="solid"/>
          </a:ln>
        </p:spPr>
      </p:sp>
      <p:sp>
        <p:nvSpPr>
          <p:cNvPr id="6" name="Text 4"/>
          <p:cNvSpPr/>
          <p:nvPr/>
        </p:nvSpPr>
        <p:spPr>
          <a:xfrm>
            <a:off x="11384280" y="100584"/>
            <a:ext cx="347472" cy="256032"/>
          </a:xfrm>
          <a:prstGeom prst="rect">
            <a:avLst/>
          </a:prstGeom>
          <a:noFill/>
        </p:spPr>
        <p:txBody>
          <a:bodyPr wrap="square" lIns="0" tIns="0" rIns="0" bIns="0" rtlCol="0" anchor="ctr"/>
          <a:lstStyle/>
          <a:p>
            <a:pPr marL="0" indent="0" algn="r">
              <a:buNone/>
            </a:pPr>
            <a:r>
              <a:rPr lang="en-US" sz="1000" b="1" dirty="0">
                <a:solidFill>
                  <a:srgbClr val="9FB2C8"/>
                </a:solidFill>
                <a:latin typeface="Aptos Display" pitchFamily="34" charset="0"/>
                <a:ea typeface="Aptos Display" pitchFamily="34" charset="-122"/>
                <a:cs typeface="Aptos Display" pitchFamily="34" charset="-120"/>
              </a:rPr>
              <a:t>17</a:t>
            </a:r>
            <a:endParaRPr lang="en-US" sz="1000" dirty="0"/>
          </a:p>
        </p:txBody>
      </p:sp>
      <p:sp>
        <p:nvSpPr>
          <p:cNvPr id="7" name="Text 5"/>
          <p:cNvSpPr/>
          <p:nvPr/>
        </p:nvSpPr>
        <p:spPr>
          <a:xfrm>
            <a:off x="502920" y="713232"/>
            <a:ext cx="10607040" cy="329184"/>
          </a:xfrm>
          <a:prstGeom prst="rect">
            <a:avLst/>
          </a:prstGeom>
          <a:noFill/>
        </p:spPr>
        <p:txBody>
          <a:bodyPr wrap="square" lIns="0" tIns="0" rIns="0" bIns="0" rtlCol="0" anchor="ctr"/>
          <a:lstStyle/>
          <a:p>
            <a:pPr marL="0" indent="0">
              <a:buNone/>
            </a:pPr>
            <a:r>
              <a:rPr lang="en-US" sz="2200" b="1" dirty="0">
                <a:solidFill>
                  <a:srgbClr val="F8FAFC"/>
                </a:solidFill>
                <a:latin typeface="Aptos Display" pitchFamily="34" charset="0"/>
                <a:ea typeface="Aptos Display" pitchFamily="34" charset="-122"/>
                <a:cs typeface="Aptos Display" pitchFamily="34" charset="-120"/>
              </a:rPr>
              <a:t>Results and Findings</a:t>
            </a:r>
            <a:endParaRPr lang="en-US" sz="2200" dirty="0"/>
          </a:p>
        </p:txBody>
      </p:sp>
      <p:sp>
        <p:nvSpPr>
          <p:cNvPr id="8" name="Shape 6"/>
          <p:cNvSpPr/>
          <p:nvPr/>
        </p:nvSpPr>
        <p:spPr>
          <a:xfrm>
            <a:off x="274320" y="1965960"/>
            <a:ext cx="11658600" cy="0"/>
          </a:xfrm>
          <a:prstGeom prst="line">
            <a:avLst/>
          </a:prstGeom>
          <a:noFill/>
          <a:ln w="6350">
            <a:solidFill>
              <a:srgbClr val="233548">
                <a:alpha val="22000"/>
              </a:srgbClr>
            </a:solidFill>
            <a:prstDash val="solid"/>
          </a:ln>
        </p:spPr>
      </p:sp>
      <p:sp>
        <p:nvSpPr>
          <p:cNvPr id="9" name="Shape 7"/>
          <p:cNvSpPr/>
          <p:nvPr/>
        </p:nvSpPr>
        <p:spPr>
          <a:xfrm>
            <a:off x="274320" y="2697480"/>
            <a:ext cx="11658600" cy="0"/>
          </a:xfrm>
          <a:prstGeom prst="line">
            <a:avLst/>
          </a:prstGeom>
          <a:noFill/>
          <a:ln w="6350">
            <a:solidFill>
              <a:srgbClr val="233548">
                <a:alpha val="22000"/>
              </a:srgbClr>
            </a:solidFill>
            <a:prstDash val="solid"/>
          </a:ln>
        </p:spPr>
      </p:sp>
      <p:sp>
        <p:nvSpPr>
          <p:cNvPr id="10" name="Shape 8"/>
          <p:cNvSpPr/>
          <p:nvPr/>
        </p:nvSpPr>
        <p:spPr>
          <a:xfrm>
            <a:off x="274320" y="3429000"/>
            <a:ext cx="11658600" cy="0"/>
          </a:xfrm>
          <a:prstGeom prst="line">
            <a:avLst/>
          </a:prstGeom>
          <a:noFill/>
          <a:ln w="6350">
            <a:solidFill>
              <a:srgbClr val="233548">
                <a:alpha val="22000"/>
              </a:srgbClr>
            </a:solidFill>
            <a:prstDash val="solid"/>
          </a:ln>
        </p:spPr>
      </p:sp>
      <p:sp>
        <p:nvSpPr>
          <p:cNvPr id="11" name="Shape 9"/>
          <p:cNvSpPr/>
          <p:nvPr/>
        </p:nvSpPr>
        <p:spPr>
          <a:xfrm>
            <a:off x="274320" y="4160520"/>
            <a:ext cx="11658600" cy="0"/>
          </a:xfrm>
          <a:prstGeom prst="line">
            <a:avLst/>
          </a:prstGeom>
          <a:noFill/>
          <a:ln w="6350">
            <a:solidFill>
              <a:srgbClr val="233548">
                <a:alpha val="22000"/>
              </a:srgbClr>
            </a:solidFill>
            <a:prstDash val="solid"/>
          </a:ln>
        </p:spPr>
      </p:sp>
      <p:sp>
        <p:nvSpPr>
          <p:cNvPr id="12" name="Shape 10"/>
          <p:cNvSpPr/>
          <p:nvPr/>
        </p:nvSpPr>
        <p:spPr>
          <a:xfrm>
            <a:off x="274320" y="4892040"/>
            <a:ext cx="11658600" cy="0"/>
          </a:xfrm>
          <a:prstGeom prst="line">
            <a:avLst/>
          </a:prstGeom>
          <a:noFill/>
          <a:ln w="6350">
            <a:solidFill>
              <a:srgbClr val="233548">
                <a:alpha val="22000"/>
              </a:srgbClr>
            </a:solidFill>
            <a:prstDash val="solid"/>
          </a:ln>
        </p:spPr>
      </p:sp>
      <p:sp>
        <p:nvSpPr>
          <p:cNvPr id="13" name="Shape 11"/>
          <p:cNvSpPr/>
          <p:nvPr/>
        </p:nvSpPr>
        <p:spPr>
          <a:xfrm>
            <a:off x="274320" y="5623560"/>
            <a:ext cx="11658600" cy="0"/>
          </a:xfrm>
          <a:prstGeom prst="line">
            <a:avLst/>
          </a:prstGeom>
          <a:noFill/>
          <a:ln w="6350">
            <a:solidFill>
              <a:srgbClr val="233548">
                <a:alpha val="22000"/>
              </a:srgbClr>
            </a:solidFill>
            <a:prstDash val="solid"/>
          </a:ln>
        </p:spPr>
      </p:sp>
      <p:sp>
        <p:nvSpPr>
          <p:cNvPr id="14" name="Shape 12"/>
          <p:cNvSpPr/>
          <p:nvPr/>
        </p:nvSpPr>
        <p:spPr>
          <a:xfrm>
            <a:off x="0" y="6611112"/>
            <a:ext cx="12191695" cy="246888"/>
          </a:xfrm>
          <a:prstGeom prst="rect">
            <a:avLst/>
          </a:prstGeom>
          <a:solidFill>
            <a:srgbClr val="03070C"/>
          </a:solidFill>
          <a:ln w="12700">
            <a:solidFill>
              <a:srgbClr val="03070C"/>
            </a:solidFill>
            <a:prstDash val="solid"/>
          </a:ln>
        </p:spPr>
      </p:sp>
      <p:sp>
        <p:nvSpPr>
          <p:cNvPr id="17" name="Shape 15"/>
          <p:cNvSpPr/>
          <p:nvPr/>
        </p:nvSpPr>
        <p:spPr>
          <a:xfrm>
            <a:off x="731520" y="1371600"/>
            <a:ext cx="5303520" cy="914400"/>
          </a:xfrm>
          <a:prstGeom prst="roundRect">
            <a:avLst>
              <a:gd name="adj" fmla="val 12000"/>
            </a:avLst>
          </a:prstGeom>
          <a:solidFill>
            <a:srgbClr val="0D1B2A">
              <a:alpha val="96000"/>
            </a:srgbClr>
          </a:solidFill>
          <a:ln w="12700">
            <a:solidFill>
              <a:srgbClr val="233548">
                <a:alpha val="95000"/>
              </a:srgbClr>
            </a:solidFill>
            <a:prstDash val="solid"/>
          </a:ln>
          <a:effectLst>
            <a:outerShdw blurRad="38100" dist="12700" dir="2700000" algn="bl" rotWithShape="0">
              <a:srgbClr val="000000">
                <a:alpha val="22000"/>
              </a:srgbClr>
            </a:outerShdw>
          </a:effectLst>
        </p:spPr>
      </p:sp>
      <p:sp>
        <p:nvSpPr>
          <p:cNvPr id="18" name="Shape 16"/>
          <p:cNvSpPr/>
          <p:nvPr/>
        </p:nvSpPr>
        <p:spPr>
          <a:xfrm>
            <a:off x="731520" y="1371600"/>
            <a:ext cx="73152" cy="914400"/>
          </a:xfrm>
          <a:prstGeom prst="rect">
            <a:avLst/>
          </a:prstGeom>
          <a:solidFill>
            <a:srgbClr val="2FF3E0"/>
          </a:solidFill>
          <a:ln w="12700">
            <a:solidFill>
              <a:srgbClr val="2FF3E0"/>
            </a:solidFill>
            <a:prstDash val="solid"/>
          </a:ln>
        </p:spPr>
      </p:sp>
      <p:sp>
        <p:nvSpPr>
          <p:cNvPr id="19" name="Text 17"/>
          <p:cNvSpPr/>
          <p:nvPr/>
        </p:nvSpPr>
        <p:spPr>
          <a:xfrm>
            <a:off x="960120" y="1536192"/>
            <a:ext cx="4956048" cy="228600"/>
          </a:xfrm>
          <a:prstGeom prst="rect">
            <a:avLst/>
          </a:prstGeom>
          <a:noFill/>
        </p:spPr>
        <p:txBody>
          <a:bodyPr wrap="square" lIns="0" tIns="0" rIns="0" bIns="0" rtlCol="0" anchor="ctr"/>
          <a:lstStyle/>
          <a:p>
            <a:pPr marL="0" indent="0">
              <a:buNone/>
            </a:pPr>
            <a:r>
              <a:rPr lang="en-US" sz="1200" b="1" dirty="0">
                <a:solidFill>
                  <a:srgbClr val="2FF3E0"/>
                </a:solidFill>
                <a:latin typeface="Aptos Display" pitchFamily="34" charset="0"/>
                <a:ea typeface="Aptos Display" pitchFamily="34" charset="-122"/>
                <a:cs typeface="Aptos Display" pitchFamily="34" charset="-120"/>
              </a:rPr>
              <a:t>Result 1: Lab was implemented</a:t>
            </a:r>
            <a:endParaRPr lang="en-US" sz="1200" dirty="0"/>
          </a:p>
        </p:txBody>
      </p:sp>
      <p:sp>
        <p:nvSpPr>
          <p:cNvPr id="20" name="Text 18"/>
          <p:cNvSpPr/>
          <p:nvPr/>
        </p:nvSpPr>
        <p:spPr>
          <a:xfrm>
            <a:off x="960120" y="1847088"/>
            <a:ext cx="4956048" cy="347472"/>
          </a:xfrm>
          <a:prstGeom prst="rect">
            <a:avLst/>
          </a:prstGeom>
          <a:noFill/>
        </p:spPr>
        <p:txBody>
          <a:bodyPr wrap="square" lIns="254" tIns="254" rIns="254" bIns="254" rtlCol="0" anchor="t">
            <a:normAutofit/>
          </a:bodyPr>
          <a:lstStyle/>
          <a:p>
            <a:pPr marL="0" indent="0">
              <a:buNone/>
            </a:pPr>
            <a:r>
              <a:rPr lang="en-US" sz="1050" dirty="0">
                <a:solidFill>
                  <a:srgbClr val="F8FAFC"/>
                </a:solidFill>
                <a:latin typeface="Aptos" pitchFamily="34" charset="0"/>
                <a:ea typeface="Aptos" pitchFamily="34" charset="-122"/>
                <a:cs typeface="Aptos" pitchFamily="34" charset="-120"/>
              </a:rPr>
              <a:t>Ubuntu, Kali Linux and Metasploitable were used to create a controlled cybersecurity lab environment.</a:t>
            </a:r>
            <a:endParaRPr lang="en-US" sz="1050" dirty="0"/>
          </a:p>
        </p:txBody>
      </p:sp>
      <p:sp>
        <p:nvSpPr>
          <p:cNvPr id="21" name="Shape 19"/>
          <p:cNvSpPr/>
          <p:nvPr/>
        </p:nvSpPr>
        <p:spPr>
          <a:xfrm>
            <a:off x="731520" y="2578608"/>
            <a:ext cx="5303520" cy="914400"/>
          </a:xfrm>
          <a:prstGeom prst="roundRect">
            <a:avLst>
              <a:gd name="adj" fmla="val 12000"/>
            </a:avLst>
          </a:prstGeom>
          <a:solidFill>
            <a:srgbClr val="0D1B2A">
              <a:alpha val="96000"/>
            </a:srgbClr>
          </a:solidFill>
          <a:ln w="12700">
            <a:solidFill>
              <a:srgbClr val="233548">
                <a:alpha val="95000"/>
              </a:srgbClr>
            </a:solidFill>
            <a:prstDash val="solid"/>
          </a:ln>
          <a:effectLst>
            <a:outerShdw blurRad="38100" dist="12700" dir="2700000" algn="bl" rotWithShape="0">
              <a:srgbClr val="000000">
                <a:alpha val="22000"/>
              </a:srgbClr>
            </a:outerShdw>
          </a:effectLst>
        </p:spPr>
      </p:sp>
      <p:sp>
        <p:nvSpPr>
          <p:cNvPr id="22" name="Shape 20"/>
          <p:cNvSpPr/>
          <p:nvPr/>
        </p:nvSpPr>
        <p:spPr>
          <a:xfrm>
            <a:off x="731520" y="2578608"/>
            <a:ext cx="73152" cy="914400"/>
          </a:xfrm>
          <a:prstGeom prst="rect">
            <a:avLst/>
          </a:prstGeom>
          <a:solidFill>
            <a:srgbClr val="4DFF8F"/>
          </a:solidFill>
          <a:ln w="12700">
            <a:solidFill>
              <a:srgbClr val="4DFF8F"/>
            </a:solidFill>
            <a:prstDash val="solid"/>
          </a:ln>
        </p:spPr>
      </p:sp>
      <p:sp>
        <p:nvSpPr>
          <p:cNvPr id="23" name="Text 21"/>
          <p:cNvSpPr/>
          <p:nvPr/>
        </p:nvSpPr>
        <p:spPr>
          <a:xfrm>
            <a:off x="960120" y="2743200"/>
            <a:ext cx="4956048" cy="228600"/>
          </a:xfrm>
          <a:prstGeom prst="rect">
            <a:avLst/>
          </a:prstGeom>
          <a:noFill/>
        </p:spPr>
        <p:txBody>
          <a:bodyPr wrap="square" lIns="0" tIns="0" rIns="0" bIns="0" rtlCol="0" anchor="ctr"/>
          <a:lstStyle/>
          <a:p>
            <a:pPr marL="0" indent="0">
              <a:buNone/>
            </a:pPr>
            <a:r>
              <a:rPr lang="en-US" sz="1200" b="1" dirty="0">
                <a:solidFill>
                  <a:srgbClr val="4DFF8F"/>
                </a:solidFill>
                <a:latin typeface="Aptos Display" pitchFamily="34" charset="0"/>
                <a:ea typeface="Aptos Display" pitchFamily="34" charset="-122"/>
                <a:cs typeface="Aptos Display" pitchFamily="34" charset="-120"/>
              </a:rPr>
              <a:t>Result 2: Traffic was captured</a:t>
            </a:r>
            <a:endParaRPr lang="en-US" sz="1200" dirty="0"/>
          </a:p>
        </p:txBody>
      </p:sp>
      <p:sp>
        <p:nvSpPr>
          <p:cNvPr id="24" name="Text 22"/>
          <p:cNvSpPr/>
          <p:nvPr/>
        </p:nvSpPr>
        <p:spPr>
          <a:xfrm>
            <a:off x="960120" y="3054096"/>
            <a:ext cx="4956048" cy="347472"/>
          </a:xfrm>
          <a:prstGeom prst="rect">
            <a:avLst/>
          </a:prstGeom>
          <a:noFill/>
        </p:spPr>
        <p:txBody>
          <a:bodyPr wrap="square" lIns="254" tIns="254" rIns="254" bIns="254" rtlCol="0" anchor="t">
            <a:normAutofit/>
          </a:bodyPr>
          <a:lstStyle/>
          <a:p>
            <a:pPr marL="0" indent="0">
              <a:buNone/>
            </a:pPr>
            <a:r>
              <a:rPr lang="en-US" sz="1050" dirty="0">
                <a:solidFill>
                  <a:srgbClr val="F8FAFC"/>
                </a:solidFill>
                <a:latin typeface="Aptos" pitchFamily="34" charset="0"/>
                <a:ea typeface="Aptos" pitchFamily="34" charset="-122"/>
                <a:cs typeface="Aptos" pitchFamily="34" charset="-120"/>
              </a:rPr>
              <a:t>Wireshark captured live traffic including TCP, DNS, ARP and other network protocols.</a:t>
            </a:r>
            <a:endParaRPr lang="en-US" sz="1050" dirty="0"/>
          </a:p>
        </p:txBody>
      </p:sp>
      <p:sp>
        <p:nvSpPr>
          <p:cNvPr id="25" name="Shape 23"/>
          <p:cNvSpPr/>
          <p:nvPr/>
        </p:nvSpPr>
        <p:spPr>
          <a:xfrm>
            <a:off x="731520" y="3794760"/>
            <a:ext cx="5303520" cy="960120"/>
          </a:xfrm>
          <a:prstGeom prst="roundRect">
            <a:avLst>
              <a:gd name="adj" fmla="val 11429"/>
            </a:avLst>
          </a:prstGeom>
          <a:solidFill>
            <a:srgbClr val="0D1B2A">
              <a:alpha val="96000"/>
            </a:srgbClr>
          </a:solidFill>
          <a:ln w="12700">
            <a:solidFill>
              <a:srgbClr val="233548">
                <a:alpha val="95000"/>
              </a:srgbClr>
            </a:solidFill>
            <a:prstDash val="solid"/>
          </a:ln>
          <a:effectLst>
            <a:outerShdw blurRad="38100" dist="12700" dir="2700000" algn="bl" rotWithShape="0">
              <a:srgbClr val="000000">
                <a:alpha val="22000"/>
              </a:srgbClr>
            </a:outerShdw>
          </a:effectLst>
        </p:spPr>
      </p:sp>
      <p:sp>
        <p:nvSpPr>
          <p:cNvPr id="26" name="Shape 24"/>
          <p:cNvSpPr/>
          <p:nvPr/>
        </p:nvSpPr>
        <p:spPr>
          <a:xfrm>
            <a:off x="731520" y="3794760"/>
            <a:ext cx="73152" cy="960120"/>
          </a:xfrm>
          <a:prstGeom prst="rect">
            <a:avLst/>
          </a:prstGeom>
          <a:solidFill>
            <a:srgbClr val="F9D65C"/>
          </a:solidFill>
          <a:ln w="12700">
            <a:solidFill>
              <a:srgbClr val="F9D65C"/>
            </a:solidFill>
            <a:prstDash val="solid"/>
          </a:ln>
        </p:spPr>
      </p:sp>
      <p:sp>
        <p:nvSpPr>
          <p:cNvPr id="27" name="Text 25"/>
          <p:cNvSpPr/>
          <p:nvPr/>
        </p:nvSpPr>
        <p:spPr>
          <a:xfrm>
            <a:off x="960120" y="3959352"/>
            <a:ext cx="4956048" cy="228600"/>
          </a:xfrm>
          <a:prstGeom prst="rect">
            <a:avLst/>
          </a:prstGeom>
          <a:noFill/>
        </p:spPr>
        <p:txBody>
          <a:bodyPr wrap="square" lIns="0" tIns="0" rIns="0" bIns="0" rtlCol="0" anchor="ctr"/>
          <a:lstStyle/>
          <a:p>
            <a:pPr marL="0" indent="0">
              <a:buNone/>
            </a:pPr>
            <a:r>
              <a:rPr lang="en-US" sz="1200" b="1" dirty="0">
                <a:solidFill>
                  <a:srgbClr val="F9D65C"/>
                </a:solidFill>
                <a:latin typeface="Aptos Display" pitchFamily="34" charset="0"/>
                <a:ea typeface="Aptos Display" pitchFamily="34" charset="-122"/>
                <a:cs typeface="Aptos Display" pitchFamily="34" charset="-120"/>
              </a:rPr>
              <a:t>Result 3: Suspicious behavior was identified</a:t>
            </a:r>
            <a:endParaRPr lang="en-US" sz="1200" dirty="0"/>
          </a:p>
        </p:txBody>
      </p:sp>
      <p:sp>
        <p:nvSpPr>
          <p:cNvPr id="28" name="Text 26"/>
          <p:cNvSpPr/>
          <p:nvPr/>
        </p:nvSpPr>
        <p:spPr>
          <a:xfrm>
            <a:off x="960120" y="4270248"/>
            <a:ext cx="4956048" cy="393192"/>
          </a:xfrm>
          <a:prstGeom prst="rect">
            <a:avLst/>
          </a:prstGeom>
          <a:noFill/>
        </p:spPr>
        <p:txBody>
          <a:bodyPr wrap="square" lIns="254" tIns="254" rIns="254" bIns="254" rtlCol="0" anchor="t">
            <a:normAutofit/>
          </a:bodyPr>
          <a:lstStyle/>
          <a:p>
            <a:pPr marL="0" indent="0">
              <a:buNone/>
            </a:pPr>
            <a:r>
              <a:rPr lang="en-US" sz="1050" dirty="0">
                <a:solidFill>
                  <a:srgbClr val="F8FAFC"/>
                </a:solidFill>
                <a:latin typeface="Aptos" pitchFamily="34" charset="0"/>
                <a:ea typeface="Aptos" pitchFamily="34" charset="-122"/>
                <a:cs typeface="Aptos" pitchFamily="34" charset="-120"/>
              </a:rPr>
              <a:t>Repeated SYN and RST/ACK patterns were interpreted as reconnaissance/port scanning behavior.</a:t>
            </a:r>
            <a:endParaRPr lang="en-US" sz="1050" dirty="0"/>
          </a:p>
        </p:txBody>
      </p:sp>
      <p:sp>
        <p:nvSpPr>
          <p:cNvPr id="29" name="Shape 27"/>
          <p:cNvSpPr/>
          <p:nvPr/>
        </p:nvSpPr>
        <p:spPr>
          <a:xfrm>
            <a:off x="6492240" y="1188720"/>
            <a:ext cx="4663440" cy="3977640"/>
          </a:xfrm>
          <a:prstGeom prst="roundRect">
            <a:avLst>
              <a:gd name="adj" fmla="val 2759"/>
            </a:avLst>
          </a:prstGeom>
          <a:solidFill>
            <a:srgbClr val="06101B"/>
          </a:solidFill>
          <a:ln w="12700">
            <a:solidFill>
              <a:srgbClr val="2FF3E0">
                <a:alpha val="65000"/>
              </a:srgbClr>
            </a:solidFill>
            <a:prstDash val="solid"/>
          </a:ln>
        </p:spPr>
      </p:sp>
      <p:pic>
        <p:nvPicPr>
          <p:cNvPr id="30" name="Image 0" descr="/mnt/data/1e178f59-e72f-4317-b0a3-e1d2ecf077d6.png"/>
          <p:cNvPicPr>
            <a:picLocks noChangeAspect="1"/>
          </p:cNvPicPr>
          <p:nvPr/>
        </p:nvPicPr>
        <p:blipFill>
          <a:blip r:embed="rId1"/>
          <a:srcRect l="22978" r="22978"/>
          <a:stretch>
            <a:fillRect/>
          </a:stretch>
        </p:blipFill>
        <p:spPr>
          <a:xfrm>
            <a:off x="6537960" y="1234440"/>
            <a:ext cx="4572000" cy="3886200"/>
          </a:xfrm>
          <a:prstGeom prst="rect">
            <a:avLst/>
          </a:prstGeom>
        </p:spPr>
      </p:pic>
      <p:sp>
        <p:nvSpPr>
          <p:cNvPr id="31" name="Text 28"/>
          <p:cNvSpPr/>
          <p:nvPr/>
        </p:nvSpPr>
        <p:spPr>
          <a:xfrm>
            <a:off x="6537960" y="5193792"/>
            <a:ext cx="4572000" cy="201168"/>
          </a:xfrm>
          <a:prstGeom prst="rect">
            <a:avLst/>
          </a:prstGeom>
          <a:noFill/>
        </p:spPr>
        <p:txBody>
          <a:bodyPr wrap="square" lIns="0" tIns="0" rIns="0" bIns="0" rtlCol="0" anchor="ctr"/>
          <a:lstStyle/>
          <a:p>
            <a:pPr marL="0" indent="0" algn="ctr">
              <a:buNone/>
            </a:pPr>
            <a:r>
              <a:rPr lang="en-US" sz="850" i="1" dirty="0">
                <a:solidFill>
                  <a:srgbClr val="9FB2C8"/>
                </a:solidFill>
              </a:rPr>
              <a:t>Final evidence used to support analysis</a:t>
            </a:r>
            <a:endParaRPr lang="en-US" sz="850" dirty="0"/>
          </a:p>
        </p:txBody>
      </p:sp>
      <p:sp>
        <p:nvSpPr>
          <p:cNvPr id="32" name="Text 29"/>
          <p:cNvSpPr/>
          <p:nvPr/>
        </p:nvSpPr>
        <p:spPr>
          <a:xfrm>
            <a:off x="731520" y="5394960"/>
            <a:ext cx="10515600" cy="274320"/>
          </a:xfrm>
          <a:prstGeom prst="rect">
            <a:avLst/>
          </a:prstGeom>
          <a:noFill/>
        </p:spPr>
        <p:txBody>
          <a:bodyPr wrap="square" lIns="0" tIns="0" rIns="0" bIns="0" rtlCol="0" anchor="ctr"/>
          <a:lstStyle/>
          <a:p>
            <a:pPr marL="0" indent="0" algn="ctr">
              <a:buNone/>
            </a:pPr>
            <a:r>
              <a:rPr lang="en-US" sz="1350" b="1" dirty="0">
                <a:solidFill>
                  <a:srgbClr val="2FF3E0"/>
                </a:solidFill>
              </a:rPr>
              <a:t>Final project story: Attack simulation → packet capture → analysis → evidence-based conclusion</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50B1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50B12"/>
          </a:solidFill>
          <a:ln w="12700">
            <a:solidFill>
              <a:srgbClr val="050B12"/>
            </a:solidFill>
            <a:prstDash val="solid"/>
          </a:ln>
        </p:spPr>
      </p:sp>
      <p:sp>
        <p:nvSpPr>
          <p:cNvPr id="3" name="Shape 1"/>
          <p:cNvSpPr/>
          <p:nvPr/>
        </p:nvSpPr>
        <p:spPr>
          <a:xfrm>
            <a:off x="0" y="0"/>
            <a:ext cx="12191695" cy="475488"/>
          </a:xfrm>
          <a:prstGeom prst="rect">
            <a:avLst/>
          </a:prstGeom>
          <a:solidFill>
            <a:srgbClr val="091523"/>
          </a:solidFill>
          <a:ln w="12700">
            <a:solidFill>
              <a:srgbClr val="091523"/>
            </a:solidFill>
            <a:prstDash val="solid"/>
          </a:ln>
        </p:spPr>
      </p:sp>
      <p:sp>
        <p:nvSpPr>
          <p:cNvPr id="4" name="Shape 2"/>
          <p:cNvSpPr/>
          <p:nvPr/>
        </p:nvSpPr>
        <p:spPr>
          <a:xfrm>
            <a:off x="0" y="475488"/>
            <a:ext cx="12191695" cy="22860"/>
          </a:xfrm>
          <a:prstGeom prst="rect">
            <a:avLst/>
          </a:prstGeom>
          <a:solidFill>
            <a:srgbClr val="2FF3E0">
              <a:alpha val="90000"/>
            </a:srgbClr>
          </a:solidFill>
          <a:ln w="12700">
            <a:solidFill>
              <a:srgbClr val="2FF3E0"/>
            </a:solidFill>
            <a:prstDash val="solid"/>
          </a:ln>
        </p:spPr>
      </p:sp>
      <p:sp>
        <p:nvSpPr>
          <p:cNvPr id="6" name="Text 4"/>
          <p:cNvSpPr/>
          <p:nvPr/>
        </p:nvSpPr>
        <p:spPr>
          <a:xfrm>
            <a:off x="11384280" y="100584"/>
            <a:ext cx="347472" cy="256032"/>
          </a:xfrm>
          <a:prstGeom prst="rect">
            <a:avLst/>
          </a:prstGeom>
          <a:noFill/>
        </p:spPr>
        <p:txBody>
          <a:bodyPr wrap="square" lIns="0" tIns="0" rIns="0" bIns="0" rtlCol="0" anchor="ctr"/>
          <a:lstStyle/>
          <a:p>
            <a:pPr marL="0" indent="0" algn="r">
              <a:buNone/>
            </a:pPr>
            <a:r>
              <a:rPr lang="en-US" sz="1000" b="1" dirty="0">
                <a:solidFill>
                  <a:srgbClr val="9FB2C8"/>
                </a:solidFill>
                <a:latin typeface="Aptos Display" pitchFamily="34" charset="0"/>
                <a:ea typeface="Aptos Display" pitchFamily="34" charset="-122"/>
                <a:cs typeface="Aptos Display" pitchFamily="34" charset="-120"/>
              </a:rPr>
              <a:t>18</a:t>
            </a:r>
            <a:endParaRPr lang="en-US" sz="1000" dirty="0"/>
          </a:p>
        </p:txBody>
      </p:sp>
      <p:sp>
        <p:nvSpPr>
          <p:cNvPr id="7" name="Text 5"/>
          <p:cNvSpPr/>
          <p:nvPr/>
        </p:nvSpPr>
        <p:spPr>
          <a:xfrm>
            <a:off x="502920" y="713232"/>
            <a:ext cx="10607040" cy="329184"/>
          </a:xfrm>
          <a:prstGeom prst="rect">
            <a:avLst/>
          </a:prstGeom>
          <a:noFill/>
        </p:spPr>
        <p:txBody>
          <a:bodyPr wrap="square" lIns="0" tIns="0" rIns="0" bIns="0" rtlCol="0" anchor="ctr"/>
          <a:lstStyle/>
          <a:p>
            <a:pPr marL="0" indent="0">
              <a:buNone/>
            </a:pPr>
            <a:r>
              <a:rPr lang="en-US" sz="2200" b="1" dirty="0">
                <a:solidFill>
                  <a:srgbClr val="F8FAFC"/>
                </a:solidFill>
                <a:latin typeface="Aptos Display" pitchFamily="34" charset="0"/>
                <a:ea typeface="Aptos Display" pitchFamily="34" charset="-122"/>
                <a:cs typeface="Aptos Display" pitchFamily="34" charset="-120"/>
              </a:rPr>
              <a:t>Skills Demonstrated</a:t>
            </a:r>
            <a:endParaRPr lang="en-US" sz="2200" dirty="0"/>
          </a:p>
        </p:txBody>
      </p:sp>
      <p:sp>
        <p:nvSpPr>
          <p:cNvPr id="8" name="Shape 6"/>
          <p:cNvSpPr/>
          <p:nvPr/>
        </p:nvSpPr>
        <p:spPr>
          <a:xfrm>
            <a:off x="274320" y="1965960"/>
            <a:ext cx="11658600" cy="0"/>
          </a:xfrm>
          <a:prstGeom prst="line">
            <a:avLst/>
          </a:prstGeom>
          <a:noFill/>
          <a:ln w="6350">
            <a:solidFill>
              <a:srgbClr val="233548">
                <a:alpha val="22000"/>
              </a:srgbClr>
            </a:solidFill>
            <a:prstDash val="solid"/>
          </a:ln>
        </p:spPr>
      </p:sp>
      <p:sp>
        <p:nvSpPr>
          <p:cNvPr id="9" name="Shape 7"/>
          <p:cNvSpPr/>
          <p:nvPr/>
        </p:nvSpPr>
        <p:spPr>
          <a:xfrm>
            <a:off x="274320" y="2697480"/>
            <a:ext cx="11658600" cy="0"/>
          </a:xfrm>
          <a:prstGeom prst="line">
            <a:avLst/>
          </a:prstGeom>
          <a:noFill/>
          <a:ln w="6350">
            <a:solidFill>
              <a:srgbClr val="233548">
                <a:alpha val="22000"/>
              </a:srgbClr>
            </a:solidFill>
            <a:prstDash val="solid"/>
          </a:ln>
        </p:spPr>
      </p:sp>
      <p:sp>
        <p:nvSpPr>
          <p:cNvPr id="10" name="Shape 8"/>
          <p:cNvSpPr/>
          <p:nvPr/>
        </p:nvSpPr>
        <p:spPr>
          <a:xfrm>
            <a:off x="274320" y="3429000"/>
            <a:ext cx="11658600" cy="0"/>
          </a:xfrm>
          <a:prstGeom prst="line">
            <a:avLst/>
          </a:prstGeom>
          <a:noFill/>
          <a:ln w="6350">
            <a:solidFill>
              <a:srgbClr val="233548">
                <a:alpha val="22000"/>
              </a:srgbClr>
            </a:solidFill>
            <a:prstDash val="solid"/>
          </a:ln>
        </p:spPr>
      </p:sp>
      <p:sp>
        <p:nvSpPr>
          <p:cNvPr id="11" name="Shape 9"/>
          <p:cNvSpPr/>
          <p:nvPr/>
        </p:nvSpPr>
        <p:spPr>
          <a:xfrm>
            <a:off x="274320" y="4160520"/>
            <a:ext cx="11658600" cy="0"/>
          </a:xfrm>
          <a:prstGeom prst="line">
            <a:avLst/>
          </a:prstGeom>
          <a:noFill/>
          <a:ln w="6350">
            <a:solidFill>
              <a:srgbClr val="233548">
                <a:alpha val="22000"/>
              </a:srgbClr>
            </a:solidFill>
            <a:prstDash val="solid"/>
          </a:ln>
        </p:spPr>
      </p:sp>
      <p:sp>
        <p:nvSpPr>
          <p:cNvPr id="12" name="Shape 10"/>
          <p:cNvSpPr/>
          <p:nvPr/>
        </p:nvSpPr>
        <p:spPr>
          <a:xfrm>
            <a:off x="274320" y="4892040"/>
            <a:ext cx="11658600" cy="0"/>
          </a:xfrm>
          <a:prstGeom prst="line">
            <a:avLst/>
          </a:prstGeom>
          <a:noFill/>
          <a:ln w="6350">
            <a:solidFill>
              <a:srgbClr val="233548">
                <a:alpha val="22000"/>
              </a:srgbClr>
            </a:solidFill>
            <a:prstDash val="solid"/>
          </a:ln>
        </p:spPr>
      </p:sp>
      <p:sp>
        <p:nvSpPr>
          <p:cNvPr id="13" name="Shape 11"/>
          <p:cNvSpPr/>
          <p:nvPr/>
        </p:nvSpPr>
        <p:spPr>
          <a:xfrm>
            <a:off x="274320" y="5623560"/>
            <a:ext cx="11658600" cy="0"/>
          </a:xfrm>
          <a:prstGeom prst="line">
            <a:avLst/>
          </a:prstGeom>
          <a:noFill/>
          <a:ln w="6350">
            <a:solidFill>
              <a:srgbClr val="233548">
                <a:alpha val="22000"/>
              </a:srgbClr>
            </a:solidFill>
            <a:prstDash val="solid"/>
          </a:ln>
        </p:spPr>
      </p:sp>
      <p:sp>
        <p:nvSpPr>
          <p:cNvPr id="14" name="Shape 12"/>
          <p:cNvSpPr/>
          <p:nvPr/>
        </p:nvSpPr>
        <p:spPr>
          <a:xfrm>
            <a:off x="0" y="6611112"/>
            <a:ext cx="12191695" cy="246888"/>
          </a:xfrm>
          <a:prstGeom prst="rect">
            <a:avLst/>
          </a:prstGeom>
          <a:solidFill>
            <a:srgbClr val="03070C"/>
          </a:solidFill>
          <a:ln w="12700">
            <a:solidFill>
              <a:srgbClr val="03070C"/>
            </a:solidFill>
            <a:prstDash val="solid"/>
          </a:ln>
        </p:spPr>
      </p:sp>
      <p:sp>
        <p:nvSpPr>
          <p:cNvPr id="17" name="Shape 15"/>
          <p:cNvSpPr/>
          <p:nvPr/>
        </p:nvSpPr>
        <p:spPr>
          <a:xfrm>
            <a:off x="822960" y="1600200"/>
            <a:ext cx="2423160" cy="877824"/>
          </a:xfrm>
          <a:prstGeom prst="roundRect">
            <a:avLst>
              <a:gd name="adj" fmla="val 12500"/>
            </a:avLst>
          </a:prstGeom>
          <a:solidFill>
            <a:srgbClr val="0D1B2A"/>
          </a:solidFill>
          <a:ln w="12700">
            <a:solidFill>
              <a:srgbClr val="2FF3E0">
                <a:alpha val="80000"/>
              </a:srgbClr>
            </a:solidFill>
            <a:prstDash val="solid"/>
          </a:ln>
        </p:spPr>
      </p:sp>
      <p:sp>
        <p:nvSpPr>
          <p:cNvPr id="18" name="Text 16"/>
          <p:cNvSpPr/>
          <p:nvPr/>
        </p:nvSpPr>
        <p:spPr>
          <a:xfrm>
            <a:off x="987552" y="1901952"/>
            <a:ext cx="2103120" cy="182880"/>
          </a:xfrm>
          <a:prstGeom prst="rect">
            <a:avLst/>
          </a:prstGeom>
          <a:noFill/>
        </p:spPr>
        <p:txBody>
          <a:bodyPr wrap="square" lIns="0" tIns="0" rIns="0" bIns="0" rtlCol="0" anchor="ctr"/>
          <a:lstStyle/>
          <a:p>
            <a:pPr marL="0" indent="0" algn="ctr">
              <a:buNone/>
            </a:pPr>
            <a:r>
              <a:rPr lang="en-US" sz="1250" b="1" dirty="0">
                <a:solidFill>
                  <a:srgbClr val="F8FAFC"/>
                </a:solidFill>
              </a:rPr>
              <a:t>Network monitoring</a:t>
            </a:r>
            <a:endParaRPr lang="en-US" sz="1250" dirty="0"/>
          </a:p>
        </p:txBody>
      </p:sp>
      <p:sp>
        <p:nvSpPr>
          <p:cNvPr id="19" name="Shape 17"/>
          <p:cNvSpPr/>
          <p:nvPr/>
        </p:nvSpPr>
        <p:spPr>
          <a:xfrm>
            <a:off x="3611880" y="1600200"/>
            <a:ext cx="2423160" cy="877824"/>
          </a:xfrm>
          <a:prstGeom prst="roundRect">
            <a:avLst>
              <a:gd name="adj" fmla="val 12500"/>
            </a:avLst>
          </a:prstGeom>
          <a:solidFill>
            <a:srgbClr val="0D1B2A"/>
          </a:solidFill>
          <a:ln w="12700">
            <a:solidFill>
              <a:srgbClr val="4DFF8F">
                <a:alpha val="80000"/>
              </a:srgbClr>
            </a:solidFill>
            <a:prstDash val="solid"/>
          </a:ln>
        </p:spPr>
      </p:sp>
      <p:sp>
        <p:nvSpPr>
          <p:cNvPr id="20" name="Text 18"/>
          <p:cNvSpPr/>
          <p:nvPr/>
        </p:nvSpPr>
        <p:spPr>
          <a:xfrm>
            <a:off x="3776472" y="1901952"/>
            <a:ext cx="2103120" cy="182880"/>
          </a:xfrm>
          <a:prstGeom prst="rect">
            <a:avLst/>
          </a:prstGeom>
          <a:noFill/>
        </p:spPr>
        <p:txBody>
          <a:bodyPr wrap="square" lIns="0" tIns="0" rIns="0" bIns="0" rtlCol="0" anchor="ctr"/>
          <a:lstStyle/>
          <a:p>
            <a:pPr marL="0" indent="0" algn="ctr">
              <a:buNone/>
            </a:pPr>
            <a:r>
              <a:rPr lang="en-US" sz="1250" b="1" dirty="0">
                <a:solidFill>
                  <a:srgbClr val="F8FAFC"/>
                </a:solidFill>
              </a:rPr>
              <a:t>Packet analysis</a:t>
            </a:r>
            <a:endParaRPr lang="en-US" sz="1250" dirty="0"/>
          </a:p>
        </p:txBody>
      </p:sp>
      <p:sp>
        <p:nvSpPr>
          <p:cNvPr id="21" name="Shape 19"/>
          <p:cNvSpPr/>
          <p:nvPr/>
        </p:nvSpPr>
        <p:spPr>
          <a:xfrm>
            <a:off x="6400800" y="1600200"/>
            <a:ext cx="2423160" cy="877824"/>
          </a:xfrm>
          <a:prstGeom prst="roundRect">
            <a:avLst>
              <a:gd name="adj" fmla="val 12500"/>
            </a:avLst>
          </a:prstGeom>
          <a:solidFill>
            <a:srgbClr val="0D1B2A"/>
          </a:solidFill>
          <a:ln w="12700">
            <a:solidFill>
              <a:srgbClr val="2FF3E0">
                <a:alpha val="80000"/>
              </a:srgbClr>
            </a:solidFill>
            <a:prstDash val="solid"/>
          </a:ln>
        </p:spPr>
      </p:sp>
      <p:sp>
        <p:nvSpPr>
          <p:cNvPr id="22" name="Text 20"/>
          <p:cNvSpPr/>
          <p:nvPr/>
        </p:nvSpPr>
        <p:spPr>
          <a:xfrm>
            <a:off x="6565392" y="1901952"/>
            <a:ext cx="2103120" cy="182880"/>
          </a:xfrm>
          <a:prstGeom prst="rect">
            <a:avLst/>
          </a:prstGeom>
          <a:noFill/>
        </p:spPr>
        <p:txBody>
          <a:bodyPr wrap="square" lIns="0" tIns="0" rIns="0" bIns="0" rtlCol="0" anchor="ctr"/>
          <a:lstStyle/>
          <a:p>
            <a:pPr marL="0" indent="0" algn="ctr">
              <a:buNone/>
            </a:pPr>
            <a:r>
              <a:rPr lang="en-US" sz="1250" b="1" dirty="0">
                <a:solidFill>
                  <a:srgbClr val="F8FAFC"/>
                </a:solidFill>
              </a:rPr>
              <a:t>Linux basics</a:t>
            </a:r>
            <a:endParaRPr lang="en-US" sz="1250" dirty="0"/>
          </a:p>
        </p:txBody>
      </p:sp>
      <p:sp>
        <p:nvSpPr>
          <p:cNvPr id="23" name="Shape 21"/>
          <p:cNvSpPr/>
          <p:nvPr/>
        </p:nvSpPr>
        <p:spPr>
          <a:xfrm>
            <a:off x="9189720" y="1600200"/>
            <a:ext cx="2423160" cy="877824"/>
          </a:xfrm>
          <a:prstGeom prst="roundRect">
            <a:avLst>
              <a:gd name="adj" fmla="val 12500"/>
            </a:avLst>
          </a:prstGeom>
          <a:solidFill>
            <a:srgbClr val="0D1B2A"/>
          </a:solidFill>
          <a:ln w="12700">
            <a:solidFill>
              <a:srgbClr val="4DFF8F">
                <a:alpha val="80000"/>
              </a:srgbClr>
            </a:solidFill>
            <a:prstDash val="solid"/>
          </a:ln>
        </p:spPr>
      </p:sp>
      <p:sp>
        <p:nvSpPr>
          <p:cNvPr id="24" name="Text 22"/>
          <p:cNvSpPr/>
          <p:nvPr/>
        </p:nvSpPr>
        <p:spPr>
          <a:xfrm>
            <a:off x="9354312" y="1901952"/>
            <a:ext cx="2103120" cy="182880"/>
          </a:xfrm>
          <a:prstGeom prst="rect">
            <a:avLst/>
          </a:prstGeom>
          <a:noFill/>
        </p:spPr>
        <p:txBody>
          <a:bodyPr wrap="square" lIns="0" tIns="0" rIns="0" bIns="0" rtlCol="0" anchor="ctr"/>
          <a:lstStyle/>
          <a:p>
            <a:pPr marL="0" indent="0" algn="ctr">
              <a:buNone/>
            </a:pPr>
            <a:r>
              <a:rPr lang="en-US" sz="1250" b="1" dirty="0">
                <a:solidFill>
                  <a:srgbClr val="F8FAFC"/>
                </a:solidFill>
              </a:rPr>
              <a:t>Nmap scanning</a:t>
            </a:r>
            <a:endParaRPr lang="en-US" sz="1250" dirty="0"/>
          </a:p>
        </p:txBody>
      </p:sp>
      <p:sp>
        <p:nvSpPr>
          <p:cNvPr id="25" name="Shape 23"/>
          <p:cNvSpPr/>
          <p:nvPr/>
        </p:nvSpPr>
        <p:spPr>
          <a:xfrm>
            <a:off x="822960" y="3108960"/>
            <a:ext cx="2423160" cy="877824"/>
          </a:xfrm>
          <a:prstGeom prst="roundRect">
            <a:avLst>
              <a:gd name="adj" fmla="val 12500"/>
            </a:avLst>
          </a:prstGeom>
          <a:solidFill>
            <a:srgbClr val="0D1B2A"/>
          </a:solidFill>
          <a:ln w="12700">
            <a:solidFill>
              <a:srgbClr val="2FF3E0">
                <a:alpha val="80000"/>
              </a:srgbClr>
            </a:solidFill>
            <a:prstDash val="solid"/>
          </a:ln>
        </p:spPr>
      </p:sp>
      <p:sp>
        <p:nvSpPr>
          <p:cNvPr id="26" name="Text 24"/>
          <p:cNvSpPr/>
          <p:nvPr/>
        </p:nvSpPr>
        <p:spPr>
          <a:xfrm>
            <a:off x="987552" y="3410712"/>
            <a:ext cx="2103120" cy="182880"/>
          </a:xfrm>
          <a:prstGeom prst="rect">
            <a:avLst/>
          </a:prstGeom>
          <a:noFill/>
        </p:spPr>
        <p:txBody>
          <a:bodyPr wrap="square" lIns="0" tIns="0" rIns="0" bIns="0" rtlCol="0" anchor="ctr"/>
          <a:lstStyle/>
          <a:p>
            <a:pPr marL="0" indent="0" algn="ctr">
              <a:buNone/>
            </a:pPr>
            <a:r>
              <a:rPr lang="en-US" sz="1250" b="1" dirty="0">
                <a:solidFill>
                  <a:srgbClr val="F8FAFC"/>
                </a:solidFill>
              </a:rPr>
              <a:t>Suricata IDS concepts</a:t>
            </a:r>
            <a:endParaRPr lang="en-US" sz="1250" dirty="0"/>
          </a:p>
        </p:txBody>
      </p:sp>
      <p:sp>
        <p:nvSpPr>
          <p:cNvPr id="27" name="Shape 25"/>
          <p:cNvSpPr/>
          <p:nvPr/>
        </p:nvSpPr>
        <p:spPr>
          <a:xfrm>
            <a:off x="3611880" y="3108960"/>
            <a:ext cx="2423160" cy="877824"/>
          </a:xfrm>
          <a:prstGeom prst="roundRect">
            <a:avLst>
              <a:gd name="adj" fmla="val 12500"/>
            </a:avLst>
          </a:prstGeom>
          <a:solidFill>
            <a:srgbClr val="0D1B2A"/>
          </a:solidFill>
          <a:ln w="12700">
            <a:solidFill>
              <a:srgbClr val="4DFF8F">
                <a:alpha val="80000"/>
              </a:srgbClr>
            </a:solidFill>
            <a:prstDash val="solid"/>
          </a:ln>
        </p:spPr>
      </p:sp>
      <p:sp>
        <p:nvSpPr>
          <p:cNvPr id="28" name="Text 26"/>
          <p:cNvSpPr/>
          <p:nvPr/>
        </p:nvSpPr>
        <p:spPr>
          <a:xfrm>
            <a:off x="3776472" y="3410712"/>
            <a:ext cx="2103120" cy="182880"/>
          </a:xfrm>
          <a:prstGeom prst="rect">
            <a:avLst/>
          </a:prstGeom>
          <a:noFill/>
        </p:spPr>
        <p:txBody>
          <a:bodyPr wrap="square" lIns="0" tIns="0" rIns="0" bIns="0" rtlCol="0" anchor="ctr"/>
          <a:lstStyle/>
          <a:p>
            <a:pPr marL="0" indent="0" algn="ctr">
              <a:buNone/>
            </a:pPr>
            <a:r>
              <a:rPr lang="en-US" sz="1250" b="1" dirty="0">
                <a:solidFill>
                  <a:srgbClr val="F8FAFC"/>
                </a:solidFill>
              </a:rPr>
              <a:t>Troubleshooting</a:t>
            </a:r>
            <a:endParaRPr lang="en-US" sz="1250" dirty="0"/>
          </a:p>
        </p:txBody>
      </p:sp>
      <p:sp>
        <p:nvSpPr>
          <p:cNvPr id="29" name="Shape 27"/>
          <p:cNvSpPr/>
          <p:nvPr/>
        </p:nvSpPr>
        <p:spPr>
          <a:xfrm>
            <a:off x="6400800" y="3108960"/>
            <a:ext cx="2423160" cy="877824"/>
          </a:xfrm>
          <a:prstGeom prst="roundRect">
            <a:avLst>
              <a:gd name="adj" fmla="val 12500"/>
            </a:avLst>
          </a:prstGeom>
          <a:solidFill>
            <a:srgbClr val="0D1B2A"/>
          </a:solidFill>
          <a:ln w="12700">
            <a:solidFill>
              <a:srgbClr val="2FF3E0">
                <a:alpha val="80000"/>
              </a:srgbClr>
            </a:solidFill>
            <a:prstDash val="solid"/>
          </a:ln>
        </p:spPr>
      </p:sp>
      <p:sp>
        <p:nvSpPr>
          <p:cNvPr id="30" name="Text 28"/>
          <p:cNvSpPr/>
          <p:nvPr/>
        </p:nvSpPr>
        <p:spPr>
          <a:xfrm>
            <a:off x="6565392" y="3410712"/>
            <a:ext cx="2103120" cy="182880"/>
          </a:xfrm>
          <a:prstGeom prst="rect">
            <a:avLst/>
          </a:prstGeom>
          <a:noFill/>
        </p:spPr>
        <p:txBody>
          <a:bodyPr wrap="square" lIns="0" tIns="0" rIns="0" bIns="0" rtlCol="0" anchor="ctr"/>
          <a:lstStyle/>
          <a:p>
            <a:pPr marL="0" indent="0" algn="ctr">
              <a:buNone/>
            </a:pPr>
            <a:r>
              <a:rPr lang="en-US" sz="1250" b="1" dirty="0">
                <a:solidFill>
                  <a:srgbClr val="F8FAFC"/>
                </a:solidFill>
              </a:rPr>
              <a:t>Incident investigation</a:t>
            </a:r>
            <a:endParaRPr lang="en-US" sz="1250" dirty="0"/>
          </a:p>
        </p:txBody>
      </p:sp>
      <p:sp>
        <p:nvSpPr>
          <p:cNvPr id="31" name="Shape 29"/>
          <p:cNvSpPr/>
          <p:nvPr/>
        </p:nvSpPr>
        <p:spPr>
          <a:xfrm>
            <a:off x="9189720" y="3108960"/>
            <a:ext cx="2423160" cy="877824"/>
          </a:xfrm>
          <a:prstGeom prst="roundRect">
            <a:avLst>
              <a:gd name="adj" fmla="val 12500"/>
            </a:avLst>
          </a:prstGeom>
          <a:solidFill>
            <a:srgbClr val="0D1B2A"/>
          </a:solidFill>
          <a:ln w="12700">
            <a:solidFill>
              <a:srgbClr val="4DFF8F">
                <a:alpha val="80000"/>
              </a:srgbClr>
            </a:solidFill>
            <a:prstDash val="solid"/>
          </a:ln>
        </p:spPr>
      </p:sp>
      <p:sp>
        <p:nvSpPr>
          <p:cNvPr id="32" name="Text 30"/>
          <p:cNvSpPr/>
          <p:nvPr/>
        </p:nvSpPr>
        <p:spPr>
          <a:xfrm>
            <a:off x="9354312" y="3410712"/>
            <a:ext cx="2103120" cy="182880"/>
          </a:xfrm>
          <a:prstGeom prst="rect">
            <a:avLst/>
          </a:prstGeom>
          <a:noFill/>
        </p:spPr>
        <p:txBody>
          <a:bodyPr wrap="square" lIns="0" tIns="0" rIns="0" bIns="0" rtlCol="0" anchor="ctr"/>
          <a:lstStyle/>
          <a:p>
            <a:pPr marL="0" indent="0" algn="ctr">
              <a:buNone/>
            </a:pPr>
            <a:r>
              <a:rPr lang="en-US" sz="1250" b="1" dirty="0">
                <a:solidFill>
                  <a:srgbClr val="F8FAFC"/>
                </a:solidFill>
              </a:rPr>
              <a:t>Technical documentation</a:t>
            </a:r>
            <a:endParaRPr lang="en-US" sz="1250" dirty="0"/>
          </a:p>
        </p:txBody>
      </p:sp>
      <p:sp>
        <p:nvSpPr>
          <p:cNvPr id="33" name="Shape 31"/>
          <p:cNvSpPr/>
          <p:nvPr/>
        </p:nvSpPr>
        <p:spPr>
          <a:xfrm>
            <a:off x="822960" y="4892040"/>
            <a:ext cx="10561320" cy="914400"/>
          </a:xfrm>
          <a:prstGeom prst="roundRect">
            <a:avLst>
              <a:gd name="adj" fmla="val 12000"/>
            </a:avLst>
          </a:prstGeom>
          <a:solidFill>
            <a:srgbClr val="0D1B2A">
              <a:alpha val="96000"/>
            </a:srgbClr>
          </a:solidFill>
          <a:ln w="12700">
            <a:solidFill>
              <a:srgbClr val="233548">
                <a:alpha val="95000"/>
              </a:srgbClr>
            </a:solidFill>
            <a:prstDash val="solid"/>
          </a:ln>
          <a:effectLst>
            <a:outerShdw blurRad="38100" dist="12700" dir="2700000" algn="bl" rotWithShape="0">
              <a:srgbClr val="000000">
                <a:alpha val="22000"/>
              </a:srgbClr>
            </a:outerShdw>
          </a:effectLst>
        </p:spPr>
      </p:sp>
      <p:sp>
        <p:nvSpPr>
          <p:cNvPr id="34" name="Shape 32"/>
          <p:cNvSpPr/>
          <p:nvPr/>
        </p:nvSpPr>
        <p:spPr>
          <a:xfrm>
            <a:off x="822960" y="4892040"/>
            <a:ext cx="73152" cy="914400"/>
          </a:xfrm>
          <a:prstGeom prst="rect">
            <a:avLst/>
          </a:prstGeom>
          <a:solidFill>
            <a:srgbClr val="4DFF8F"/>
          </a:solidFill>
          <a:ln w="12700">
            <a:solidFill>
              <a:srgbClr val="4DFF8F"/>
            </a:solidFill>
            <a:prstDash val="solid"/>
          </a:ln>
        </p:spPr>
      </p:sp>
      <p:sp>
        <p:nvSpPr>
          <p:cNvPr id="35" name="Text 33"/>
          <p:cNvSpPr/>
          <p:nvPr/>
        </p:nvSpPr>
        <p:spPr>
          <a:xfrm>
            <a:off x="1051560" y="5056632"/>
            <a:ext cx="10213848" cy="228600"/>
          </a:xfrm>
          <a:prstGeom prst="rect">
            <a:avLst/>
          </a:prstGeom>
          <a:noFill/>
        </p:spPr>
        <p:txBody>
          <a:bodyPr wrap="square" lIns="0" tIns="0" rIns="0" bIns="0" rtlCol="0" anchor="ctr"/>
          <a:lstStyle/>
          <a:p>
            <a:pPr marL="0" indent="0">
              <a:buNone/>
            </a:pPr>
            <a:r>
              <a:rPr lang="en-US" sz="1200" b="1" dirty="0">
                <a:solidFill>
                  <a:srgbClr val="4DFF8F"/>
                </a:solidFill>
                <a:latin typeface="Aptos Display" pitchFamily="34" charset="0"/>
                <a:ea typeface="Aptos Display" pitchFamily="34" charset="-122"/>
                <a:cs typeface="Aptos Display" pitchFamily="34" charset="-120"/>
              </a:rPr>
              <a:t>Summary</a:t>
            </a:r>
            <a:endParaRPr lang="en-US" sz="1200" dirty="0"/>
          </a:p>
        </p:txBody>
      </p:sp>
      <p:sp>
        <p:nvSpPr>
          <p:cNvPr id="36" name="Text 34"/>
          <p:cNvSpPr/>
          <p:nvPr/>
        </p:nvSpPr>
        <p:spPr>
          <a:xfrm>
            <a:off x="1051560" y="5367528"/>
            <a:ext cx="10213848" cy="347472"/>
          </a:xfrm>
          <a:prstGeom prst="rect">
            <a:avLst/>
          </a:prstGeom>
          <a:noFill/>
        </p:spPr>
        <p:txBody>
          <a:bodyPr wrap="square" lIns="254" tIns="254" rIns="254" bIns="254" rtlCol="0" anchor="t">
            <a:normAutofit/>
          </a:bodyPr>
          <a:lstStyle/>
          <a:p>
            <a:pPr marL="0" indent="0">
              <a:buNone/>
            </a:pPr>
            <a:r>
              <a:rPr lang="en-US" sz="1050" dirty="0">
                <a:solidFill>
                  <a:srgbClr val="F8FAFC"/>
                </a:solidFill>
                <a:latin typeface="Aptos" pitchFamily="34" charset="0"/>
                <a:ea typeface="Aptos" pitchFamily="34" charset="-122"/>
                <a:cs typeface="Aptos" pitchFamily="34" charset="-120"/>
              </a:rPr>
              <a:t>This project demonstrates the kind of hands-on evidence expected from an entry-level SOC analyst: lab work, screenshots, traffic analysis and clear reporting.</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50B12"/>
        </a:solidFill>
        <a:effectLst/>
      </p:bgPr>
    </p:bg>
    <p:spTree>
      <p:nvGrpSpPr>
        <p:cNvPr id="1" name=""/>
        <p:cNvGrpSpPr/>
        <p:nvPr/>
      </p:nvGrpSpPr>
      <p:grpSpPr>
        <a:xfrm>
          <a:off x="0" y="0"/>
          <a:ext cx="0" cy="0"/>
          <a:chOff x="0" y="0"/>
          <a:chExt cx="0" cy="0"/>
        </a:xfrm>
      </p:grpSpPr>
      <p:sp>
        <p:nvSpPr>
          <p:cNvPr id="3" name="Shape 1"/>
          <p:cNvSpPr/>
          <p:nvPr/>
        </p:nvSpPr>
        <p:spPr>
          <a:xfrm>
            <a:off x="0" y="0"/>
            <a:ext cx="12191695" cy="475488"/>
          </a:xfrm>
          <a:prstGeom prst="rect">
            <a:avLst/>
          </a:prstGeom>
          <a:solidFill>
            <a:srgbClr val="091523"/>
          </a:solidFill>
          <a:ln w="12700">
            <a:solidFill>
              <a:srgbClr val="091523"/>
            </a:solidFill>
            <a:prstDash val="solid"/>
          </a:ln>
        </p:spPr>
      </p:sp>
      <p:sp>
        <p:nvSpPr>
          <p:cNvPr id="4" name="Shape 2"/>
          <p:cNvSpPr/>
          <p:nvPr/>
        </p:nvSpPr>
        <p:spPr>
          <a:xfrm>
            <a:off x="0" y="475488"/>
            <a:ext cx="12191695" cy="22860"/>
          </a:xfrm>
          <a:prstGeom prst="rect">
            <a:avLst/>
          </a:prstGeom>
          <a:solidFill>
            <a:srgbClr val="2FF3E0">
              <a:alpha val="90000"/>
            </a:srgbClr>
          </a:solidFill>
          <a:ln w="12700">
            <a:solidFill>
              <a:srgbClr val="2FF3E0"/>
            </a:solidFill>
            <a:prstDash val="solid"/>
          </a:ln>
        </p:spPr>
      </p:sp>
      <p:sp>
        <p:nvSpPr>
          <p:cNvPr id="6" name="Text 4"/>
          <p:cNvSpPr/>
          <p:nvPr/>
        </p:nvSpPr>
        <p:spPr>
          <a:xfrm>
            <a:off x="11384280" y="100584"/>
            <a:ext cx="347472" cy="256032"/>
          </a:xfrm>
          <a:prstGeom prst="rect">
            <a:avLst/>
          </a:prstGeom>
          <a:noFill/>
        </p:spPr>
        <p:txBody>
          <a:bodyPr wrap="square" lIns="0" tIns="0" rIns="0" bIns="0" rtlCol="0" anchor="ctr"/>
          <a:lstStyle/>
          <a:p>
            <a:pPr marL="0" indent="0" algn="r">
              <a:buNone/>
            </a:pPr>
            <a:r>
              <a:rPr lang="en-US" sz="1000" b="1" dirty="0">
                <a:solidFill>
                  <a:srgbClr val="9FB2C8"/>
                </a:solidFill>
                <a:latin typeface="Aptos Display" pitchFamily="34" charset="0"/>
                <a:ea typeface="Aptos Display" pitchFamily="34" charset="-122"/>
                <a:cs typeface="Aptos Display" pitchFamily="34" charset="-120"/>
              </a:rPr>
              <a:t>19</a:t>
            </a:r>
            <a:endParaRPr lang="en-US" sz="1000" dirty="0"/>
          </a:p>
        </p:txBody>
      </p:sp>
      <p:sp>
        <p:nvSpPr>
          <p:cNvPr id="7" name="Text 5"/>
          <p:cNvSpPr/>
          <p:nvPr/>
        </p:nvSpPr>
        <p:spPr>
          <a:xfrm>
            <a:off x="502920" y="713232"/>
            <a:ext cx="10607040" cy="329184"/>
          </a:xfrm>
          <a:prstGeom prst="rect">
            <a:avLst/>
          </a:prstGeom>
          <a:noFill/>
        </p:spPr>
        <p:txBody>
          <a:bodyPr wrap="square" lIns="0" tIns="0" rIns="0" bIns="0" rtlCol="0" anchor="ctr"/>
          <a:lstStyle/>
          <a:p>
            <a:pPr marL="0" indent="0">
              <a:buNone/>
            </a:pPr>
            <a:r>
              <a:rPr lang="en-US" sz="2200" b="1" dirty="0">
                <a:solidFill>
                  <a:srgbClr val="F8FAFC"/>
                </a:solidFill>
                <a:latin typeface="Aptos Display" pitchFamily="34" charset="0"/>
                <a:ea typeface="Aptos Display" pitchFamily="34" charset="-122"/>
                <a:cs typeface="Aptos Display" pitchFamily="34" charset="-120"/>
              </a:rPr>
              <a:t>Recommendations and Future Improvements</a:t>
            </a:r>
            <a:endParaRPr lang="en-US" sz="2200" dirty="0"/>
          </a:p>
        </p:txBody>
      </p:sp>
      <p:sp>
        <p:nvSpPr>
          <p:cNvPr id="8" name="Shape 6"/>
          <p:cNvSpPr/>
          <p:nvPr/>
        </p:nvSpPr>
        <p:spPr>
          <a:xfrm>
            <a:off x="274320" y="1965960"/>
            <a:ext cx="11658600" cy="0"/>
          </a:xfrm>
          <a:prstGeom prst="line">
            <a:avLst/>
          </a:prstGeom>
          <a:noFill/>
          <a:ln w="6350">
            <a:solidFill>
              <a:srgbClr val="233548">
                <a:alpha val="22000"/>
              </a:srgbClr>
            </a:solidFill>
            <a:prstDash val="solid"/>
          </a:ln>
        </p:spPr>
      </p:sp>
      <p:sp>
        <p:nvSpPr>
          <p:cNvPr id="9" name="Shape 7"/>
          <p:cNvSpPr/>
          <p:nvPr/>
        </p:nvSpPr>
        <p:spPr>
          <a:xfrm>
            <a:off x="274320" y="2697480"/>
            <a:ext cx="11658600" cy="0"/>
          </a:xfrm>
          <a:prstGeom prst="line">
            <a:avLst/>
          </a:prstGeom>
          <a:noFill/>
          <a:ln w="6350">
            <a:solidFill>
              <a:srgbClr val="233548">
                <a:alpha val="22000"/>
              </a:srgbClr>
            </a:solidFill>
            <a:prstDash val="solid"/>
          </a:ln>
        </p:spPr>
      </p:sp>
      <p:sp>
        <p:nvSpPr>
          <p:cNvPr id="10" name="Shape 8"/>
          <p:cNvSpPr/>
          <p:nvPr/>
        </p:nvSpPr>
        <p:spPr>
          <a:xfrm>
            <a:off x="274320" y="3429000"/>
            <a:ext cx="11658600" cy="0"/>
          </a:xfrm>
          <a:prstGeom prst="line">
            <a:avLst/>
          </a:prstGeom>
          <a:noFill/>
          <a:ln w="6350">
            <a:solidFill>
              <a:srgbClr val="233548">
                <a:alpha val="22000"/>
              </a:srgbClr>
            </a:solidFill>
            <a:prstDash val="solid"/>
          </a:ln>
        </p:spPr>
      </p:sp>
      <p:sp>
        <p:nvSpPr>
          <p:cNvPr id="11" name="Shape 9"/>
          <p:cNvSpPr/>
          <p:nvPr/>
        </p:nvSpPr>
        <p:spPr>
          <a:xfrm>
            <a:off x="274320" y="4160520"/>
            <a:ext cx="11658600" cy="0"/>
          </a:xfrm>
          <a:prstGeom prst="line">
            <a:avLst/>
          </a:prstGeom>
          <a:noFill/>
          <a:ln w="6350">
            <a:solidFill>
              <a:srgbClr val="233548">
                <a:alpha val="22000"/>
              </a:srgbClr>
            </a:solidFill>
            <a:prstDash val="solid"/>
          </a:ln>
        </p:spPr>
      </p:sp>
      <p:sp>
        <p:nvSpPr>
          <p:cNvPr id="12" name="Shape 10"/>
          <p:cNvSpPr/>
          <p:nvPr/>
        </p:nvSpPr>
        <p:spPr>
          <a:xfrm>
            <a:off x="274320" y="4892040"/>
            <a:ext cx="11658600" cy="0"/>
          </a:xfrm>
          <a:prstGeom prst="line">
            <a:avLst/>
          </a:prstGeom>
          <a:noFill/>
          <a:ln w="6350">
            <a:solidFill>
              <a:srgbClr val="233548">
                <a:alpha val="22000"/>
              </a:srgbClr>
            </a:solidFill>
            <a:prstDash val="solid"/>
          </a:ln>
        </p:spPr>
      </p:sp>
      <p:sp>
        <p:nvSpPr>
          <p:cNvPr id="13" name="Shape 11"/>
          <p:cNvSpPr/>
          <p:nvPr/>
        </p:nvSpPr>
        <p:spPr>
          <a:xfrm>
            <a:off x="274320" y="5623560"/>
            <a:ext cx="11658600" cy="0"/>
          </a:xfrm>
          <a:prstGeom prst="line">
            <a:avLst/>
          </a:prstGeom>
          <a:noFill/>
          <a:ln w="6350">
            <a:solidFill>
              <a:srgbClr val="233548">
                <a:alpha val="22000"/>
              </a:srgbClr>
            </a:solidFill>
            <a:prstDash val="solid"/>
          </a:ln>
        </p:spPr>
      </p:sp>
      <p:sp>
        <p:nvSpPr>
          <p:cNvPr id="14" name="Shape 12"/>
          <p:cNvSpPr/>
          <p:nvPr/>
        </p:nvSpPr>
        <p:spPr>
          <a:xfrm>
            <a:off x="0" y="6611112"/>
            <a:ext cx="12191695" cy="246888"/>
          </a:xfrm>
          <a:prstGeom prst="rect">
            <a:avLst/>
          </a:prstGeom>
          <a:solidFill>
            <a:srgbClr val="03070C"/>
          </a:solidFill>
          <a:ln w="12700">
            <a:solidFill>
              <a:srgbClr val="03070C"/>
            </a:solidFill>
            <a:prstDash val="solid"/>
          </a:ln>
        </p:spPr>
      </p:sp>
      <p:sp>
        <p:nvSpPr>
          <p:cNvPr id="17" name="Shape 15"/>
          <p:cNvSpPr/>
          <p:nvPr/>
        </p:nvSpPr>
        <p:spPr>
          <a:xfrm>
            <a:off x="685800" y="1508760"/>
            <a:ext cx="3502152" cy="2057400"/>
          </a:xfrm>
          <a:prstGeom prst="roundRect">
            <a:avLst>
              <a:gd name="adj" fmla="val 5778"/>
            </a:avLst>
          </a:prstGeom>
          <a:solidFill>
            <a:srgbClr val="0D1B2A">
              <a:alpha val="97000"/>
            </a:srgbClr>
          </a:solidFill>
          <a:ln w="12700">
            <a:solidFill>
              <a:srgbClr val="233548">
                <a:alpha val="92000"/>
              </a:srgbClr>
            </a:solidFill>
            <a:prstDash val="solid"/>
          </a:ln>
        </p:spPr>
      </p:sp>
      <p:sp>
        <p:nvSpPr>
          <p:cNvPr id="18" name="Text 16"/>
          <p:cNvSpPr/>
          <p:nvPr/>
        </p:nvSpPr>
        <p:spPr>
          <a:xfrm>
            <a:off x="850392" y="1673352"/>
            <a:ext cx="502920" cy="228600"/>
          </a:xfrm>
          <a:prstGeom prst="rect">
            <a:avLst/>
          </a:prstGeom>
          <a:noFill/>
        </p:spPr>
        <p:txBody>
          <a:bodyPr wrap="square" lIns="0" tIns="0" rIns="0" bIns="0" rtlCol="0" anchor="ctr"/>
          <a:lstStyle/>
          <a:p>
            <a:pPr marL="0" indent="0">
              <a:buNone/>
            </a:pPr>
            <a:r>
              <a:rPr lang="en-US" sz="1500" b="1" dirty="0">
                <a:solidFill>
                  <a:srgbClr val="2FF3E0"/>
                </a:solidFill>
              </a:rPr>
              <a:t>01</a:t>
            </a:r>
            <a:endParaRPr lang="en-US" sz="1500" dirty="0"/>
          </a:p>
        </p:txBody>
      </p:sp>
      <p:sp>
        <p:nvSpPr>
          <p:cNvPr id="19" name="Text 17"/>
          <p:cNvSpPr/>
          <p:nvPr/>
        </p:nvSpPr>
        <p:spPr>
          <a:xfrm>
            <a:off x="850392" y="2039112"/>
            <a:ext cx="3172968" cy="320040"/>
          </a:xfrm>
          <a:prstGeom prst="rect">
            <a:avLst/>
          </a:prstGeom>
          <a:noFill/>
        </p:spPr>
        <p:txBody>
          <a:bodyPr wrap="square" lIns="0" tIns="0" rIns="0" bIns="0" rtlCol="0" anchor="ctr"/>
          <a:lstStyle/>
          <a:p>
            <a:pPr marL="0" indent="0">
              <a:buNone/>
            </a:pPr>
            <a:r>
              <a:rPr lang="en-US" sz="1250" b="1" dirty="0">
                <a:solidFill>
                  <a:srgbClr val="F8FAFC"/>
                </a:solidFill>
              </a:rPr>
              <a:t>Integrate SIEM</a:t>
            </a:r>
            <a:endParaRPr lang="en-US" sz="1250" dirty="0"/>
          </a:p>
        </p:txBody>
      </p:sp>
      <p:sp>
        <p:nvSpPr>
          <p:cNvPr id="20" name="Text 18"/>
          <p:cNvSpPr/>
          <p:nvPr/>
        </p:nvSpPr>
        <p:spPr>
          <a:xfrm>
            <a:off x="850392" y="2441448"/>
            <a:ext cx="3172968" cy="1005840"/>
          </a:xfrm>
          <a:prstGeom prst="rect">
            <a:avLst/>
          </a:prstGeom>
          <a:noFill/>
        </p:spPr>
        <p:txBody>
          <a:bodyPr wrap="square" lIns="127" tIns="127" rIns="127" bIns="127" rtlCol="0" anchor="ctr">
            <a:normAutofit/>
          </a:bodyPr>
          <a:lstStyle/>
          <a:p>
            <a:pPr marL="0" indent="0">
              <a:buNone/>
            </a:pPr>
            <a:r>
              <a:rPr lang="en-US" sz="950" dirty="0">
                <a:solidFill>
                  <a:srgbClr val="9FB2C8"/>
                </a:solidFill>
              </a:rPr>
              <a:t>Forward Suricata logs into Splunk or ELK for dashboarding and alert correlation.</a:t>
            </a:r>
            <a:endParaRPr lang="en-US" sz="950" dirty="0"/>
          </a:p>
        </p:txBody>
      </p:sp>
      <p:sp>
        <p:nvSpPr>
          <p:cNvPr id="21" name="Shape 19"/>
          <p:cNvSpPr/>
          <p:nvPr/>
        </p:nvSpPr>
        <p:spPr>
          <a:xfrm>
            <a:off x="4352544" y="1508760"/>
            <a:ext cx="3502152" cy="2057400"/>
          </a:xfrm>
          <a:prstGeom prst="roundRect">
            <a:avLst>
              <a:gd name="adj" fmla="val 5778"/>
            </a:avLst>
          </a:prstGeom>
          <a:solidFill>
            <a:srgbClr val="0D1B2A">
              <a:alpha val="97000"/>
            </a:srgbClr>
          </a:solidFill>
          <a:ln w="12700">
            <a:solidFill>
              <a:srgbClr val="233548">
                <a:alpha val="92000"/>
              </a:srgbClr>
            </a:solidFill>
            <a:prstDash val="solid"/>
          </a:ln>
        </p:spPr>
      </p:sp>
      <p:sp>
        <p:nvSpPr>
          <p:cNvPr id="22" name="Text 20"/>
          <p:cNvSpPr/>
          <p:nvPr/>
        </p:nvSpPr>
        <p:spPr>
          <a:xfrm>
            <a:off x="4517136" y="1673352"/>
            <a:ext cx="502920" cy="228600"/>
          </a:xfrm>
          <a:prstGeom prst="rect">
            <a:avLst/>
          </a:prstGeom>
          <a:noFill/>
        </p:spPr>
        <p:txBody>
          <a:bodyPr wrap="square" lIns="0" tIns="0" rIns="0" bIns="0" rtlCol="0" anchor="ctr"/>
          <a:lstStyle/>
          <a:p>
            <a:pPr marL="0" indent="0">
              <a:buNone/>
            </a:pPr>
            <a:r>
              <a:rPr lang="en-US" sz="1500" b="1" dirty="0">
                <a:solidFill>
                  <a:srgbClr val="2FF3E0"/>
                </a:solidFill>
              </a:rPr>
              <a:t>02</a:t>
            </a:r>
            <a:endParaRPr lang="en-US" sz="1500" dirty="0"/>
          </a:p>
        </p:txBody>
      </p:sp>
      <p:sp>
        <p:nvSpPr>
          <p:cNvPr id="23" name="Text 21"/>
          <p:cNvSpPr/>
          <p:nvPr/>
        </p:nvSpPr>
        <p:spPr>
          <a:xfrm>
            <a:off x="4517136" y="2039112"/>
            <a:ext cx="3172968" cy="320040"/>
          </a:xfrm>
          <a:prstGeom prst="rect">
            <a:avLst/>
          </a:prstGeom>
          <a:noFill/>
        </p:spPr>
        <p:txBody>
          <a:bodyPr wrap="square" lIns="0" tIns="0" rIns="0" bIns="0" rtlCol="0" anchor="ctr"/>
          <a:lstStyle/>
          <a:p>
            <a:pPr marL="0" indent="0">
              <a:buNone/>
            </a:pPr>
            <a:r>
              <a:rPr lang="en-US" sz="1250" b="1" dirty="0">
                <a:solidFill>
                  <a:srgbClr val="F8FAFC"/>
                </a:solidFill>
              </a:rPr>
              <a:t>Add IPS controls</a:t>
            </a:r>
            <a:endParaRPr lang="en-US" sz="1250" dirty="0"/>
          </a:p>
        </p:txBody>
      </p:sp>
      <p:sp>
        <p:nvSpPr>
          <p:cNvPr id="24" name="Text 22"/>
          <p:cNvSpPr/>
          <p:nvPr/>
        </p:nvSpPr>
        <p:spPr>
          <a:xfrm>
            <a:off x="4517136" y="2441448"/>
            <a:ext cx="3172968" cy="1005840"/>
          </a:xfrm>
          <a:prstGeom prst="rect">
            <a:avLst/>
          </a:prstGeom>
          <a:noFill/>
        </p:spPr>
        <p:txBody>
          <a:bodyPr wrap="square" lIns="127" tIns="127" rIns="127" bIns="127" rtlCol="0" anchor="ctr">
            <a:normAutofit/>
          </a:bodyPr>
          <a:lstStyle/>
          <a:p>
            <a:pPr marL="0" indent="0">
              <a:buNone/>
            </a:pPr>
            <a:r>
              <a:rPr lang="en-US" sz="950" dirty="0">
                <a:solidFill>
                  <a:srgbClr val="9FB2C8"/>
                </a:solidFill>
              </a:rPr>
              <a:t>Move from detection to active prevention using firewall automation or Suricata IPS mode.</a:t>
            </a:r>
            <a:endParaRPr lang="en-US" sz="950" dirty="0"/>
          </a:p>
        </p:txBody>
      </p:sp>
      <p:sp>
        <p:nvSpPr>
          <p:cNvPr id="25" name="Shape 23"/>
          <p:cNvSpPr/>
          <p:nvPr/>
        </p:nvSpPr>
        <p:spPr>
          <a:xfrm>
            <a:off x="8019288" y="1508760"/>
            <a:ext cx="3502152" cy="2057400"/>
          </a:xfrm>
          <a:prstGeom prst="roundRect">
            <a:avLst>
              <a:gd name="adj" fmla="val 5778"/>
            </a:avLst>
          </a:prstGeom>
          <a:solidFill>
            <a:srgbClr val="0D1B2A">
              <a:alpha val="97000"/>
            </a:srgbClr>
          </a:solidFill>
          <a:ln w="12700">
            <a:solidFill>
              <a:srgbClr val="233548">
                <a:alpha val="92000"/>
              </a:srgbClr>
            </a:solidFill>
            <a:prstDash val="solid"/>
          </a:ln>
        </p:spPr>
      </p:sp>
      <p:sp>
        <p:nvSpPr>
          <p:cNvPr id="26" name="Text 24"/>
          <p:cNvSpPr/>
          <p:nvPr/>
        </p:nvSpPr>
        <p:spPr>
          <a:xfrm>
            <a:off x="8183880" y="1673352"/>
            <a:ext cx="502920" cy="228600"/>
          </a:xfrm>
          <a:prstGeom prst="rect">
            <a:avLst/>
          </a:prstGeom>
          <a:noFill/>
        </p:spPr>
        <p:txBody>
          <a:bodyPr wrap="square" lIns="0" tIns="0" rIns="0" bIns="0" rtlCol="0" anchor="ctr"/>
          <a:lstStyle/>
          <a:p>
            <a:pPr marL="0" indent="0">
              <a:buNone/>
            </a:pPr>
            <a:r>
              <a:rPr lang="en-US" sz="1500" b="1" dirty="0">
                <a:solidFill>
                  <a:srgbClr val="2FF3E0"/>
                </a:solidFill>
              </a:rPr>
              <a:t>03</a:t>
            </a:r>
            <a:endParaRPr lang="en-US" sz="1500" dirty="0"/>
          </a:p>
        </p:txBody>
      </p:sp>
      <p:sp>
        <p:nvSpPr>
          <p:cNvPr id="27" name="Text 25"/>
          <p:cNvSpPr/>
          <p:nvPr/>
        </p:nvSpPr>
        <p:spPr>
          <a:xfrm>
            <a:off x="8183880" y="2039112"/>
            <a:ext cx="3172968" cy="320040"/>
          </a:xfrm>
          <a:prstGeom prst="rect">
            <a:avLst/>
          </a:prstGeom>
          <a:noFill/>
        </p:spPr>
        <p:txBody>
          <a:bodyPr wrap="square" lIns="0" tIns="0" rIns="0" bIns="0" rtlCol="0" anchor="ctr"/>
          <a:lstStyle/>
          <a:p>
            <a:pPr marL="0" indent="0">
              <a:buNone/>
            </a:pPr>
            <a:r>
              <a:rPr lang="en-US" sz="1250" b="1" dirty="0">
                <a:solidFill>
                  <a:srgbClr val="F8FAFC"/>
                </a:solidFill>
              </a:rPr>
              <a:t>Expand attack tests</a:t>
            </a:r>
            <a:endParaRPr lang="en-US" sz="1250" dirty="0"/>
          </a:p>
        </p:txBody>
      </p:sp>
      <p:sp>
        <p:nvSpPr>
          <p:cNvPr id="28" name="Text 26"/>
          <p:cNvSpPr/>
          <p:nvPr/>
        </p:nvSpPr>
        <p:spPr>
          <a:xfrm>
            <a:off x="8183880" y="2441448"/>
            <a:ext cx="3172968" cy="1005840"/>
          </a:xfrm>
          <a:prstGeom prst="rect">
            <a:avLst/>
          </a:prstGeom>
          <a:noFill/>
        </p:spPr>
        <p:txBody>
          <a:bodyPr wrap="square" lIns="127" tIns="127" rIns="127" bIns="127" rtlCol="0" anchor="ctr">
            <a:normAutofit/>
          </a:bodyPr>
          <a:lstStyle/>
          <a:p>
            <a:pPr marL="0" indent="0">
              <a:buNone/>
            </a:pPr>
            <a:r>
              <a:rPr lang="en-US" sz="950" dirty="0">
                <a:solidFill>
                  <a:srgbClr val="9FB2C8"/>
                </a:solidFill>
              </a:rPr>
              <a:t>Include brute-force, web enumeration, malicious payload detection and custom rules.</a:t>
            </a:r>
            <a:endParaRPr lang="en-US" sz="950" dirty="0"/>
          </a:p>
        </p:txBody>
      </p:sp>
      <p:sp>
        <p:nvSpPr>
          <p:cNvPr id="32" name="Text 30"/>
          <p:cNvSpPr/>
          <p:nvPr/>
        </p:nvSpPr>
        <p:spPr>
          <a:xfrm>
            <a:off x="914400" y="4727448"/>
            <a:ext cx="10488168" cy="347472"/>
          </a:xfrm>
          <a:prstGeom prst="rect">
            <a:avLst/>
          </a:prstGeom>
          <a:noFill/>
        </p:spPr>
        <p:txBody>
          <a:bodyPr wrap="square" lIns="254" tIns="254" rIns="254" bIns="254" rtlCol="0" anchor="t">
            <a:normAutofit/>
          </a:bodyPr>
          <a:lstStyle/>
          <a:p>
            <a:pPr marL="0" indent="0">
              <a:buNone/>
            </a:pPr>
            <a:endParaRPr lang="en-US" sz="1050" dirty="0"/>
          </a:p>
        </p:txBody>
      </p:sp>
      <p:pic>
        <p:nvPicPr>
          <p:cNvPr id="41" name="Picture 40"/>
          <p:cNvPicPr>
            <a:picLocks noChangeAspect="1"/>
          </p:cNvPicPr>
          <p:nvPr/>
        </p:nvPicPr>
        <p:blipFill>
          <a:blip r:embed="rId1"/>
          <a:stretch>
            <a:fillRect/>
          </a:stretch>
        </p:blipFill>
        <p:spPr>
          <a:xfrm>
            <a:off x="667385" y="4052570"/>
            <a:ext cx="3520440" cy="2072640"/>
          </a:xfrm>
          <a:prstGeom prst="rect">
            <a:avLst/>
          </a:prstGeom>
        </p:spPr>
      </p:pic>
      <p:pic>
        <p:nvPicPr>
          <p:cNvPr id="42" name="Picture 41"/>
          <p:cNvPicPr>
            <a:picLocks noChangeAspect="1"/>
          </p:cNvPicPr>
          <p:nvPr/>
        </p:nvPicPr>
        <p:blipFill>
          <a:blip r:embed="rId1"/>
          <a:stretch>
            <a:fillRect/>
          </a:stretch>
        </p:blipFill>
        <p:spPr>
          <a:xfrm>
            <a:off x="4498975" y="4052570"/>
            <a:ext cx="3520440" cy="2072640"/>
          </a:xfrm>
          <a:prstGeom prst="rect">
            <a:avLst/>
          </a:prstGeom>
        </p:spPr>
      </p:pic>
      <p:pic>
        <p:nvPicPr>
          <p:cNvPr id="43" name="Picture 42"/>
          <p:cNvPicPr>
            <a:picLocks noChangeAspect="1"/>
          </p:cNvPicPr>
          <p:nvPr/>
        </p:nvPicPr>
        <p:blipFill>
          <a:blip r:embed="rId1"/>
          <a:stretch>
            <a:fillRect/>
          </a:stretch>
        </p:blipFill>
        <p:spPr>
          <a:xfrm>
            <a:off x="8183880" y="4032250"/>
            <a:ext cx="3520440" cy="2072640"/>
          </a:xfrm>
          <a:prstGeom prst="rect">
            <a:avLst/>
          </a:prstGeom>
        </p:spPr>
      </p:pic>
      <p:sp>
        <p:nvSpPr>
          <p:cNvPr id="44" name="Text Box 43"/>
          <p:cNvSpPr txBox="1"/>
          <p:nvPr/>
        </p:nvSpPr>
        <p:spPr>
          <a:xfrm>
            <a:off x="586105" y="4191000"/>
            <a:ext cx="3437255" cy="1753870"/>
          </a:xfrm>
          <a:prstGeom prst="rect">
            <a:avLst/>
          </a:prstGeom>
          <a:noFill/>
        </p:spPr>
        <p:txBody>
          <a:bodyPr wrap="square" rtlCol="0" anchor="t">
            <a:noAutofit/>
          </a:bodyPr>
          <a:p>
            <a:pPr algn="ctr">
              <a:spcAft>
                <a:spcPts val="600"/>
              </a:spcAft>
              <a:defRPr sz="1750" b="1">
                <a:solidFill>
                  <a:srgbClr val="F3F7FF"/>
                </a:solidFill>
                <a:latin typeface="Aptos"/>
              </a:defRPr>
            </a:pPr>
            <a:r>
              <a:rPr sz="1400">
                <a:solidFill>
                  <a:srgbClr val="FF0000"/>
                </a:solidFill>
                <a:sym typeface="+mn-ea"/>
              </a:rPr>
              <a:t>Common challenges</a:t>
            </a:r>
            <a:endParaRPr sz="1400">
              <a:solidFill>
                <a:srgbClr val="FF0000"/>
              </a:solidFill>
              <a:sym typeface="+mn-ea"/>
            </a:endParaRPr>
          </a:p>
          <a:p>
            <a:pPr>
              <a:spcAft>
                <a:spcPts val="700"/>
              </a:spcAft>
              <a:defRPr sz="1700">
                <a:solidFill>
                  <a:srgbClr val="F3F7FF"/>
                </a:solidFill>
                <a:latin typeface="Aptos"/>
              </a:defRPr>
            </a:pPr>
            <a:r>
              <a:rPr sz="1400">
                <a:sym typeface="+mn-ea"/>
              </a:rPr>
              <a:t>Choosing the wrong interface and seeing no traffic</a:t>
            </a:r>
            <a:endParaRPr sz="1400">
              <a:sym typeface="+mn-ea"/>
            </a:endParaRPr>
          </a:p>
          <a:p>
            <a:pPr>
              <a:spcAft>
                <a:spcPts val="700"/>
              </a:spcAft>
              <a:defRPr sz="1700">
                <a:solidFill>
                  <a:srgbClr val="F3F7FF"/>
                </a:solidFill>
                <a:latin typeface="Aptos"/>
              </a:defRPr>
            </a:pPr>
            <a:r>
              <a:rPr sz="1400">
                <a:sym typeface="+mn-ea"/>
              </a:rPr>
              <a:t>Incorrect HOME_NET or YAML syntax errors</a:t>
            </a:r>
            <a:endParaRPr sz="1400">
              <a:sym typeface="+mn-ea"/>
            </a:endParaRPr>
          </a:p>
          <a:p>
            <a:pPr>
              <a:spcAft>
                <a:spcPts val="700"/>
              </a:spcAft>
              <a:defRPr sz="1700">
                <a:solidFill>
                  <a:srgbClr val="F3F7FF"/>
                </a:solidFill>
                <a:latin typeface="Aptos"/>
              </a:defRPr>
            </a:pPr>
            <a:r>
              <a:rPr sz="1400">
                <a:sym typeface="+mn-ea"/>
              </a:rPr>
              <a:t>Rules not loaded or alerts not appearing as expected</a:t>
            </a:r>
            <a:endParaRPr lang="en-US" sz="1400">
              <a:sym typeface="+mn-ea"/>
            </a:endParaRPr>
          </a:p>
        </p:txBody>
      </p:sp>
      <p:sp>
        <p:nvSpPr>
          <p:cNvPr id="45" name="Text Box 44"/>
          <p:cNvSpPr txBox="1"/>
          <p:nvPr/>
        </p:nvSpPr>
        <p:spPr>
          <a:xfrm>
            <a:off x="4498975" y="4220210"/>
            <a:ext cx="3757930" cy="1617980"/>
          </a:xfrm>
          <a:prstGeom prst="rect">
            <a:avLst/>
          </a:prstGeom>
          <a:noFill/>
        </p:spPr>
        <p:txBody>
          <a:bodyPr wrap="square" rtlCol="0" anchor="t">
            <a:noAutofit/>
          </a:bodyPr>
          <a:p>
            <a:pPr algn="ctr">
              <a:spcAft>
                <a:spcPts val="600"/>
              </a:spcAft>
              <a:defRPr sz="1750" b="1">
                <a:solidFill>
                  <a:srgbClr val="F3F7FF"/>
                </a:solidFill>
                <a:latin typeface="Aptos"/>
              </a:defRPr>
            </a:pPr>
            <a:r>
              <a:rPr sz="1400">
                <a:solidFill>
                  <a:srgbClr val="FFFF00"/>
                </a:solidFill>
                <a:sym typeface="+mn-ea"/>
              </a:rPr>
              <a:t>Lessons learned</a:t>
            </a:r>
            <a:endParaRPr sz="1400">
              <a:sym typeface="+mn-ea"/>
            </a:endParaRPr>
          </a:p>
          <a:p>
            <a:pPr>
              <a:spcAft>
                <a:spcPts val="700"/>
              </a:spcAft>
              <a:defRPr sz="1700">
                <a:solidFill>
                  <a:srgbClr val="F3F7FF"/>
                </a:solidFill>
                <a:latin typeface="Aptos"/>
              </a:defRPr>
            </a:pPr>
            <a:r>
              <a:rPr sz="1400">
                <a:sym typeface="+mn-ea"/>
              </a:rPr>
              <a:t>Validate every step before moving forward</a:t>
            </a:r>
            <a:endParaRPr sz="1400">
              <a:sym typeface="+mn-ea"/>
            </a:endParaRPr>
          </a:p>
          <a:p>
            <a:pPr>
              <a:spcAft>
                <a:spcPts val="700"/>
              </a:spcAft>
              <a:defRPr sz="1700">
                <a:solidFill>
                  <a:srgbClr val="F3F7FF"/>
                </a:solidFill>
                <a:latin typeface="Aptos"/>
              </a:defRPr>
            </a:pPr>
            <a:r>
              <a:rPr sz="1400">
                <a:sym typeface="+mn-ea"/>
              </a:rPr>
              <a:t>Simple attack scenarios are enough for strong evidence</a:t>
            </a:r>
            <a:endParaRPr sz="1400">
              <a:sym typeface="+mn-ea"/>
            </a:endParaRPr>
          </a:p>
          <a:p>
            <a:pPr>
              <a:spcAft>
                <a:spcPts val="700"/>
              </a:spcAft>
              <a:defRPr sz="1700">
                <a:solidFill>
                  <a:srgbClr val="F3F7FF"/>
                </a:solidFill>
                <a:latin typeface="Aptos"/>
              </a:defRPr>
            </a:pPr>
            <a:r>
              <a:rPr sz="1400">
                <a:sym typeface="+mn-ea"/>
              </a:rPr>
              <a:t>Good screenshots make the final report much stronger</a:t>
            </a:r>
            <a:endParaRPr lang="en-US" sz="1400">
              <a:sym typeface="+mn-ea"/>
            </a:endParaRPr>
          </a:p>
        </p:txBody>
      </p:sp>
      <p:sp>
        <p:nvSpPr>
          <p:cNvPr id="48" name="Text Box 47"/>
          <p:cNvSpPr txBox="1"/>
          <p:nvPr/>
        </p:nvSpPr>
        <p:spPr>
          <a:xfrm>
            <a:off x="8279130" y="4160520"/>
            <a:ext cx="3123565" cy="1263650"/>
          </a:xfrm>
          <a:prstGeom prst="rect">
            <a:avLst/>
          </a:prstGeom>
          <a:noFill/>
        </p:spPr>
        <p:txBody>
          <a:bodyPr wrap="square" rtlCol="0" anchor="t">
            <a:noAutofit/>
          </a:bodyPr>
          <a:p>
            <a:pPr algn="ctr">
              <a:spcAft>
                <a:spcPts val="600"/>
              </a:spcAft>
              <a:defRPr sz="1750" b="1">
                <a:solidFill>
                  <a:srgbClr val="F3F7FF"/>
                </a:solidFill>
                <a:latin typeface="Aptos"/>
              </a:defRPr>
            </a:pPr>
            <a:r>
              <a:rPr sz="1400">
                <a:solidFill>
                  <a:schemeClr val="accent5">
                    <a:lumMod val="75000"/>
                  </a:schemeClr>
                </a:solidFill>
                <a:sym typeface="+mn-ea"/>
              </a:rPr>
              <a:t>Recommendations</a:t>
            </a:r>
            <a:endParaRPr sz="1400">
              <a:solidFill>
                <a:schemeClr val="accent5">
                  <a:lumMod val="75000"/>
                </a:schemeClr>
              </a:solidFill>
              <a:sym typeface="+mn-ea"/>
            </a:endParaRPr>
          </a:p>
          <a:p>
            <a:pPr>
              <a:spcAft>
                <a:spcPts val="700"/>
              </a:spcAft>
              <a:defRPr sz="1700">
                <a:solidFill>
                  <a:srgbClr val="F3F7FF"/>
                </a:solidFill>
                <a:latin typeface="Aptos"/>
              </a:defRPr>
            </a:pPr>
            <a:r>
              <a:rPr sz="1400">
                <a:sym typeface="+mn-ea"/>
              </a:rPr>
              <a:t>Use a clean folder for screenshot evidence</a:t>
            </a:r>
            <a:endParaRPr sz="1400">
              <a:sym typeface="+mn-ea"/>
            </a:endParaRPr>
          </a:p>
          <a:p>
            <a:pPr>
              <a:spcAft>
                <a:spcPts val="700"/>
              </a:spcAft>
              <a:defRPr sz="1700">
                <a:solidFill>
                  <a:srgbClr val="F3F7FF"/>
                </a:solidFill>
                <a:latin typeface="Aptos"/>
              </a:defRPr>
            </a:pPr>
            <a:r>
              <a:rPr sz="1400">
                <a:sym typeface="+mn-ea"/>
              </a:rPr>
              <a:t>Keep commands and IP addresses consistent</a:t>
            </a:r>
            <a:endParaRPr sz="1400">
              <a:sym typeface="+mn-ea"/>
            </a:endParaRPr>
          </a:p>
          <a:p>
            <a:pPr>
              <a:spcAft>
                <a:spcPts val="700"/>
              </a:spcAft>
              <a:defRPr sz="1700">
                <a:solidFill>
                  <a:srgbClr val="F3F7FF"/>
                </a:solidFill>
                <a:latin typeface="Aptos"/>
              </a:defRPr>
            </a:pPr>
            <a:r>
              <a:rPr sz="1400">
                <a:sym typeface="+mn-ea"/>
              </a:rPr>
              <a:t>Explain alerts in analyst language, not just raw logs</a:t>
            </a:r>
            <a:endParaRPr lang="en-US" sz="1400">
              <a:sym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50B1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50B12"/>
          </a:solidFill>
          <a:ln w="12700">
            <a:solidFill>
              <a:srgbClr val="050B12"/>
            </a:solidFill>
            <a:prstDash val="solid"/>
          </a:ln>
        </p:spPr>
      </p:sp>
      <p:sp>
        <p:nvSpPr>
          <p:cNvPr id="3" name="Shape 1"/>
          <p:cNvSpPr/>
          <p:nvPr/>
        </p:nvSpPr>
        <p:spPr>
          <a:xfrm>
            <a:off x="0" y="0"/>
            <a:ext cx="12191695" cy="475488"/>
          </a:xfrm>
          <a:prstGeom prst="rect">
            <a:avLst/>
          </a:prstGeom>
          <a:solidFill>
            <a:srgbClr val="091523"/>
          </a:solidFill>
          <a:ln w="12700">
            <a:solidFill>
              <a:srgbClr val="091523"/>
            </a:solidFill>
            <a:prstDash val="solid"/>
          </a:ln>
        </p:spPr>
      </p:sp>
      <p:sp>
        <p:nvSpPr>
          <p:cNvPr id="4" name="Shape 2"/>
          <p:cNvSpPr/>
          <p:nvPr/>
        </p:nvSpPr>
        <p:spPr>
          <a:xfrm>
            <a:off x="0" y="475488"/>
            <a:ext cx="12191695" cy="22860"/>
          </a:xfrm>
          <a:prstGeom prst="rect">
            <a:avLst/>
          </a:prstGeom>
          <a:solidFill>
            <a:srgbClr val="2FF3E0">
              <a:alpha val="90000"/>
            </a:srgbClr>
          </a:solidFill>
          <a:ln w="12700">
            <a:solidFill>
              <a:srgbClr val="2FF3E0"/>
            </a:solidFill>
            <a:prstDash val="solid"/>
          </a:ln>
        </p:spPr>
      </p:sp>
      <p:sp>
        <p:nvSpPr>
          <p:cNvPr id="6" name="Text 4"/>
          <p:cNvSpPr/>
          <p:nvPr/>
        </p:nvSpPr>
        <p:spPr>
          <a:xfrm>
            <a:off x="11384280" y="100584"/>
            <a:ext cx="347472" cy="256032"/>
          </a:xfrm>
          <a:prstGeom prst="rect">
            <a:avLst/>
          </a:prstGeom>
          <a:noFill/>
        </p:spPr>
        <p:txBody>
          <a:bodyPr wrap="square" lIns="0" tIns="0" rIns="0" bIns="0" rtlCol="0" anchor="ctr"/>
          <a:lstStyle/>
          <a:p>
            <a:pPr marL="0" indent="0" algn="r">
              <a:buNone/>
            </a:pPr>
            <a:r>
              <a:rPr lang="en-US" sz="1000" b="1" dirty="0">
                <a:solidFill>
                  <a:srgbClr val="9FB2C8"/>
                </a:solidFill>
                <a:latin typeface="Aptos Display" pitchFamily="34" charset="0"/>
                <a:ea typeface="Aptos Display" pitchFamily="34" charset="-122"/>
                <a:cs typeface="Aptos Display" pitchFamily="34" charset="-120"/>
              </a:rPr>
              <a:t>20</a:t>
            </a:r>
            <a:endParaRPr lang="en-US" sz="1000" dirty="0"/>
          </a:p>
        </p:txBody>
      </p:sp>
      <p:sp>
        <p:nvSpPr>
          <p:cNvPr id="7" name="Text 5"/>
          <p:cNvSpPr/>
          <p:nvPr/>
        </p:nvSpPr>
        <p:spPr>
          <a:xfrm>
            <a:off x="502920" y="713232"/>
            <a:ext cx="10607040" cy="329184"/>
          </a:xfrm>
          <a:prstGeom prst="rect">
            <a:avLst/>
          </a:prstGeom>
          <a:noFill/>
        </p:spPr>
        <p:txBody>
          <a:bodyPr wrap="square" lIns="0" tIns="0" rIns="0" bIns="0" rtlCol="0" anchor="ctr"/>
          <a:lstStyle/>
          <a:p>
            <a:pPr marL="0" indent="0">
              <a:buNone/>
            </a:pPr>
            <a:r>
              <a:rPr lang="en-US" sz="2200" b="1" dirty="0">
                <a:solidFill>
                  <a:srgbClr val="F8FAFC"/>
                </a:solidFill>
                <a:latin typeface="Aptos Display" pitchFamily="34" charset="0"/>
                <a:ea typeface="Aptos Display" pitchFamily="34" charset="-122"/>
                <a:cs typeface="Aptos Display" pitchFamily="34" charset="-120"/>
              </a:rPr>
              <a:t>Conclusion</a:t>
            </a:r>
            <a:endParaRPr lang="en-US" sz="2200" dirty="0"/>
          </a:p>
        </p:txBody>
      </p:sp>
      <p:sp>
        <p:nvSpPr>
          <p:cNvPr id="8" name="Shape 6"/>
          <p:cNvSpPr/>
          <p:nvPr/>
        </p:nvSpPr>
        <p:spPr>
          <a:xfrm>
            <a:off x="274320" y="1965960"/>
            <a:ext cx="11658600" cy="0"/>
          </a:xfrm>
          <a:prstGeom prst="line">
            <a:avLst/>
          </a:prstGeom>
          <a:noFill/>
          <a:ln w="6350">
            <a:solidFill>
              <a:srgbClr val="233548">
                <a:alpha val="22000"/>
              </a:srgbClr>
            </a:solidFill>
            <a:prstDash val="solid"/>
          </a:ln>
        </p:spPr>
      </p:sp>
      <p:sp>
        <p:nvSpPr>
          <p:cNvPr id="9" name="Shape 7"/>
          <p:cNvSpPr/>
          <p:nvPr/>
        </p:nvSpPr>
        <p:spPr>
          <a:xfrm>
            <a:off x="274320" y="2697480"/>
            <a:ext cx="11658600" cy="0"/>
          </a:xfrm>
          <a:prstGeom prst="line">
            <a:avLst/>
          </a:prstGeom>
          <a:noFill/>
          <a:ln w="6350">
            <a:solidFill>
              <a:srgbClr val="233548">
                <a:alpha val="22000"/>
              </a:srgbClr>
            </a:solidFill>
            <a:prstDash val="solid"/>
          </a:ln>
        </p:spPr>
      </p:sp>
      <p:sp>
        <p:nvSpPr>
          <p:cNvPr id="10" name="Shape 8"/>
          <p:cNvSpPr/>
          <p:nvPr/>
        </p:nvSpPr>
        <p:spPr>
          <a:xfrm>
            <a:off x="274320" y="3429000"/>
            <a:ext cx="11658600" cy="0"/>
          </a:xfrm>
          <a:prstGeom prst="line">
            <a:avLst/>
          </a:prstGeom>
          <a:noFill/>
          <a:ln w="6350">
            <a:solidFill>
              <a:srgbClr val="233548">
                <a:alpha val="22000"/>
              </a:srgbClr>
            </a:solidFill>
            <a:prstDash val="solid"/>
          </a:ln>
        </p:spPr>
      </p:sp>
      <p:sp>
        <p:nvSpPr>
          <p:cNvPr id="11" name="Shape 9"/>
          <p:cNvSpPr/>
          <p:nvPr/>
        </p:nvSpPr>
        <p:spPr>
          <a:xfrm>
            <a:off x="274320" y="4160520"/>
            <a:ext cx="11658600" cy="0"/>
          </a:xfrm>
          <a:prstGeom prst="line">
            <a:avLst/>
          </a:prstGeom>
          <a:noFill/>
          <a:ln w="6350">
            <a:solidFill>
              <a:srgbClr val="233548">
                <a:alpha val="22000"/>
              </a:srgbClr>
            </a:solidFill>
            <a:prstDash val="solid"/>
          </a:ln>
        </p:spPr>
      </p:sp>
      <p:sp>
        <p:nvSpPr>
          <p:cNvPr id="12" name="Shape 10"/>
          <p:cNvSpPr/>
          <p:nvPr/>
        </p:nvSpPr>
        <p:spPr>
          <a:xfrm>
            <a:off x="274320" y="4892040"/>
            <a:ext cx="11658600" cy="0"/>
          </a:xfrm>
          <a:prstGeom prst="line">
            <a:avLst/>
          </a:prstGeom>
          <a:noFill/>
          <a:ln w="6350">
            <a:solidFill>
              <a:srgbClr val="233548">
                <a:alpha val="22000"/>
              </a:srgbClr>
            </a:solidFill>
            <a:prstDash val="solid"/>
          </a:ln>
        </p:spPr>
      </p:sp>
      <p:sp>
        <p:nvSpPr>
          <p:cNvPr id="13" name="Shape 11"/>
          <p:cNvSpPr/>
          <p:nvPr/>
        </p:nvSpPr>
        <p:spPr>
          <a:xfrm>
            <a:off x="274320" y="5623560"/>
            <a:ext cx="11658600" cy="0"/>
          </a:xfrm>
          <a:prstGeom prst="line">
            <a:avLst/>
          </a:prstGeom>
          <a:noFill/>
          <a:ln w="6350">
            <a:solidFill>
              <a:srgbClr val="233548">
                <a:alpha val="22000"/>
              </a:srgbClr>
            </a:solidFill>
            <a:prstDash val="solid"/>
          </a:ln>
        </p:spPr>
      </p:sp>
      <p:sp>
        <p:nvSpPr>
          <p:cNvPr id="14" name="Shape 12"/>
          <p:cNvSpPr/>
          <p:nvPr/>
        </p:nvSpPr>
        <p:spPr>
          <a:xfrm>
            <a:off x="0" y="6611112"/>
            <a:ext cx="12191695" cy="246888"/>
          </a:xfrm>
          <a:prstGeom prst="rect">
            <a:avLst/>
          </a:prstGeom>
          <a:solidFill>
            <a:srgbClr val="03070C"/>
          </a:solidFill>
          <a:ln w="12700">
            <a:solidFill>
              <a:srgbClr val="03070C"/>
            </a:solidFill>
            <a:prstDash val="solid"/>
          </a:ln>
        </p:spPr>
      </p:sp>
      <p:sp>
        <p:nvSpPr>
          <p:cNvPr id="17" name="Text 15"/>
          <p:cNvSpPr/>
          <p:nvPr/>
        </p:nvSpPr>
        <p:spPr>
          <a:xfrm>
            <a:off x="822960" y="1417320"/>
            <a:ext cx="10607040" cy="658368"/>
          </a:xfrm>
          <a:prstGeom prst="rect">
            <a:avLst/>
          </a:prstGeom>
          <a:noFill/>
        </p:spPr>
        <p:txBody>
          <a:bodyPr wrap="square" lIns="0" tIns="0" rIns="0" bIns="0" rtlCol="0" anchor="ctr">
            <a:normAutofit fontScale="90000" lnSpcReduction="10000"/>
          </a:bodyPr>
          <a:lstStyle/>
          <a:p>
            <a:pPr marL="0" indent="0">
              <a:buNone/>
            </a:pPr>
            <a:r>
              <a:rPr lang="en-US" sz="2400" b="1" dirty="0">
                <a:solidFill>
                  <a:srgbClr val="F8FAFC"/>
                </a:solidFill>
              </a:rPr>
              <a:t>The project successfully demonstrated how suspicious network behavior can be captured, analyzed and explained using a NIDS-style lab.</a:t>
            </a:r>
            <a:endParaRPr lang="en-US" sz="2400" dirty="0"/>
          </a:p>
        </p:txBody>
      </p:sp>
      <p:sp>
        <p:nvSpPr>
          <p:cNvPr id="18" name="Shape 16"/>
          <p:cNvSpPr/>
          <p:nvPr/>
        </p:nvSpPr>
        <p:spPr>
          <a:xfrm>
            <a:off x="822960" y="2560320"/>
            <a:ext cx="5120640" cy="1143000"/>
          </a:xfrm>
          <a:prstGeom prst="roundRect">
            <a:avLst>
              <a:gd name="adj" fmla="val 9600"/>
            </a:avLst>
          </a:prstGeom>
          <a:solidFill>
            <a:srgbClr val="0D1B2A">
              <a:alpha val="96000"/>
            </a:srgbClr>
          </a:solidFill>
          <a:ln w="12700">
            <a:solidFill>
              <a:srgbClr val="233548">
                <a:alpha val="95000"/>
              </a:srgbClr>
            </a:solidFill>
            <a:prstDash val="solid"/>
          </a:ln>
          <a:effectLst>
            <a:outerShdw blurRad="38100" dist="12700" dir="2700000" algn="bl" rotWithShape="0">
              <a:srgbClr val="000000">
                <a:alpha val="22000"/>
              </a:srgbClr>
            </a:outerShdw>
          </a:effectLst>
        </p:spPr>
      </p:sp>
      <p:sp>
        <p:nvSpPr>
          <p:cNvPr id="19" name="Shape 17"/>
          <p:cNvSpPr/>
          <p:nvPr/>
        </p:nvSpPr>
        <p:spPr>
          <a:xfrm>
            <a:off x="822960" y="2560320"/>
            <a:ext cx="73152" cy="1143000"/>
          </a:xfrm>
          <a:prstGeom prst="rect">
            <a:avLst/>
          </a:prstGeom>
          <a:solidFill>
            <a:srgbClr val="2FF3E0"/>
          </a:solidFill>
          <a:ln w="12700">
            <a:solidFill>
              <a:srgbClr val="2FF3E0"/>
            </a:solidFill>
            <a:prstDash val="solid"/>
          </a:ln>
        </p:spPr>
      </p:sp>
      <p:sp>
        <p:nvSpPr>
          <p:cNvPr id="20" name="Text 18"/>
          <p:cNvSpPr/>
          <p:nvPr/>
        </p:nvSpPr>
        <p:spPr>
          <a:xfrm>
            <a:off x="1051560" y="2724912"/>
            <a:ext cx="4773168" cy="228600"/>
          </a:xfrm>
          <a:prstGeom prst="rect">
            <a:avLst/>
          </a:prstGeom>
          <a:noFill/>
        </p:spPr>
        <p:txBody>
          <a:bodyPr wrap="square" lIns="0" tIns="0" rIns="0" bIns="0" rtlCol="0" anchor="ctr"/>
          <a:lstStyle/>
          <a:p>
            <a:pPr marL="0" indent="0">
              <a:buNone/>
            </a:pPr>
            <a:r>
              <a:rPr lang="en-US" sz="1200" b="1" dirty="0">
                <a:solidFill>
                  <a:srgbClr val="2FF3E0"/>
                </a:solidFill>
                <a:latin typeface="Aptos Display" pitchFamily="34" charset="0"/>
                <a:ea typeface="Aptos Display" pitchFamily="34" charset="-122"/>
                <a:cs typeface="Aptos Display" pitchFamily="34" charset="-120"/>
              </a:rPr>
              <a:t>What was achieved</a:t>
            </a:r>
            <a:endParaRPr lang="en-US" sz="1200" dirty="0"/>
          </a:p>
        </p:txBody>
      </p:sp>
      <p:sp>
        <p:nvSpPr>
          <p:cNvPr id="21" name="Text 19"/>
          <p:cNvSpPr/>
          <p:nvPr/>
        </p:nvSpPr>
        <p:spPr>
          <a:xfrm>
            <a:off x="1051560" y="3035808"/>
            <a:ext cx="4773168" cy="576072"/>
          </a:xfrm>
          <a:prstGeom prst="rect">
            <a:avLst/>
          </a:prstGeom>
          <a:noFill/>
        </p:spPr>
        <p:txBody>
          <a:bodyPr wrap="square" lIns="254" tIns="254" rIns="254" bIns="254" rtlCol="0" anchor="t">
            <a:normAutofit/>
          </a:bodyPr>
          <a:lstStyle/>
          <a:p>
            <a:pPr marL="0" indent="0">
              <a:buNone/>
            </a:pPr>
            <a:r>
              <a:rPr lang="en-US" sz="1050" dirty="0">
                <a:solidFill>
                  <a:srgbClr val="F8FAFC"/>
                </a:solidFill>
                <a:latin typeface="Aptos" pitchFamily="34" charset="0"/>
                <a:ea typeface="Aptos" pitchFamily="34" charset="-122"/>
                <a:cs typeface="Aptos" pitchFamily="34" charset="-120"/>
              </a:rPr>
              <a:t>A controlled virtual cybersecurity lab was built, attack simulation was performed, network traffic was captured, and TCP scanning behavior was identified.</a:t>
            </a:r>
            <a:endParaRPr lang="en-US" sz="1050" dirty="0"/>
          </a:p>
        </p:txBody>
      </p:sp>
      <p:sp>
        <p:nvSpPr>
          <p:cNvPr id="22" name="Shape 20"/>
          <p:cNvSpPr/>
          <p:nvPr/>
        </p:nvSpPr>
        <p:spPr>
          <a:xfrm>
            <a:off x="6355080" y="2560320"/>
            <a:ext cx="4983480" cy="1143000"/>
          </a:xfrm>
          <a:prstGeom prst="roundRect">
            <a:avLst>
              <a:gd name="adj" fmla="val 9600"/>
            </a:avLst>
          </a:prstGeom>
          <a:solidFill>
            <a:srgbClr val="0D1B2A">
              <a:alpha val="96000"/>
            </a:srgbClr>
          </a:solidFill>
          <a:ln w="12700">
            <a:solidFill>
              <a:srgbClr val="233548">
                <a:alpha val="95000"/>
              </a:srgbClr>
            </a:solidFill>
            <a:prstDash val="solid"/>
          </a:ln>
          <a:effectLst>
            <a:outerShdw blurRad="38100" dist="12700" dir="2700000" algn="bl" rotWithShape="0">
              <a:srgbClr val="000000">
                <a:alpha val="22000"/>
              </a:srgbClr>
            </a:outerShdw>
          </a:effectLst>
        </p:spPr>
      </p:sp>
      <p:sp>
        <p:nvSpPr>
          <p:cNvPr id="23" name="Shape 21"/>
          <p:cNvSpPr/>
          <p:nvPr/>
        </p:nvSpPr>
        <p:spPr>
          <a:xfrm>
            <a:off x="6355080" y="2560320"/>
            <a:ext cx="73152" cy="1143000"/>
          </a:xfrm>
          <a:prstGeom prst="rect">
            <a:avLst/>
          </a:prstGeom>
          <a:solidFill>
            <a:srgbClr val="4DFF8F"/>
          </a:solidFill>
          <a:ln w="12700">
            <a:solidFill>
              <a:srgbClr val="4DFF8F"/>
            </a:solidFill>
            <a:prstDash val="solid"/>
          </a:ln>
        </p:spPr>
      </p:sp>
      <p:sp>
        <p:nvSpPr>
          <p:cNvPr id="24" name="Text 22"/>
          <p:cNvSpPr/>
          <p:nvPr/>
        </p:nvSpPr>
        <p:spPr>
          <a:xfrm>
            <a:off x="6583680" y="2724912"/>
            <a:ext cx="4636008" cy="228600"/>
          </a:xfrm>
          <a:prstGeom prst="rect">
            <a:avLst/>
          </a:prstGeom>
          <a:noFill/>
        </p:spPr>
        <p:txBody>
          <a:bodyPr wrap="square" lIns="0" tIns="0" rIns="0" bIns="0" rtlCol="0" anchor="ctr"/>
          <a:lstStyle/>
          <a:p>
            <a:pPr marL="0" indent="0">
              <a:buNone/>
            </a:pPr>
            <a:r>
              <a:rPr lang="en-US" sz="1200" b="1" dirty="0">
                <a:solidFill>
                  <a:srgbClr val="4DFF8F"/>
                </a:solidFill>
                <a:latin typeface="Aptos Display" pitchFamily="34" charset="0"/>
                <a:ea typeface="Aptos Display" pitchFamily="34" charset="-122"/>
                <a:cs typeface="Aptos Display" pitchFamily="34" charset="-120"/>
              </a:rPr>
              <a:t>Why it matters</a:t>
            </a:r>
            <a:endParaRPr lang="en-US" sz="1200" dirty="0"/>
          </a:p>
        </p:txBody>
      </p:sp>
      <p:sp>
        <p:nvSpPr>
          <p:cNvPr id="25" name="Text 23"/>
          <p:cNvSpPr/>
          <p:nvPr/>
        </p:nvSpPr>
        <p:spPr>
          <a:xfrm>
            <a:off x="6583680" y="3035808"/>
            <a:ext cx="4636008" cy="576072"/>
          </a:xfrm>
          <a:prstGeom prst="rect">
            <a:avLst/>
          </a:prstGeom>
          <a:noFill/>
        </p:spPr>
        <p:txBody>
          <a:bodyPr wrap="square" lIns="254" tIns="254" rIns="254" bIns="254" rtlCol="0" anchor="t">
            <a:normAutofit/>
          </a:bodyPr>
          <a:lstStyle/>
          <a:p>
            <a:pPr marL="0" indent="0">
              <a:buNone/>
            </a:pPr>
            <a:r>
              <a:rPr lang="en-US" sz="1050" dirty="0">
                <a:solidFill>
                  <a:srgbClr val="F8FAFC"/>
                </a:solidFill>
                <a:latin typeface="Aptos" pitchFamily="34" charset="0"/>
                <a:ea typeface="Aptos" pitchFamily="34" charset="-122"/>
                <a:cs typeface="Aptos" pitchFamily="34" charset="-120"/>
              </a:rPr>
              <a:t>The project shows how monitoring and packet analysis support early detection and prevention of unauthorized access attempts.</a:t>
            </a:r>
            <a:endParaRPr lang="en-US" sz="1050" dirty="0"/>
          </a:p>
        </p:txBody>
      </p:sp>
      <p:sp>
        <p:nvSpPr>
          <p:cNvPr id="26" name="Text 24"/>
          <p:cNvSpPr/>
          <p:nvPr/>
        </p:nvSpPr>
        <p:spPr>
          <a:xfrm>
            <a:off x="822960" y="4800600"/>
            <a:ext cx="3840480" cy="698500"/>
          </a:xfrm>
          <a:prstGeom prst="rect">
            <a:avLst/>
          </a:prstGeom>
          <a:noFill/>
        </p:spPr>
        <p:txBody>
          <a:bodyPr wrap="square" lIns="0" tIns="0" rIns="0" bIns="0" rtlCol="0" anchor="ctr"/>
          <a:lstStyle/>
          <a:p>
            <a:pPr marL="0" indent="0">
              <a:buNone/>
            </a:pPr>
            <a:r>
              <a:rPr lang="en-US" sz="3500" b="1" dirty="0">
                <a:solidFill>
                  <a:srgbClr val="2FF3E0"/>
                </a:solidFill>
                <a:latin typeface="Aptos Display" pitchFamily="34" charset="0"/>
                <a:ea typeface="Aptos Display" pitchFamily="34" charset="-122"/>
                <a:cs typeface="Aptos Display" pitchFamily="34" charset="-120"/>
              </a:rPr>
              <a:t>Thank You</a:t>
            </a:r>
            <a:endParaRPr lang="en-US" sz="3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10367</Words>
  <Application>WPS Presentation</Application>
  <PresentationFormat>On-screen Show (16:9)</PresentationFormat>
  <Paragraphs>472</Paragraphs>
  <Slides>20</Slides>
  <Notes>20</Notes>
  <HiddenSlides>0</HiddenSlides>
  <MMClips>0</MMClips>
  <ScaleCrop>false</ScaleCrop>
  <HeadingPairs>
    <vt:vector size="6" baseType="variant">
      <vt:variant>
        <vt:lpstr>已用的字体</vt:lpstr>
      </vt:variant>
      <vt:variant>
        <vt:i4>18</vt:i4>
      </vt:variant>
      <vt:variant>
        <vt:lpstr>主题</vt:lpstr>
      </vt:variant>
      <vt:variant>
        <vt:i4>2</vt:i4>
      </vt:variant>
      <vt:variant>
        <vt:lpstr>幻灯片标题</vt:lpstr>
      </vt:variant>
      <vt:variant>
        <vt:i4>20</vt:i4>
      </vt:variant>
    </vt:vector>
  </HeadingPairs>
  <TitlesOfParts>
    <vt:vector size="40" baseType="lpstr">
      <vt:lpstr>Arial</vt:lpstr>
      <vt:lpstr>SimSun</vt:lpstr>
      <vt:lpstr>Wingdings</vt:lpstr>
      <vt:lpstr>Aptos Display</vt:lpstr>
      <vt:lpstr>Segoe UI</vt:lpstr>
      <vt:lpstr>Aptos Display</vt:lpstr>
      <vt:lpstr>Aptos Display</vt:lpstr>
      <vt:lpstr>Aptos</vt:lpstr>
      <vt:lpstr>Aptos</vt:lpstr>
      <vt:lpstr>Aptos</vt:lpstr>
      <vt:lpstr>Cascadia Mono</vt:lpstr>
      <vt:lpstr>Cascadia Mono</vt:lpstr>
      <vt:lpstr>Cascadia Mono</vt:lpstr>
      <vt:lpstr>Microsoft YaHei</vt:lpstr>
      <vt:lpstr>Arial Unicode MS</vt:lpstr>
      <vt:lpstr>Aptos</vt:lpstr>
      <vt:lpstr>Segoe Print</vt:lpstr>
      <vt:lpstr>MingLiU-ExtB</vt:lpstr>
      <vt:lpstr>Office Theme</vt:lpstr>
      <vt:lpstr>1_Office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Final Year Project Defence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Network Intrusion Detection System Project Defence</dc:title>
  <dc:creator>Oluwakemi Bankole</dc:creator>
  <dc:subject>Design and Implementation of a Network Intrusion Detection System</dc:subject>
  <cp:lastModifiedBy>WPS_1777017595</cp:lastModifiedBy>
  <cp:revision>4</cp:revision>
  <dcterms:created xsi:type="dcterms:W3CDTF">2026-05-05T16:50:00Z</dcterms:created>
  <dcterms:modified xsi:type="dcterms:W3CDTF">2026-05-05T20:59:10Z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39F7B4125CB54BD6BF293944B185FF4D_12</vt:lpwstr>
  </property>
  <property fmtid="{D5CDD505-2E9C-101B-9397-08002B2CF9AE}" pid="3" name="KSOProductBuildVer">
    <vt:lpwstr>1033-12.1.0.25862</vt:lpwstr>
  </property>
</Properties>
</file>